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48"/>
  </p:notesMasterIdLst>
  <p:sldIdLst>
    <p:sldId id="256" r:id="rId2"/>
    <p:sldId id="277" r:id="rId3"/>
    <p:sldId id="278" r:id="rId4"/>
    <p:sldId id="279" r:id="rId5"/>
    <p:sldId id="281" r:id="rId6"/>
    <p:sldId id="287" r:id="rId7"/>
    <p:sldId id="282" r:id="rId8"/>
    <p:sldId id="284" r:id="rId9"/>
    <p:sldId id="285" r:id="rId10"/>
    <p:sldId id="288" r:id="rId11"/>
    <p:sldId id="257" r:id="rId12"/>
    <p:sldId id="290" r:id="rId13"/>
    <p:sldId id="292" r:id="rId14"/>
    <p:sldId id="293" r:id="rId15"/>
    <p:sldId id="261" r:id="rId16"/>
    <p:sldId id="260" r:id="rId17"/>
    <p:sldId id="258" r:id="rId18"/>
    <p:sldId id="295" r:id="rId19"/>
    <p:sldId id="298" r:id="rId20"/>
    <p:sldId id="259" r:id="rId21"/>
    <p:sldId id="299" r:id="rId22"/>
    <p:sldId id="300" r:id="rId23"/>
    <p:sldId id="301" r:id="rId24"/>
    <p:sldId id="302" r:id="rId25"/>
    <p:sldId id="303" r:id="rId26"/>
    <p:sldId id="304" r:id="rId27"/>
    <p:sldId id="305" r:id="rId28"/>
    <p:sldId id="306" r:id="rId29"/>
    <p:sldId id="307" r:id="rId30"/>
    <p:sldId id="308" r:id="rId31"/>
    <p:sldId id="309" r:id="rId32"/>
    <p:sldId id="310" r:id="rId33"/>
    <p:sldId id="311" r:id="rId34"/>
    <p:sldId id="312" r:id="rId35"/>
    <p:sldId id="313" r:id="rId36"/>
    <p:sldId id="314" r:id="rId37"/>
    <p:sldId id="315" r:id="rId38"/>
    <p:sldId id="316" r:id="rId39"/>
    <p:sldId id="317" r:id="rId40"/>
    <p:sldId id="318" r:id="rId41"/>
    <p:sldId id="319" r:id="rId42"/>
    <p:sldId id="320" r:id="rId43"/>
    <p:sldId id="321" r:id="rId44"/>
    <p:sldId id="275" r:id="rId45"/>
    <p:sldId id="296" r:id="rId46"/>
    <p:sldId id="276"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01" autoAdjust="0"/>
    <p:restoredTop sz="91585" autoAdjust="0"/>
  </p:normalViewPr>
  <p:slideViewPr>
    <p:cSldViewPr snapToGrid="0">
      <p:cViewPr varScale="1">
        <p:scale>
          <a:sx n="105" d="100"/>
          <a:sy n="105" d="100"/>
        </p:scale>
        <p:origin x="696" y="12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285423-3C8E-4B70-BB79-54B90C7CD113}" type="datetimeFigureOut">
              <a:rPr lang="zh-CN" altLang="en-US" smtClean="0"/>
              <a:t>2025/11/7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621D63-492B-4674-9262-EF6A5F3B2EAA}" type="slidenum">
              <a:rPr lang="zh-CN" altLang="en-US" smtClean="0"/>
              <a:t>‹#›</a:t>
            </a:fld>
            <a:endParaRPr lang="zh-CN" altLang="en-US"/>
          </a:p>
        </p:txBody>
      </p:sp>
    </p:spTree>
    <p:extLst>
      <p:ext uri="{BB962C8B-B14F-4D97-AF65-F5344CB8AC3E}">
        <p14:creationId xmlns:p14="http://schemas.microsoft.com/office/powerpoint/2010/main" val="3047104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1</a:t>
            </a:fld>
            <a:endParaRPr lang="zh-CN" altLang="en-US"/>
          </a:p>
        </p:txBody>
      </p:sp>
    </p:spTree>
    <p:extLst>
      <p:ext uri="{BB962C8B-B14F-4D97-AF65-F5344CB8AC3E}">
        <p14:creationId xmlns:p14="http://schemas.microsoft.com/office/powerpoint/2010/main" val="10818853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F9621D63-492B-4674-9262-EF6A5F3B2EAA}" type="slidenum">
              <a:rPr lang="zh-CN" altLang="en-US" smtClean="0"/>
              <a:t>2</a:t>
            </a:fld>
            <a:endParaRPr lang="zh-CN" altLang="en-US"/>
          </a:p>
        </p:txBody>
      </p:sp>
    </p:spTree>
    <p:extLst>
      <p:ext uri="{BB962C8B-B14F-4D97-AF65-F5344CB8AC3E}">
        <p14:creationId xmlns:p14="http://schemas.microsoft.com/office/powerpoint/2010/main" val="4495433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F9621D63-492B-4674-9262-EF6A5F3B2EAA}" type="slidenum">
              <a:rPr lang="zh-CN" altLang="en-US" smtClean="0"/>
              <a:t>3</a:t>
            </a:fld>
            <a:endParaRPr lang="zh-CN" altLang="en-US"/>
          </a:p>
        </p:txBody>
      </p:sp>
    </p:spTree>
    <p:extLst>
      <p:ext uri="{BB962C8B-B14F-4D97-AF65-F5344CB8AC3E}">
        <p14:creationId xmlns:p14="http://schemas.microsoft.com/office/powerpoint/2010/main" val="4495433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F9621D63-492B-4674-9262-EF6A5F3B2EAA}" type="slidenum">
              <a:rPr lang="zh-CN" altLang="en-US" smtClean="0"/>
              <a:t>4</a:t>
            </a:fld>
            <a:endParaRPr lang="zh-CN" altLang="en-US"/>
          </a:p>
        </p:txBody>
      </p:sp>
    </p:spTree>
    <p:extLst>
      <p:ext uri="{BB962C8B-B14F-4D97-AF65-F5344CB8AC3E}">
        <p14:creationId xmlns:p14="http://schemas.microsoft.com/office/powerpoint/2010/main" val="4495433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F9621D63-492B-4674-9262-EF6A5F3B2EAA}" type="slidenum">
              <a:rPr lang="zh-CN" altLang="en-US" smtClean="0"/>
              <a:t>11</a:t>
            </a:fld>
            <a:endParaRPr lang="zh-CN" altLang="en-US"/>
          </a:p>
        </p:txBody>
      </p:sp>
    </p:spTree>
    <p:extLst>
      <p:ext uri="{BB962C8B-B14F-4D97-AF65-F5344CB8AC3E}">
        <p14:creationId xmlns:p14="http://schemas.microsoft.com/office/powerpoint/2010/main" val="449543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F9621D63-492B-4674-9262-EF6A5F3B2EAA}" type="slidenum">
              <a:rPr lang="zh-CN" altLang="en-US" smtClean="0"/>
              <a:t>12</a:t>
            </a:fld>
            <a:endParaRPr lang="zh-CN" altLang="en-US"/>
          </a:p>
        </p:txBody>
      </p:sp>
    </p:spTree>
    <p:extLst>
      <p:ext uri="{BB962C8B-B14F-4D97-AF65-F5344CB8AC3E}">
        <p14:creationId xmlns:p14="http://schemas.microsoft.com/office/powerpoint/2010/main" val="4495433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C1EB51E-ABE1-454B-971B-C67CDB72BDA5}" type="slidenum">
              <a:rPr lang="zh-CN" altLang="en-US" smtClean="0"/>
              <a:t>13</a:t>
            </a:fld>
            <a:endParaRPr lang="zh-CN" altLang="en-US"/>
          </a:p>
        </p:txBody>
      </p:sp>
    </p:spTree>
    <p:extLst>
      <p:ext uri="{BB962C8B-B14F-4D97-AF65-F5344CB8AC3E}">
        <p14:creationId xmlns:p14="http://schemas.microsoft.com/office/powerpoint/2010/main" val="18502332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9C1EB51E-ABE1-454B-971B-C67CDB72BDA5}" type="slidenum">
              <a:rPr lang="zh-CN" altLang="en-US" smtClean="0"/>
              <a:t>14</a:t>
            </a:fld>
            <a:endParaRPr lang="zh-CN" altLang="en-US"/>
          </a:p>
        </p:txBody>
      </p:sp>
    </p:spTree>
    <p:extLst>
      <p:ext uri="{BB962C8B-B14F-4D97-AF65-F5344CB8AC3E}">
        <p14:creationId xmlns:p14="http://schemas.microsoft.com/office/powerpoint/2010/main" val="10112572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17</a:t>
            </a:fld>
            <a:endParaRPr lang="zh-CN" altLang="en-US"/>
          </a:p>
        </p:txBody>
      </p:sp>
    </p:spTree>
    <p:extLst>
      <p:ext uri="{BB962C8B-B14F-4D97-AF65-F5344CB8AC3E}">
        <p14:creationId xmlns:p14="http://schemas.microsoft.com/office/powerpoint/2010/main" val="1571446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19</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20</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21</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22</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23</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24</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25</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26</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27</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28</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29</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30</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31</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32</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33</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34</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35</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36</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37</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38</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39</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40</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41</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42</a:t>
            </a:fld>
            <a:endParaRPr lang="zh-CN" altLang="en-US"/>
          </a:p>
        </p:txBody>
      </p:sp>
    </p:spTree>
    <p:extLst>
      <p:ext uri="{BB962C8B-B14F-4D97-AF65-F5344CB8AC3E}">
        <p14:creationId xmlns:p14="http://schemas.microsoft.com/office/powerpoint/2010/main" val="12810419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smtClean="0"/>
          </a:p>
        </p:txBody>
      </p:sp>
      <p:sp>
        <p:nvSpPr>
          <p:cNvPr id="4" name="灯片编号占位符 3"/>
          <p:cNvSpPr>
            <a:spLocks noGrp="1"/>
          </p:cNvSpPr>
          <p:nvPr>
            <p:ph type="sldNum" sz="quarter" idx="10"/>
          </p:nvPr>
        </p:nvSpPr>
        <p:spPr/>
        <p:txBody>
          <a:bodyPr/>
          <a:lstStyle/>
          <a:p>
            <a:fld id="{F9621D63-492B-4674-9262-EF6A5F3B2EAA}" type="slidenum">
              <a:rPr lang="zh-CN" altLang="en-US" smtClean="0"/>
              <a:t>43</a:t>
            </a:fld>
            <a:endParaRPr lang="zh-CN" altLang="en-US"/>
          </a:p>
        </p:txBody>
      </p:sp>
    </p:spTree>
    <p:extLst>
      <p:ext uri="{BB962C8B-B14F-4D97-AF65-F5344CB8AC3E}">
        <p14:creationId xmlns:p14="http://schemas.microsoft.com/office/powerpoint/2010/main" val="44954331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9621D63-492B-4674-9262-EF6A5F3B2EAA}" type="slidenum">
              <a:rPr lang="zh-CN" altLang="en-US" smtClean="0"/>
              <a:t>44</a:t>
            </a:fld>
            <a:endParaRPr lang="zh-CN" altLang="en-US"/>
          </a:p>
        </p:txBody>
      </p:sp>
    </p:spTree>
    <p:extLst>
      <p:ext uri="{BB962C8B-B14F-4D97-AF65-F5344CB8AC3E}">
        <p14:creationId xmlns:p14="http://schemas.microsoft.com/office/powerpoint/2010/main" val="23394373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9C1EB51E-ABE1-454B-971B-C67CDB72BDA5}" type="slidenum">
              <a:rPr lang="zh-CN" altLang="en-US" smtClean="0"/>
              <a:t>45</a:t>
            </a:fld>
            <a:endParaRPr lang="zh-CN" altLang="en-US"/>
          </a:p>
        </p:txBody>
      </p:sp>
    </p:spTree>
    <p:extLst>
      <p:ext uri="{BB962C8B-B14F-4D97-AF65-F5344CB8AC3E}">
        <p14:creationId xmlns:p14="http://schemas.microsoft.com/office/powerpoint/2010/main" val="36005400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0" name="直角三角形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标题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zh-CN" altLang="en-US" smtClean="0"/>
              <a:t>单击此处编辑母版标题样式</a:t>
            </a:r>
            <a:endParaRPr kumimoji="0" lang="en-US"/>
          </a:p>
        </p:txBody>
      </p:sp>
      <p:sp>
        <p:nvSpPr>
          <p:cNvPr id="17" name="副标题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zh-CN" altLang="en-US" smtClean="0"/>
              <a:t>单击以编辑母版副标题样式</a:t>
            </a:r>
            <a:endParaRPr kumimoji="0" lang="en-US"/>
          </a:p>
        </p:txBody>
      </p:sp>
      <p:grpSp>
        <p:nvGrpSpPr>
          <p:cNvPr id="2" name="组合 1"/>
          <p:cNvGrpSpPr/>
          <p:nvPr/>
        </p:nvGrpSpPr>
        <p:grpSpPr>
          <a:xfrm>
            <a:off x="-5019" y="4953000"/>
            <a:ext cx="12197020" cy="1912088"/>
            <a:chOff x="-3765" y="4832896"/>
            <a:chExt cx="9147765" cy="2032192"/>
          </a:xfrm>
        </p:grpSpPr>
        <p:sp>
          <p:nvSpPr>
            <p:cNvPr id="7" name="任意多边形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8" name="任意多边形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1" name="任意多边形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2" name="直接连接符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日期占位符 29"/>
          <p:cNvSpPr>
            <a:spLocks noGrp="1"/>
          </p:cNvSpPr>
          <p:nvPr>
            <p:ph type="dt" sz="half" idx="10"/>
          </p:nvPr>
        </p:nvSpPr>
        <p:spPr/>
        <p:txBody>
          <a:bodyPr/>
          <a:lstStyle>
            <a:lvl1pPr>
              <a:defRPr>
                <a:solidFill>
                  <a:srgbClr val="FFFFFF"/>
                </a:solidFill>
              </a:defRPr>
            </a:lvl1pPr>
            <a:extLst/>
          </a:lstStyle>
          <a:p>
            <a:fld id="{0CA9DFCD-CEA2-4E33-A454-AA991F6B42DA}" type="datetime1">
              <a:rPr lang="zh-CN" altLang="en-US" smtClean="0"/>
              <a:t>2025/11/7</a:t>
            </a:fld>
            <a:endParaRPr lang="zh-CN" altLang="en-US"/>
          </a:p>
        </p:txBody>
      </p:sp>
      <p:sp>
        <p:nvSpPr>
          <p:cNvPr id="19" name="页脚占位符 18"/>
          <p:cNvSpPr>
            <a:spLocks noGrp="1"/>
          </p:cNvSpPr>
          <p:nvPr>
            <p:ph type="ftr" sz="quarter" idx="11"/>
          </p:nvPr>
        </p:nvSpPr>
        <p:spPr/>
        <p:txBody>
          <a:bodyPr/>
          <a:lstStyle>
            <a:lvl1pPr>
              <a:defRPr>
                <a:solidFill>
                  <a:schemeClr val="accent1">
                    <a:tint val="20000"/>
                  </a:schemeClr>
                </a:solidFill>
              </a:defRPr>
            </a:lvl1pPr>
            <a:extLst/>
          </a:lstStyle>
          <a:p>
            <a:endParaRPr lang="zh-CN" altLang="en-US"/>
          </a:p>
        </p:txBody>
      </p:sp>
      <p:sp>
        <p:nvSpPr>
          <p:cNvPr id="27" name="灯片编号占位符 26"/>
          <p:cNvSpPr>
            <a:spLocks noGrp="1"/>
          </p:cNvSpPr>
          <p:nvPr>
            <p:ph type="sldNum" sz="quarter" idx="12"/>
          </p:nvPr>
        </p:nvSpPr>
        <p:spPr/>
        <p:txBody>
          <a:bodyPr/>
          <a:lstStyle>
            <a:lvl1pPr>
              <a:defRPr>
                <a:solidFill>
                  <a:srgbClr val="FFFFFF"/>
                </a:solidFill>
              </a:defRPr>
            </a:lvl1pPr>
            <a:extLst/>
          </a:lstStyle>
          <a:p>
            <a:fld id="{0BD87961-E39D-4DAC-BBE4-2A1C1340B983}" type="slidenum">
              <a:rPr lang="zh-CN" altLang="en-US" smtClean="0"/>
              <a:t>‹#›</a:t>
            </a:fld>
            <a:endParaRPr lang="zh-CN" altLang="en-US"/>
          </a:p>
        </p:txBody>
      </p:sp>
    </p:spTree>
    <p:extLst>
      <p:ext uri="{BB962C8B-B14F-4D97-AF65-F5344CB8AC3E}">
        <p14:creationId xmlns:p14="http://schemas.microsoft.com/office/powerpoint/2010/main" val="1235297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eaLnBrk="1" latinLnBrk="0" hangingPunct="1"/>
            <a:r>
              <a:rPr lang="zh-CN" altLang="en-US" smtClean="0"/>
              <a:t>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29A849EA-AD9D-464D-A102-C477ECBB0BE6}" type="datetime1">
              <a:rPr lang="zh-CN" altLang="en-US" smtClean="0"/>
              <a:t>2025/11/7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BD87961-E39D-4DAC-BBE4-2A1C1340B983}" type="slidenum">
              <a:rPr lang="zh-CN" altLang="en-US" smtClean="0"/>
              <a:t>‹#›</a:t>
            </a:fld>
            <a:endParaRPr lang="zh-CN" altLang="en-US"/>
          </a:p>
        </p:txBody>
      </p:sp>
      <p:sp>
        <p:nvSpPr>
          <p:cNvPr id="7" name="标题 6"/>
          <p:cNvSpPr>
            <a:spLocks noGrp="1"/>
          </p:cNvSpPr>
          <p:nvPr>
            <p:ph type="title"/>
          </p:nvPr>
        </p:nvSpPr>
        <p:spPr/>
        <p:txBody>
          <a:bodyPr rtlCol="0"/>
          <a:lstStyle/>
          <a:p>
            <a:r>
              <a:rPr kumimoji="0" lang="zh-CN" altLang="en-US" smtClean="0"/>
              <a:t>单击此处编辑母版标题样式</a:t>
            </a:r>
            <a:endParaRPr kumimoji="0" lang="en-US"/>
          </a:p>
        </p:txBody>
      </p:sp>
    </p:spTree>
    <p:extLst>
      <p:ext uri="{BB962C8B-B14F-4D97-AF65-F5344CB8AC3E}">
        <p14:creationId xmlns:p14="http://schemas.microsoft.com/office/powerpoint/2010/main" val="2623845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2">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zh-CN" altLang="en-US" smtClean="0"/>
              <a:t>编辑母版文本样式</a:t>
            </a:r>
          </a:p>
        </p:txBody>
      </p:sp>
      <p:sp>
        <p:nvSpPr>
          <p:cNvPr id="4" name="日期占位符 3"/>
          <p:cNvSpPr>
            <a:spLocks noGrp="1"/>
          </p:cNvSpPr>
          <p:nvPr>
            <p:ph type="dt" sz="half" idx="10"/>
          </p:nvPr>
        </p:nvSpPr>
        <p:spPr/>
        <p:txBody>
          <a:bodyPr/>
          <a:lstStyle/>
          <a:p>
            <a:fld id="{88053DA6-6E6B-46E3-A3EF-DAE2F9166500}" type="datetime1">
              <a:rPr lang="zh-CN" altLang="en-US" smtClean="0"/>
              <a:t>2025/11/7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BD87961-E39D-4DAC-BBE4-2A1C1340B983}" type="slidenum">
              <a:rPr lang="zh-CN" altLang="en-US" smtClean="0"/>
              <a:t>‹#›</a:t>
            </a:fld>
            <a:endParaRPr lang="zh-CN" altLang="en-US"/>
          </a:p>
        </p:txBody>
      </p:sp>
      <p:sp>
        <p:nvSpPr>
          <p:cNvPr id="7" name="燕尾形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
        <p:nvSpPr>
          <p:cNvPr id="8" name="燕尾形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Tree>
    <p:extLst>
      <p:ext uri="{BB962C8B-B14F-4D97-AF65-F5344CB8AC3E}">
        <p14:creationId xmlns:p14="http://schemas.microsoft.com/office/powerpoint/2010/main" val="39255262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Ref idx="1002">
        <a:schemeClr val="bg1"/>
      </p:bgRef>
    </p:bg>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smtClean="0"/>
              <a:t>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zh-CN" altLang="en-US" smtClean="0"/>
              <a:t>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74D991DB-D137-417D-881F-32D93A31829E}" type="datetime1">
              <a:rPr lang="zh-CN" altLang="en-US" smtClean="0"/>
              <a:t>2025/11/7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BD87961-E39D-4DAC-BBE4-2A1C1340B983}" type="slidenum">
              <a:rPr lang="zh-CN" altLang="en-US" smtClean="0"/>
              <a:t>‹#›</a:t>
            </a:fld>
            <a:endParaRPr lang="zh-CN" altLang="en-US"/>
          </a:p>
        </p:txBody>
      </p:sp>
      <p:sp>
        <p:nvSpPr>
          <p:cNvPr id="8" name="标题 7"/>
          <p:cNvSpPr>
            <a:spLocks noGrp="1"/>
          </p:cNvSpPr>
          <p:nvPr>
            <p:ph type="title"/>
          </p:nvPr>
        </p:nvSpPr>
        <p:spPr/>
        <p:txBody>
          <a:bodyPr rtlCol="0"/>
          <a:lstStyle/>
          <a:p>
            <a:r>
              <a:rPr kumimoji="0" lang="zh-CN" altLang="en-US" smtClean="0"/>
              <a:t>单击此处编辑母版标题样式</a:t>
            </a:r>
            <a:endParaRPr kumimoji="0" lang="en-US"/>
          </a:p>
        </p:txBody>
      </p:sp>
    </p:spTree>
    <p:extLst>
      <p:ext uri="{BB962C8B-B14F-4D97-AF65-F5344CB8AC3E}">
        <p14:creationId xmlns:p14="http://schemas.microsoft.com/office/powerpoint/2010/main" val="1030749594"/>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10972800" cy="1143000"/>
          </a:xfrm>
        </p:spPr>
        <p:txBody>
          <a:bodyPr anchor="ctr"/>
          <a:lstStyle>
            <a:lvl1pPr>
              <a:defRPr/>
            </a:lvl1pPr>
            <a:extLst/>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smtClean="0"/>
              <a:t>编辑母版文本样式</a:t>
            </a:r>
          </a:p>
        </p:txBody>
      </p:sp>
      <p:sp>
        <p:nvSpPr>
          <p:cNvPr id="4" name="文本占位符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zh-CN" altLang="en-US" smtClean="0"/>
              <a:t>编辑母版文本样式</a:t>
            </a:r>
          </a:p>
        </p:txBody>
      </p:sp>
      <p:sp>
        <p:nvSpPr>
          <p:cNvPr id="5" name="内容占位符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zh-CN" altLang="en-US" smtClean="0"/>
              <a:t>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zh-CN" altLang="en-US" smtClean="0"/>
              <a:t>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A73F3A53-D0E4-4EA2-8472-980A6FA579D4}" type="datetime1">
              <a:rPr lang="zh-CN" altLang="en-US" smtClean="0"/>
              <a:t>2025/11/7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BD87961-E39D-4DAC-BBE4-2A1C1340B983}" type="slidenum">
              <a:rPr lang="zh-CN" altLang="en-US" smtClean="0"/>
              <a:t>‹#›</a:t>
            </a:fld>
            <a:endParaRPr lang="zh-CN" altLang="en-US"/>
          </a:p>
        </p:txBody>
      </p:sp>
    </p:spTree>
    <p:extLst>
      <p:ext uri="{BB962C8B-B14F-4D97-AF65-F5344CB8AC3E}">
        <p14:creationId xmlns:p14="http://schemas.microsoft.com/office/powerpoint/2010/main" val="1009403087"/>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Ref idx="1002">
        <a:schemeClr val="bg1"/>
      </p:bgRef>
    </p:bg>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8A5E45C-DC1D-4E5F-9FA7-6433C4E16ACE}" type="datetime1">
              <a:rPr lang="zh-CN" altLang="en-US" smtClean="0"/>
              <a:t>2025/11/7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BD87961-E39D-4DAC-BBE4-2A1C1340B983}" type="slidenum">
              <a:rPr lang="zh-CN" altLang="en-US" smtClean="0"/>
              <a:t>‹#›</a:t>
            </a:fld>
            <a:endParaRPr lang="zh-CN" altLang="en-US"/>
          </a:p>
        </p:txBody>
      </p:sp>
      <p:sp>
        <p:nvSpPr>
          <p:cNvPr id="6" name="标题 5"/>
          <p:cNvSpPr>
            <a:spLocks noGrp="1"/>
          </p:cNvSpPr>
          <p:nvPr>
            <p:ph type="title"/>
          </p:nvPr>
        </p:nvSpPr>
        <p:spPr/>
        <p:txBody>
          <a:bodyPr rtlCol="0"/>
          <a:lstStyle/>
          <a:p>
            <a:r>
              <a:rPr kumimoji="0" lang="zh-CN" altLang="en-US" smtClean="0"/>
              <a:t>单击此处编辑母版标题样式</a:t>
            </a:r>
            <a:endParaRPr kumimoji="0" lang="en-US"/>
          </a:p>
        </p:txBody>
      </p:sp>
    </p:spTree>
    <p:extLst>
      <p:ext uri="{BB962C8B-B14F-4D97-AF65-F5344CB8AC3E}">
        <p14:creationId xmlns:p14="http://schemas.microsoft.com/office/powerpoint/2010/main" val="1432585362"/>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54AD633-591D-4315-B21A-F30846B5DE5A}" type="datetime1">
              <a:rPr lang="zh-CN" altLang="en-US" smtClean="0"/>
              <a:t>2025/11/7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BD87961-E39D-4DAC-BBE4-2A1C1340B983}" type="slidenum">
              <a:rPr lang="zh-CN" altLang="en-US" smtClean="0"/>
              <a:t>‹#›</a:t>
            </a:fld>
            <a:endParaRPr lang="zh-CN" altLang="en-US"/>
          </a:p>
        </p:txBody>
      </p:sp>
    </p:spTree>
    <p:extLst>
      <p:ext uri="{BB962C8B-B14F-4D97-AF65-F5344CB8AC3E}">
        <p14:creationId xmlns:p14="http://schemas.microsoft.com/office/powerpoint/2010/main" val="42066381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Ref idx="1003">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zh-CN" altLang="en-US" smtClean="0"/>
              <a:t>编辑母版文本样式</a:t>
            </a:r>
          </a:p>
        </p:txBody>
      </p:sp>
      <p:sp>
        <p:nvSpPr>
          <p:cNvPr id="4" name="内容占位符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zh-CN" altLang="en-US" smtClean="0"/>
              <a:t>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a:xfrm>
            <a:off x="8969376" y="6407944"/>
            <a:ext cx="2560320" cy="365760"/>
          </a:xfrm>
        </p:spPr>
        <p:txBody>
          <a:bodyPr/>
          <a:lstStyle/>
          <a:p>
            <a:fld id="{4F315613-CBE8-4EAE-B4D3-5E107C358424}" type="datetime1">
              <a:rPr lang="zh-CN" altLang="en-US" smtClean="0"/>
              <a:t>2025/11/7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BD87961-E39D-4DAC-BBE4-2A1C1340B983}" type="slidenum">
              <a:rPr lang="zh-CN" altLang="en-US" smtClean="0"/>
              <a:t>‹#›</a:t>
            </a:fld>
            <a:endParaRPr lang="zh-CN" altLang="en-US"/>
          </a:p>
        </p:txBody>
      </p:sp>
    </p:spTree>
    <p:extLst>
      <p:ext uri="{BB962C8B-B14F-4D97-AF65-F5344CB8AC3E}">
        <p14:creationId xmlns:p14="http://schemas.microsoft.com/office/powerpoint/2010/main" val="4071399128"/>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Ref idx="1002">
        <a:schemeClr val="bg1"/>
      </p:bgRef>
    </p:bg>
    <p:spTree>
      <p:nvGrpSpPr>
        <p:cNvPr id="1" name=""/>
        <p:cNvGrpSpPr/>
        <p:nvPr/>
      </p:nvGrpSpPr>
      <p:grpSpPr>
        <a:xfrm>
          <a:off x="0" y="0"/>
          <a:ext cx="0" cy="0"/>
          <a:chOff x="0" y="0"/>
          <a:chExt cx="0" cy="0"/>
        </a:xfrm>
      </p:grpSpPr>
      <p:sp>
        <p:nvSpPr>
          <p:cNvPr id="4" name="文本占位符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zh-CN" altLang="en-US" smtClean="0"/>
              <a:t>编辑母版文本样式</a:t>
            </a:r>
          </a:p>
        </p:txBody>
      </p:sp>
      <p:sp>
        <p:nvSpPr>
          <p:cNvPr id="3" name="图片占位符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zh-CN" altLang="en-US" smtClean="0"/>
              <a:t>单击图标添加图片</a:t>
            </a:r>
            <a:endParaRPr kumimoji="0" lang="en-US" dirty="0"/>
          </a:p>
        </p:txBody>
      </p:sp>
      <p:sp>
        <p:nvSpPr>
          <p:cNvPr id="5" name="日期占位符 4"/>
          <p:cNvSpPr>
            <a:spLocks noGrp="1"/>
          </p:cNvSpPr>
          <p:nvPr>
            <p:ph type="dt" sz="half" idx="10"/>
          </p:nvPr>
        </p:nvSpPr>
        <p:spPr/>
        <p:txBody>
          <a:bodyPr/>
          <a:lstStyle>
            <a:lvl1pPr>
              <a:defRPr>
                <a:solidFill>
                  <a:schemeClr val="tx1"/>
                </a:solidFill>
              </a:defRPr>
            </a:lvl1pPr>
            <a:extLst/>
          </a:lstStyle>
          <a:p>
            <a:fld id="{7C458E3C-BCE2-4DFF-931D-7D2E8C95A44D}" type="datetime1">
              <a:rPr lang="zh-CN" altLang="en-US" smtClean="0"/>
              <a:t>2025/11/7</a:t>
            </a:fld>
            <a:endParaRPr lang="zh-CN" altLang="en-US"/>
          </a:p>
        </p:txBody>
      </p:sp>
      <p:sp>
        <p:nvSpPr>
          <p:cNvPr id="6" name="页脚占位符 5"/>
          <p:cNvSpPr>
            <a:spLocks noGrp="1"/>
          </p:cNvSpPr>
          <p:nvPr>
            <p:ph type="ftr" sz="quarter" idx="11"/>
          </p:nvPr>
        </p:nvSpPr>
        <p:spPr>
          <a:xfrm>
            <a:off x="5840097" y="6407945"/>
            <a:ext cx="3134241" cy="365125"/>
          </a:xfrm>
        </p:spPr>
        <p:txBody>
          <a:bodyPr/>
          <a:lstStyle>
            <a:lvl1pPr>
              <a:defRPr>
                <a:solidFill>
                  <a:schemeClr val="tx1"/>
                </a:solidFill>
              </a:defRPr>
            </a:lvl1pPr>
            <a:extLst/>
          </a:lstStyle>
          <a:p>
            <a:endParaRPr lang="zh-CN" altLang="en-US"/>
          </a:p>
        </p:txBody>
      </p:sp>
      <p:sp>
        <p:nvSpPr>
          <p:cNvPr id="7" name="灯片编号占位符 6"/>
          <p:cNvSpPr>
            <a:spLocks noGrp="1"/>
          </p:cNvSpPr>
          <p:nvPr>
            <p:ph type="sldNum" sz="quarter" idx="12"/>
          </p:nvPr>
        </p:nvSpPr>
        <p:spPr/>
        <p:txBody>
          <a:bodyPr/>
          <a:lstStyle>
            <a:lvl1pPr>
              <a:defRPr>
                <a:solidFill>
                  <a:schemeClr val="tx1"/>
                </a:solidFill>
              </a:defRPr>
            </a:lvl1pPr>
            <a:extLst/>
          </a:lstStyle>
          <a:p>
            <a:fld id="{0BD87961-E39D-4DAC-BBE4-2A1C1340B983}" type="slidenum">
              <a:rPr lang="zh-CN" altLang="en-US" smtClean="0"/>
              <a:t>‹#›</a:t>
            </a:fld>
            <a:endParaRPr lang="zh-CN" altLang="en-US"/>
          </a:p>
        </p:txBody>
      </p:sp>
      <p:sp>
        <p:nvSpPr>
          <p:cNvPr id="2" name="标题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zh-CN" altLang="en-US" smtClean="0"/>
              <a:t>单击此处编辑母版标题样式</a:t>
            </a:r>
            <a:endParaRPr kumimoji="0" lang="en-US"/>
          </a:p>
        </p:txBody>
      </p:sp>
      <p:sp>
        <p:nvSpPr>
          <p:cNvPr id="8" name="任意多边形 7"/>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9" name="任意多边形 8"/>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0" name="直角三角形 9"/>
          <p:cNvSpPr>
            <a:spLocks/>
          </p:cNvSpPr>
          <p:nvPr/>
        </p:nvSpPr>
        <p:spPr bwMode="auto">
          <a:xfrm>
            <a:off x="-8056" y="5791253"/>
            <a:ext cx="4536419"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1" name="直接连接符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燕尾形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
        <p:nvSpPr>
          <p:cNvPr id="13" name="燕尾形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1800"/>
          </a:p>
        </p:txBody>
      </p:sp>
    </p:spTree>
    <p:extLst>
      <p:ext uri="{BB962C8B-B14F-4D97-AF65-F5344CB8AC3E}">
        <p14:creationId xmlns:p14="http://schemas.microsoft.com/office/powerpoint/2010/main" val="1054546253"/>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609600" y="1481330"/>
            <a:ext cx="10972800" cy="4386071"/>
          </a:xfrm>
        </p:spPr>
        <p:txBody>
          <a:bodyPr vert="eaVert"/>
          <a:lstStyle/>
          <a:p>
            <a:pPr lvl="0" eaLnBrk="1" latinLnBrk="0" hangingPunct="1"/>
            <a:r>
              <a:rPr lang="zh-CN" altLang="en-US" smtClean="0"/>
              <a:t>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DFED5F04-45D0-4CE1-B658-D969F96A78CD}" type="datetime1">
              <a:rPr lang="zh-CN" altLang="en-US" smtClean="0"/>
              <a:t>2025/11/7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BD87961-E39D-4DAC-BBE4-2A1C1340B983}" type="slidenum">
              <a:rPr lang="zh-CN" altLang="en-US" smtClean="0"/>
              <a:t>‹#›</a:t>
            </a:fld>
            <a:endParaRPr lang="zh-CN" altLang="en-US"/>
          </a:p>
        </p:txBody>
      </p:sp>
    </p:spTree>
    <p:extLst>
      <p:ext uri="{BB962C8B-B14F-4D97-AF65-F5344CB8AC3E}">
        <p14:creationId xmlns:p14="http://schemas.microsoft.com/office/powerpoint/2010/main" val="7619537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125351" y="274641"/>
            <a:ext cx="2369960" cy="5592761"/>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609600" y="274641"/>
            <a:ext cx="8432800" cy="5592760"/>
          </a:xfrm>
        </p:spPr>
        <p:txBody>
          <a:bodyPr vert="eaVert"/>
          <a:lstStyle/>
          <a:p>
            <a:pPr lvl="0" eaLnBrk="1" latinLnBrk="0" hangingPunct="1"/>
            <a:r>
              <a:rPr lang="zh-CN" altLang="en-US" smtClean="0"/>
              <a:t>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0F761169-D0EE-4FB1-B776-00987F02A3A7}" type="datetime1">
              <a:rPr lang="zh-CN" altLang="en-US" smtClean="0"/>
              <a:t>2025/11/7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BD87961-E39D-4DAC-BBE4-2A1C1340B983}" type="slidenum">
              <a:rPr lang="zh-CN" altLang="en-US" smtClean="0"/>
              <a:t>‹#›</a:t>
            </a:fld>
            <a:endParaRPr lang="zh-CN" altLang="en-US"/>
          </a:p>
        </p:txBody>
      </p:sp>
    </p:spTree>
    <p:extLst>
      <p:ext uri="{BB962C8B-B14F-4D97-AF65-F5344CB8AC3E}">
        <p14:creationId xmlns:p14="http://schemas.microsoft.com/office/powerpoint/2010/main" val="1289867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任意多边形 12"/>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2" name="任意多边形 11"/>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1800"/>
          </a:p>
        </p:txBody>
      </p:sp>
      <p:sp>
        <p:nvSpPr>
          <p:cNvPr id="14" name="直角三角形 13"/>
          <p:cNvSpPr>
            <a:spLocks/>
          </p:cNvSpPr>
          <p:nvPr/>
        </p:nvSpPr>
        <p:spPr bwMode="auto">
          <a:xfrm>
            <a:off x="-8056" y="5791253"/>
            <a:ext cx="4536419"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1800"/>
          </a:p>
        </p:txBody>
      </p:sp>
      <p:cxnSp>
        <p:nvCxnSpPr>
          <p:cNvPr id="15" name="直接连接符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标题占位符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kumimoji="0" lang="zh-CN" altLang="en-US" smtClean="0"/>
              <a:t>单击此处编辑母版标题样式</a:t>
            </a:r>
            <a:endParaRPr kumimoji="0" lang="en-US"/>
          </a:p>
        </p:txBody>
      </p:sp>
      <p:sp>
        <p:nvSpPr>
          <p:cNvPr id="30" name="文本占位符 29"/>
          <p:cNvSpPr>
            <a:spLocks noGrp="1"/>
          </p:cNvSpPr>
          <p:nvPr>
            <p:ph type="body" idx="1"/>
          </p:nvPr>
        </p:nvSpPr>
        <p:spPr>
          <a:xfrm>
            <a:off x="609600" y="1481329"/>
            <a:ext cx="10972800" cy="4525963"/>
          </a:xfrm>
          <a:prstGeom prst="rect">
            <a:avLst/>
          </a:prstGeom>
        </p:spPr>
        <p:txBody>
          <a:bodyPr vert="horz">
            <a:normAutofit/>
          </a:bodyPr>
          <a:lstStyle/>
          <a:p>
            <a:pPr lvl="0" eaLnBrk="1" latinLnBrk="0" hangingPunct="1"/>
            <a:r>
              <a:rPr kumimoji="0" lang="zh-CN" altLang="en-US" smtClean="0"/>
              <a:t>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0" name="日期占位符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2D68826A-FAE6-4839-B86E-15A93FD283F0}" type="datetime1">
              <a:rPr lang="zh-CN" altLang="en-US" smtClean="0"/>
              <a:t>2025/11/7</a:t>
            </a:fld>
            <a:endParaRPr lang="zh-CN" altLang="en-US"/>
          </a:p>
        </p:txBody>
      </p:sp>
      <p:sp>
        <p:nvSpPr>
          <p:cNvPr id="22" name="页脚占位符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endParaRPr lang="zh-CN" altLang="en-US"/>
          </a:p>
        </p:txBody>
      </p:sp>
      <p:sp>
        <p:nvSpPr>
          <p:cNvPr id="18" name="灯片编号占位符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0BD87961-E39D-4DAC-BBE4-2A1C1340B983}" type="slidenum">
              <a:rPr lang="zh-CN" altLang="en-US" smtClean="0"/>
              <a:t>‹#›</a:t>
            </a:fld>
            <a:endParaRPr lang="zh-CN" altLang="en-US"/>
          </a:p>
        </p:txBody>
      </p:sp>
    </p:spTree>
    <p:extLst>
      <p:ext uri="{BB962C8B-B14F-4D97-AF65-F5344CB8AC3E}">
        <p14:creationId xmlns:p14="http://schemas.microsoft.com/office/powerpoint/2010/main" val="324838295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github.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en-US" altLang="zh-CN" dirty="0" err="1" smtClean="0"/>
              <a:t>Git</a:t>
            </a:r>
            <a:r>
              <a:rPr lang="en-US" altLang="zh-CN" dirty="0" smtClean="0"/>
              <a:t> </a:t>
            </a:r>
            <a:r>
              <a:rPr lang="zh-CN" altLang="en-US" dirty="0" smtClean="0"/>
              <a:t>基础</a:t>
            </a:r>
            <a:endParaRPr lang="zh-CN" altLang="en-US" dirty="0"/>
          </a:p>
        </p:txBody>
      </p:sp>
    </p:spTree>
    <p:extLst>
      <p:ext uri="{BB962C8B-B14F-4D97-AF65-F5344CB8AC3E}">
        <p14:creationId xmlns:p14="http://schemas.microsoft.com/office/powerpoint/2010/main" val="36129914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600" y="513709"/>
            <a:ext cx="10972800" cy="4006920"/>
          </a:xfrm>
        </p:spPr>
        <p:txBody>
          <a:bodyPr/>
          <a:lstStyle/>
          <a:p>
            <a:r>
              <a:rPr lang="zh-CN" altLang="en-US" sz="4000" dirty="0" smtClean="0">
                <a:solidFill>
                  <a:srgbClr val="FF0000"/>
                </a:solidFill>
              </a:rPr>
              <a:t>文件概念及文件操作</a:t>
            </a:r>
            <a:endParaRPr lang="en-US" altLang="zh-CN" sz="4000" dirty="0" smtClean="0">
              <a:solidFill>
                <a:srgbClr val="FF0000"/>
              </a:solidFill>
            </a:endParaRPr>
          </a:p>
          <a:p>
            <a:endParaRPr lang="en-US" altLang="zh-CN" sz="4000" dirty="0"/>
          </a:p>
          <a:p>
            <a:r>
              <a:rPr lang="en-US" altLang="zh-CN" sz="4000" dirty="0" err="1" smtClean="0"/>
              <a:t>Git</a:t>
            </a:r>
            <a:r>
              <a:rPr lang="zh-CN" altLang="en-US" sz="4000" dirty="0" smtClean="0"/>
              <a:t>概念及相关操作</a:t>
            </a:r>
            <a:endParaRPr lang="en-US" altLang="zh-CN" sz="4000" dirty="0" smtClean="0"/>
          </a:p>
          <a:p>
            <a:endParaRPr lang="en-US" altLang="zh-CN" sz="4000" dirty="0" smtClean="0"/>
          </a:p>
          <a:p>
            <a:r>
              <a:rPr lang="en-US" altLang="zh-CN" sz="4000" dirty="0" err="1"/>
              <a:t>Gitee</a:t>
            </a:r>
            <a:r>
              <a:rPr lang="zh-CN" altLang="en-US" sz="4000" dirty="0"/>
              <a:t>（码云）的使用</a:t>
            </a:r>
            <a:endParaRPr lang="en-US" altLang="zh-CN" sz="4000" dirty="0"/>
          </a:p>
          <a:p>
            <a:pPr lvl="1"/>
            <a:endParaRPr lang="zh-CN" altLang="en-US" dirty="0"/>
          </a:p>
          <a:p>
            <a:endParaRPr lang="zh-CN" altLang="en-US" dirty="0"/>
          </a:p>
        </p:txBody>
      </p:sp>
      <p:sp>
        <p:nvSpPr>
          <p:cNvPr id="3" name="灯片编号占位符 2"/>
          <p:cNvSpPr>
            <a:spLocks noGrp="1"/>
          </p:cNvSpPr>
          <p:nvPr>
            <p:ph type="sldNum" sz="quarter" idx="12"/>
          </p:nvPr>
        </p:nvSpPr>
        <p:spPr/>
        <p:txBody>
          <a:bodyPr/>
          <a:lstStyle/>
          <a:p>
            <a:fld id="{0BD87961-E39D-4DAC-BBE4-2A1C1340B983}" type="slidenum">
              <a:rPr lang="zh-CN" altLang="en-US" smtClean="0"/>
              <a:t>2</a:t>
            </a:fld>
            <a:endParaRPr lang="zh-CN" altLang="en-US"/>
          </a:p>
        </p:txBody>
      </p:sp>
    </p:spTree>
    <p:extLst>
      <p:ext uri="{BB962C8B-B14F-4D97-AF65-F5344CB8AC3E}">
        <p14:creationId xmlns:p14="http://schemas.microsoft.com/office/powerpoint/2010/main" val="2634430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600" y="513709"/>
            <a:ext cx="10972800" cy="5938462"/>
          </a:xfrm>
        </p:spPr>
        <p:txBody>
          <a:bodyPr>
            <a:normAutofit/>
          </a:bodyPr>
          <a:lstStyle/>
          <a:p>
            <a:pPr marL="109728" indent="0">
              <a:buNone/>
            </a:pPr>
            <a:r>
              <a:rPr lang="zh-CN" altLang="en-US" sz="4000" dirty="0" smtClean="0"/>
              <a:t>文件概念及文件特征</a:t>
            </a:r>
            <a:endParaRPr lang="en-US" altLang="zh-CN" sz="4000" dirty="0" smtClean="0"/>
          </a:p>
          <a:p>
            <a:endParaRPr lang="en-US" altLang="zh-CN" sz="4000" dirty="0"/>
          </a:p>
          <a:p>
            <a:pPr lvl="1">
              <a:lnSpc>
                <a:spcPct val="150000"/>
              </a:lnSpc>
              <a:buFont typeface="Wingdings" panose="05000000000000000000" pitchFamily="2" charset="2"/>
              <a:buChar char="l"/>
            </a:pPr>
            <a:r>
              <a:rPr lang="zh-CN" altLang="en-US" sz="2800" dirty="0" smtClean="0"/>
              <a:t> 文件</a:t>
            </a:r>
            <a:r>
              <a:rPr lang="zh-CN" altLang="en-US" sz="2800" dirty="0"/>
              <a:t>是计算机系统中信息存放的一种形式。由于计算机系统中的文件都存放在磁盘、磁带、光盘等外存储器中，所以通俗地说，文件是存放在外存储器上的程序、数据和符号等信息的集合。 </a:t>
            </a:r>
            <a:endParaRPr lang="en-US" altLang="zh-CN" sz="2800" dirty="0" smtClean="0"/>
          </a:p>
          <a:p>
            <a:pPr lvl="1">
              <a:buFont typeface="Wingdings" panose="05000000000000000000" pitchFamily="2" charset="2"/>
              <a:buChar char="l"/>
            </a:pPr>
            <a:endParaRPr lang="en-US" altLang="zh-CN" dirty="0"/>
          </a:p>
          <a:p>
            <a:pPr lvl="1">
              <a:buFont typeface="Wingdings" panose="05000000000000000000" pitchFamily="2" charset="2"/>
              <a:buChar char="l"/>
            </a:pPr>
            <a:r>
              <a:rPr lang="zh-CN" altLang="en-US" sz="2800" dirty="0" smtClean="0"/>
              <a:t> 文件的基本特征：</a:t>
            </a:r>
            <a:endParaRPr lang="en-US" altLang="zh-CN" sz="2800" dirty="0" smtClean="0"/>
          </a:p>
          <a:p>
            <a:pPr lvl="2"/>
            <a:r>
              <a:rPr lang="zh-CN" altLang="en-US" sz="2400" dirty="0"/>
              <a:t>能长期存放在某种存储介质上</a:t>
            </a:r>
          </a:p>
          <a:p>
            <a:pPr lvl="2"/>
            <a:r>
              <a:rPr lang="zh-CN" altLang="en-US" sz="2400" dirty="0" smtClean="0"/>
              <a:t>有</a:t>
            </a:r>
            <a:r>
              <a:rPr lang="zh-CN" altLang="en-US" sz="2400" dirty="0"/>
              <a:t>一个命名标记，称为文件</a:t>
            </a:r>
            <a:r>
              <a:rPr lang="zh-CN" altLang="en-US" sz="2400" dirty="0" smtClean="0"/>
              <a:t>名称</a:t>
            </a:r>
            <a:endParaRPr lang="en-US" altLang="zh-CN" sz="2400" dirty="0" smtClean="0"/>
          </a:p>
          <a:p>
            <a:pPr lvl="2"/>
            <a:r>
              <a:rPr lang="zh-CN" altLang="en-US" sz="2400" dirty="0" smtClean="0"/>
              <a:t>能</a:t>
            </a:r>
            <a:r>
              <a:rPr lang="zh-CN" altLang="en-US" sz="2400" dirty="0"/>
              <a:t>被唯一地确定，即不致因同名而产生混乱 </a:t>
            </a:r>
          </a:p>
          <a:p>
            <a:pPr lvl="2"/>
            <a:endParaRPr lang="zh-CN" altLang="en-US" dirty="0"/>
          </a:p>
        </p:txBody>
      </p:sp>
      <p:sp>
        <p:nvSpPr>
          <p:cNvPr id="3" name="灯片编号占位符 2"/>
          <p:cNvSpPr>
            <a:spLocks noGrp="1"/>
          </p:cNvSpPr>
          <p:nvPr>
            <p:ph type="sldNum" sz="quarter" idx="12"/>
          </p:nvPr>
        </p:nvSpPr>
        <p:spPr/>
        <p:txBody>
          <a:bodyPr/>
          <a:lstStyle/>
          <a:p>
            <a:fld id="{0BD87961-E39D-4DAC-BBE4-2A1C1340B983}" type="slidenum">
              <a:rPr lang="zh-CN" altLang="en-US" smtClean="0"/>
              <a:t>3</a:t>
            </a:fld>
            <a:endParaRPr lang="zh-CN" altLang="en-US"/>
          </a:p>
        </p:txBody>
      </p:sp>
    </p:spTree>
    <p:extLst>
      <p:ext uri="{BB962C8B-B14F-4D97-AF65-F5344CB8AC3E}">
        <p14:creationId xmlns:p14="http://schemas.microsoft.com/office/powerpoint/2010/main" val="1141459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600" y="513709"/>
            <a:ext cx="10972800" cy="5938462"/>
          </a:xfrm>
        </p:spPr>
        <p:txBody>
          <a:bodyPr>
            <a:normAutofit/>
          </a:bodyPr>
          <a:lstStyle/>
          <a:p>
            <a:pPr marL="109728" indent="0">
              <a:buNone/>
            </a:pPr>
            <a:r>
              <a:rPr lang="zh-CN" altLang="en-US" sz="4000" dirty="0" smtClean="0"/>
              <a:t>文件命名</a:t>
            </a:r>
            <a:endParaRPr lang="en-US" altLang="zh-CN" sz="4000" dirty="0" smtClean="0"/>
          </a:p>
          <a:p>
            <a:endParaRPr lang="en-US" altLang="zh-CN" sz="4000" dirty="0"/>
          </a:p>
          <a:p>
            <a:pPr lvl="1">
              <a:lnSpc>
                <a:spcPct val="150000"/>
              </a:lnSpc>
              <a:buFont typeface="Wingdings" panose="05000000000000000000" pitchFamily="2" charset="2"/>
              <a:buChar char="l"/>
            </a:pPr>
            <a:r>
              <a:rPr lang="zh-CN" altLang="en-US" sz="2800" dirty="0" smtClean="0"/>
              <a:t> 文件</a:t>
            </a:r>
            <a:r>
              <a:rPr lang="zh-CN" altLang="en-US" sz="2800" dirty="0"/>
              <a:t>的名称由文件名和</a:t>
            </a:r>
            <a:r>
              <a:rPr lang="zh-CN" altLang="en-US" sz="2800" dirty="0" smtClean="0"/>
              <a:t>扩展名</a:t>
            </a:r>
            <a:r>
              <a:rPr lang="en-US" altLang="zh-CN" sz="2800" dirty="0" smtClean="0"/>
              <a:t> </a:t>
            </a:r>
            <a:r>
              <a:rPr lang="zh-CN" altLang="en-US" sz="2800" dirty="0"/>
              <a:t>两部分</a:t>
            </a:r>
            <a:r>
              <a:rPr lang="zh-CN" altLang="en-US" sz="2800" dirty="0" smtClean="0"/>
              <a:t>组成。</a:t>
            </a:r>
            <a:r>
              <a:rPr lang="zh-CN" altLang="en-US" sz="2800" dirty="0"/>
              <a:t>文件名称的一般格式为：</a:t>
            </a:r>
          </a:p>
          <a:p>
            <a:pPr marL="393192" lvl="1" indent="0">
              <a:lnSpc>
                <a:spcPct val="150000"/>
              </a:lnSpc>
              <a:buNone/>
            </a:pPr>
            <a:r>
              <a:rPr lang="zh-CN" altLang="en-US" sz="2800" dirty="0" smtClean="0"/>
              <a:t>           </a:t>
            </a:r>
            <a:r>
              <a:rPr lang="en-US" altLang="zh-CN" sz="2800" dirty="0"/>
              <a:t>filename[.EXT]</a:t>
            </a:r>
          </a:p>
          <a:p>
            <a:pPr lvl="1">
              <a:lnSpc>
                <a:spcPct val="150000"/>
              </a:lnSpc>
              <a:buFont typeface="Wingdings" panose="05000000000000000000" pitchFamily="2" charset="2"/>
              <a:buChar char="l"/>
            </a:pPr>
            <a:r>
              <a:rPr lang="en-US" altLang="zh-CN" sz="2800" dirty="0" smtClean="0"/>
              <a:t> filename</a:t>
            </a:r>
            <a:r>
              <a:rPr lang="zh-CN" altLang="en-US" sz="2800" dirty="0"/>
              <a:t>为</a:t>
            </a:r>
            <a:r>
              <a:rPr lang="zh-CN" altLang="en-US" sz="2800" dirty="0" smtClean="0"/>
              <a:t>文件名，</a:t>
            </a:r>
            <a:r>
              <a:rPr lang="en-US" altLang="zh-CN" sz="2800" dirty="0" smtClean="0"/>
              <a:t>EXT</a:t>
            </a:r>
            <a:r>
              <a:rPr lang="zh-CN" altLang="en-US" sz="2800" dirty="0"/>
              <a:t>为</a:t>
            </a:r>
            <a:r>
              <a:rPr lang="zh-CN" altLang="en-US" sz="2800" dirty="0" smtClean="0"/>
              <a:t>扩展名，</a:t>
            </a:r>
            <a:r>
              <a:rPr lang="zh-CN" altLang="en-US" sz="2800" dirty="0"/>
              <a:t>也称为</a:t>
            </a:r>
            <a:r>
              <a:rPr lang="zh-CN" altLang="en-US" sz="2800" dirty="0" smtClean="0"/>
              <a:t>后缀， </a:t>
            </a:r>
            <a:r>
              <a:rPr lang="en-US" altLang="zh-CN" sz="2800" dirty="0" smtClean="0"/>
              <a:t>[ </a:t>
            </a:r>
            <a:r>
              <a:rPr lang="en-US" altLang="zh-CN" sz="2800" dirty="0"/>
              <a:t>]</a:t>
            </a:r>
            <a:r>
              <a:rPr lang="zh-CN" altLang="en-US" sz="2800" dirty="0"/>
              <a:t>表示其中的内容是可选的，即可以不要扩展名</a:t>
            </a:r>
            <a:r>
              <a:rPr lang="zh-CN" altLang="en-US" sz="2800" dirty="0" smtClean="0"/>
              <a:t>。扩展名表示</a:t>
            </a:r>
            <a:r>
              <a:rPr lang="zh-CN" altLang="en-US" sz="2800" dirty="0"/>
              <a:t>文件的</a:t>
            </a:r>
            <a:r>
              <a:rPr lang="zh-CN" altLang="en-US" sz="2800" dirty="0" smtClean="0"/>
              <a:t>类型，如</a:t>
            </a:r>
            <a:r>
              <a:rPr lang="en-US" altLang="zh-CN" sz="2800" dirty="0" smtClean="0"/>
              <a:t>exe</a:t>
            </a:r>
            <a:r>
              <a:rPr lang="zh-CN" altLang="en-US" sz="2800" dirty="0" smtClean="0"/>
              <a:t>表示可执行文件，</a:t>
            </a:r>
            <a:r>
              <a:rPr lang="en-US" altLang="zh-CN" sz="2800" dirty="0" err="1" smtClean="0"/>
              <a:t>docx</a:t>
            </a:r>
            <a:r>
              <a:rPr lang="zh-CN" altLang="en-US" sz="2800" dirty="0" smtClean="0"/>
              <a:t>表示</a:t>
            </a:r>
            <a:r>
              <a:rPr lang="en-US" altLang="zh-CN" sz="2800" dirty="0" smtClean="0"/>
              <a:t>Word</a:t>
            </a:r>
            <a:r>
              <a:rPr lang="zh-CN" altLang="en-US" sz="2800" dirty="0" smtClean="0"/>
              <a:t>文档。</a:t>
            </a:r>
            <a:endParaRPr lang="zh-CN" altLang="en-US" sz="2800" dirty="0"/>
          </a:p>
          <a:p>
            <a:pPr lvl="2"/>
            <a:endParaRPr lang="zh-CN" altLang="en-US" dirty="0"/>
          </a:p>
        </p:txBody>
      </p:sp>
      <p:sp>
        <p:nvSpPr>
          <p:cNvPr id="3" name="灯片编号占位符 2"/>
          <p:cNvSpPr>
            <a:spLocks noGrp="1"/>
          </p:cNvSpPr>
          <p:nvPr>
            <p:ph type="sldNum" sz="quarter" idx="12"/>
          </p:nvPr>
        </p:nvSpPr>
        <p:spPr/>
        <p:txBody>
          <a:bodyPr/>
          <a:lstStyle/>
          <a:p>
            <a:fld id="{0BD87961-E39D-4DAC-BBE4-2A1C1340B983}" type="slidenum">
              <a:rPr lang="zh-CN" altLang="en-US" smtClean="0"/>
              <a:t>4</a:t>
            </a:fld>
            <a:endParaRPr lang="zh-CN" altLang="en-US"/>
          </a:p>
        </p:txBody>
      </p:sp>
    </p:spTree>
    <p:extLst>
      <p:ext uri="{BB962C8B-B14F-4D97-AF65-F5344CB8AC3E}">
        <p14:creationId xmlns:p14="http://schemas.microsoft.com/office/powerpoint/2010/main" val="15043377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37" name="Text Box 41"/>
          <p:cNvSpPr txBox="1">
            <a:spLocks noChangeArrowheads="1"/>
          </p:cNvSpPr>
          <p:nvPr/>
        </p:nvSpPr>
        <p:spPr bwMode="auto">
          <a:xfrm>
            <a:off x="431515" y="267128"/>
            <a:ext cx="11517329" cy="2523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pPr>
            <a:r>
              <a:rPr lang="zh-CN" altLang="en-US" sz="3200" dirty="0" smtClean="0">
                <a:effectLst>
                  <a:outerShdw blurRad="38100" dist="38100" dir="2700000" algn="tl">
                    <a:srgbClr val="C0C0C0"/>
                  </a:outerShdw>
                </a:effectLst>
                <a:latin typeface="Times New Roman" pitchFamily="18" charset="0"/>
              </a:rPr>
              <a:t>文件目录（文件夹）</a:t>
            </a:r>
            <a:endParaRPr lang="en-US" altLang="zh-CN" sz="3200" dirty="0" smtClean="0">
              <a:effectLst>
                <a:outerShdw blurRad="38100" dist="38100" dir="2700000" algn="tl">
                  <a:srgbClr val="C0C0C0"/>
                </a:outerShdw>
              </a:effectLst>
              <a:latin typeface="Times New Roman" pitchFamily="18" charset="0"/>
            </a:endParaRPr>
          </a:p>
          <a:p>
            <a:pPr marL="457200" indent="-457200" algn="just">
              <a:spcBef>
                <a:spcPct val="50000"/>
              </a:spcBef>
              <a:buFont typeface="Wingdings" panose="05000000000000000000" pitchFamily="2" charset="2"/>
              <a:buChar char="l"/>
            </a:pPr>
            <a:r>
              <a:rPr lang="zh-CN" altLang="en-US" sz="2800" dirty="0" smtClean="0">
                <a:effectLst>
                  <a:outerShdw blurRad="38100" dist="38100" dir="2700000" algn="tl">
                    <a:srgbClr val="C0C0C0"/>
                  </a:outerShdw>
                </a:effectLst>
                <a:latin typeface="Times New Roman" pitchFamily="18" charset="0"/>
              </a:rPr>
              <a:t>文件目录（文件夹），</a:t>
            </a:r>
            <a:r>
              <a:rPr lang="zh-CN" altLang="en-US" sz="2800" dirty="0">
                <a:effectLst>
                  <a:outerShdw blurRad="38100" dist="38100" dir="2700000" algn="tl">
                    <a:srgbClr val="C0C0C0"/>
                  </a:outerShdw>
                </a:effectLst>
                <a:latin typeface="Times New Roman" pitchFamily="18" charset="0"/>
              </a:rPr>
              <a:t>是文件名称与文件存储位置的一个对照表</a:t>
            </a:r>
            <a:r>
              <a:rPr lang="zh-CN" altLang="en-US" sz="2800" dirty="0" smtClean="0">
                <a:effectLst>
                  <a:outerShdw blurRad="38100" dist="38100" dir="2700000" algn="tl">
                    <a:srgbClr val="C0C0C0"/>
                  </a:outerShdw>
                </a:effectLst>
                <a:latin typeface="Times New Roman" pitchFamily="18" charset="0"/>
              </a:rPr>
              <a:t>。</a:t>
            </a:r>
            <a:endParaRPr lang="en-US" altLang="zh-CN" sz="2800" dirty="0" smtClean="0">
              <a:effectLst>
                <a:outerShdw blurRad="38100" dist="38100" dir="2700000" algn="tl">
                  <a:srgbClr val="C0C0C0"/>
                </a:outerShdw>
              </a:effectLst>
              <a:latin typeface="Times New Roman" pitchFamily="18" charset="0"/>
            </a:endParaRPr>
          </a:p>
          <a:p>
            <a:pPr marL="457200" indent="-457200" algn="just">
              <a:spcBef>
                <a:spcPct val="50000"/>
              </a:spcBef>
              <a:buFont typeface="Wingdings" panose="05000000000000000000" pitchFamily="2" charset="2"/>
              <a:buChar char="l"/>
            </a:pPr>
            <a:r>
              <a:rPr lang="en-US" altLang="zh-CN" sz="2800" dirty="0" smtClean="0">
                <a:effectLst>
                  <a:outerShdw blurRad="38100" dist="38100" dir="2700000" algn="tl">
                    <a:srgbClr val="C0C0C0"/>
                  </a:outerShdw>
                </a:effectLst>
                <a:latin typeface="Times New Roman" pitchFamily="18" charset="0"/>
              </a:rPr>
              <a:t>Windows</a:t>
            </a:r>
            <a:r>
              <a:rPr lang="zh-CN" altLang="en-US" sz="2800" dirty="0">
                <a:effectLst>
                  <a:outerShdw blurRad="38100" dist="38100" dir="2700000" algn="tl">
                    <a:srgbClr val="C0C0C0"/>
                  </a:outerShdw>
                </a:effectLst>
                <a:latin typeface="Times New Roman" pitchFamily="18" charset="0"/>
              </a:rPr>
              <a:t>及</a:t>
            </a:r>
            <a:r>
              <a:rPr lang="en-US" altLang="zh-CN" sz="2800" dirty="0">
                <a:effectLst>
                  <a:outerShdw blurRad="38100" dist="38100" dir="2700000" algn="tl">
                    <a:srgbClr val="C0C0C0"/>
                  </a:outerShdw>
                </a:effectLst>
                <a:latin typeface="Times New Roman" pitchFamily="18" charset="0"/>
              </a:rPr>
              <a:t>Linux</a:t>
            </a:r>
            <a:r>
              <a:rPr lang="zh-CN" altLang="en-US" sz="2800" dirty="0" smtClean="0">
                <a:effectLst>
                  <a:outerShdw blurRad="38100" dist="38100" dir="2700000" algn="tl">
                    <a:srgbClr val="C0C0C0"/>
                  </a:outerShdw>
                </a:effectLst>
                <a:latin typeface="Times New Roman" pitchFamily="18" charset="0"/>
              </a:rPr>
              <a:t>的文件系统都采用树状层次结构</a:t>
            </a:r>
            <a:endParaRPr lang="en-US" altLang="zh-CN" sz="2800" dirty="0" smtClean="0">
              <a:effectLst>
                <a:outerShdw blurRad="38100" dist="38100" dir="2700000" algn="tl">
                  <a:srgbClr val="C0C0C0"/>
                </a:outerShdw>
              </a:effectLst>
              <a:latin typeface="Times New Roman" pitchFamily="18" charset="0"/>
            </a:endParaRPr>
          </a:p>
          <a:p>
            <a:pPr marL="457200" indent="-457200" algn="just">
              <a:spcBef>
                <a:spcPct val="50000"/>
              </a:spcBef>
              <a:buFont typeface="Wingdings" panose="05000000000000000000" pitchFamily="2" charset="2"/>
              <a:buChar char="l"/>
            </a:pPr>
            <a:r>
              <a:rPr lang="zh-CN" altLang="en-US" sz="2800" dirty="0" smtClean="0">
                <a:effectLst>
                  <a:outerShdw blurRad="38100" dist="38100" dir="2700000" algn="tl">
                    <a:srgbClr val="C0C0C0"/>
                  </a:outerShdw>
                </a:effectLst>
                <a:latin typeface="Times New Roman" pitchFamily="18" charset="0"/>
              </a:rPr>
              <a:t>下图是</a:t>
            </a:r>
            <a:r>
              <a:rPr lang="en-US" altLang="zh-CN" sz="2800" dirty="0" smtClean="0">
                <a:effectLst>
                  <a:outerShdw blurRad="38100" dist="38100" dir="2700000" algn="tl">
                    <a:srgbClr val="C0C0C0"/>
                  </a:outerShdw>
                </a:effectLst>
                <a:latin typeface="Times New Roman" pitchFamily="18" charset="0"/>
              </a:rPr>
              <a:t>Windows</a:t>
            </a:r>
            <a:r>
              <a:rPr lang="zh-CN" altLang="en-US" sz="2800" dirty="0" smtClean="0">
                <a:effectLst>
                  <a:outerShdw blurRad="38100" dist="38100" dir="2700000" algn="tl">
                    <a:srgbClr val="C0C0C0"/>
                  </a:outerShdw>
                </a:effectLst>
                <a:latin typeface="Times New Roman" pitchFamily="18" charset="0"/>
              </a:rPr>
              <a:t>中的</a:t>
            </a:r>
            <a:r>
              <a:rPr lang="en-US" altLang="zh-CN" sz="2800" dirty="0" smtClean="0">
                <a:effectLst>
                  <a:outerShdw blurRad="38100" dist="38100" dir="2700000" algn="tl">
                    <a:srgbClr val="C0C0C0"/>
                  </a:outerShdw>
                </a:effectLst>
                <a:latin typeface="Times New Roman" pitchFamily="18" charset="0"/>
              </a:rPr>
              <a:t>C</a:t>
            </a:r>
            <a:r>
              <a:rPr lang="zh-CN" altLang="en-US" sz="2800" dirty="0" smtClean="0">
                <a:effectLst>
                  <a:outerShdw blurRad="38100" dist="38100" dir="2700000" algn="tl">
                    <a:srgbClr val="C0C0C0"/>
                  </a:outerShdw>
                </a:effectLst>
                <a:latin typeface="Times New Roman" pitchFamily="18" charset="0"/>
              </a:rPr>
              <a:t>盘的文件结构（包括根目录、子目录和文件）</a:t>
            </a:r>
            <a:endParaRPr lang="zh-CN" altLang="en-US" sz="2800" dirty="0">
              <a:effectLst>
                <a:outerShdw blurRad="38100" dist="38100" dir="2700000" algn="tl">
                  <a:srgbClr val="C0C0C0"/>
                </a:outerShdw>
              </a:effectLst>
              <a:latin typeface="Arial" pitchFamily="34" charset="0"/>
            </a:endParaRPr>
          </a:p>
        </p:txBody>
      </p:sp>
      <p:graphicFrame>
        <p:nvGraphicFramePr>
          <p:cNvPr id="29740" name="Object 44"/>
          <p:cNvGraphicFramePr>
            <a:graphicFrameLocks noChangeAspect="1"/>
          </p:cNvGraphicFramePr>
          <p:nvPr>
            <p:extLst>
              <p:ext uri="{D42A27DB-BD31-4B8C-83A1-F6EECF244321}">
                <p14:modId xmlns:p14="http://schemas.microsoft.com/office/powerpoint/2010/main" val="1432375124"/>
              </p:ext>
            </p:extLst>
          </p:nvPr>
        </p:nvGraphicFramePr>
        <p:xfrm>
          <a:off x="812799" y="2732070"/>
          <a:ext cx="9855200" cy="4038600"/>
        </p:xfrm>
        <a:graphic>
          <a:graphicData uri="http://schemas.openxmlformats.org/presentationml/2006/ole">
            <mc:AlternateContent xmlns:mc="http://schemas.openxmlformats.org/markup-compatibility/2006">
              <mc:Choice xmlns:v="urn:schemas-microsoft-com:vml" Requires="v">
                <p:oleObj spid="_x0000_s1102" name="Picture" r:id="rId3" imgW="3486240" imgH="2171880" progId="Word.Picture.8">
                  <p:embed/>
                </p:oleObj>
              </mc:Choice>
              <mc:Fallback>
                <p:oleObj name="Picture" r:id="rId3" imgW="3486240" imgH="2171880" progId="Word.Picture.8">
                  <p:embed/>
                  <p:pic>
                    <p:nvPicPr>
                      <p:cNvPr id="0" name=""/>
                      <p:cNvPicPr>
                        <a:picLocks noChangeAspect="1" noChangeArrowheads="1"/>
                      </p:cNvPicPr>
                      <p:nvPr/>
                    </p:nvPicPr>
                    <p:blipFill>
                      <a:blip r:embed="rId4"/>
                      <a:srcRect/>
                      <a:stretch>
                        <a:fillRect/>
                      </a:stretch>
                    </p:blipFill>
                    <p:spPr bwMode="auto">
                      <a:xfrm>
                        <a:off x="812799" y="2732070"/>
                        <a:ext cx="9855200" cy="403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灯片编号占位符 1"/>
          <p:cNvSpPr>
            <a:spLocks noGrp="1"/>
          </p:cNvSpPr>
          <p:nvPr>
            <p:ph type="sldNum" sz="quarter" idx="12"/>
          </p:nvPr>
        </p:nvSpPr>
        <p:spPr/>
        <p:txBody>
          <a:bodyPr/>
          <a:lstStyle/>
          <a:p>
            <a:fld id="{0BD87961-E39D-4DAC-BBE4-2A1C1340B983}" type="slidenum">
              <a:rPr lang="zh-CN" altLang="en-US" smtClean="0"/>
              <a:t>5</a:t>
            </a:fld>
            <a:endParaRPr lang="zh-CN" altLang="en-US"/>
          </a:p>
        </p:txBody>
      </p:sp>
    </p:spTree>
    <p:extLst>
      <p:ext uri="{BB962C8B-B14F-4D97-AF65-F5344CB8AC3E}">
        <p14:creationId xmlns:p14="http://schemas.microsoft.com/office/powerpoint/2010/main" val="408290031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37" name="Text Box 41"/>
          <p:cNvSpPr txBox="1">
            <a:spLocks noChangeArrowheads="1"/>
          </p:cNvSpPr>
          <p:nvPr/>
        </p:nvSpPr>
        <p:spPr bwMode="auto">
          <a:xfrm>
            <a:off x="812799" y="457200"/>
            <a:ext cx="111360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just">
              <a:spcBef>
                <a:spcPct val="50000"/>
              </a:spcBef>
              <a:buFont typeface="Wingdings" panose="05000000000000000000" pitchFamily="2" charset="2"/>
              <a:buChar char="l"/>
            </a:pPr>
            <a:r>
              <a:rPr lang="zh-CN" altLang="en-US" sz="2800" dirty="0" smtClean="0">
                <a:effectLst>
                  <a:outerShdw blurRad="38100" dist="38100" dir="2700000" algn="tl">
                    <a:srgbClr val="C0C0C0"/>
                  </a:outerShdw>
                </a:effectLst>
                <a:latin typeface="Times New Roman" pitchFamily="18" charset="0"/>
              </a:rPr>
              <a:t>下图是</a:t>
            </a:r>
            <a:r>
              <a:rPr lang="en-US" altLang="zh-CN" sz="2800" dirty="0" smtClean="0">
                <a:effectLst>
                  <a:outerShdw blurRad="38100" dist="38100" dir="2700000" algn="tl">
                    <a:srgbClr val="C0C0C0"/>
                  </a:outerShdw>
                </a:effectLst>
                <a:latin typeface="Times New Roman" pitchFamily="18" charset="0"/>
              </a:rPr>
              <a:t>Linux</a:t>
            </a:r>
            <a:r>
              <a:rPr lang="zh-CN" altLang="en-US" sz="2800" dirty="0" smtClean="0">
                <a:effectLst>
                  <a:outerShdw blurRad="38100" dist="38100" dir="2700000" algn="tl">
                    <a:srgbClr val="C0C0C0"/>
                  </a:outerShdw>
                </a:effectLst>
                <a:latin typeface="Times New Roman" pitchFamily="18" charset="0"/>
              </a:rPr>
              <a:t>中的文件结构。</a:t>
            </a:r>
            <a:endParaRPr lang="zh-CN" altLang="en-US" sz="2800" dirty="0">
              <a:effectLst>
                <a:outerShdw blurRad="38100" dist="38100" dir="2700000" algn="tl">
                  <a:srgbClr val="C0C0C0"/>
                </a:outerShdw>
              </a:effectLst>
              <a:latin typeface="Arial" pitchFamily="34" charset="0"/>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4610" y="1169326"/>
            <a:ext cx="7550632" cy="5128731"/>
          </a:xfrm>
          <a:prstGeom prst="rect">
            <a:avLst/>
          </a:prstGeom>
        </p:spPr>
      </p:pic>
      <p:sp>
        <p:nvSpPr>
          <p:cNvPr id="3" name="灯片编号占位符 2"/>
          <p:cNvSpPr>
            <a:spLocks noGrp="1"/>
          </p:cNvSpPr>
          <p:nvPr>
            <p:ph type="sldNum" sz="quarter" idx="12"/>
          </p:nvPr>
        </p:nvSpPr>
        <p:spPr/>
        <p:txBody>
          <a:bodyPr/>
          <a:lstStyle/>
          <a:p>
            <a:fld id="{0BD87961-E39D-4DAC-BBE4-2A1C1340B983}" type="slidenum">
              <a:rPr lang="zh-CN" altLang="en-US" smtClean="0"/>
              <a:t>6</a:t>
            </a:fld>
            <a:endParaRPr lang="zh-CN" altLang="en-US"/>
          </a:p>
        </p:txBody>
      </p:sp>
    </p:spTree>
    <p:extLst>
      <p:ext uri="{BB962C8B-B14F-4D97-AF65-F5344CB8AC3E}">
        <p14:creationId xmlns:p14="http://schemas.microsoft.com/office/powerpoint/2010/main" val="309141188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12" name="Text Box 40"/>
          <p:cNvSpPr txBox="1">
            <a:spLocks noChangeArrowheads="1"/>
          </p:cNvSpPr>
          <p:nvPr/>
        </p:nvSpPr>
        <p:spPr bwMode="auto">
          <a:xfrm>
            <a:off x="431801" y="188913"/>
            <a:ext cx="11527317" cy="61555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50000"/>
              </a:spcBef>
            </a:pPr>
            <a:r>
              <a:rPr lang="zh-CN" altLang="en-US" sz="3200" b="1" dirty="0" smtClean="0">
                <a:effectLst>
                  <a:outerShdw blurRad="38100" dist="38100" dir="2700000" algn="tl">
                    <a:srgbClr val="C0C0C0"/>
                  </a:outerShdw>
                </a:effectLst>
                <a:latin typeface="Times New Roman" pitchFamily="18" charset="0"/>
                <a:ea typeface="创艺简标宋" charset="-122"/>
              </a:rPr>
              <a:t>根目录和子目录</a:t>
            </a:r>
            <a:r>
              <a:rPr lang="en-US" altLang="zh-CN" sz="3200" b="1" dirty="0" smtClean="0">
                <a:effectLst>
                  <a:outerShdw blurRad="38100" dist="38100" dir="2700000" algn="tl">
                    <a:srgbClr val="C0C0C0"/>
                  </a:outerShdw>
                </a:effectLst>
                <a:latin typeface="Times New Roman" pitchFamily="18" charset="0"/>
                <a:ea typeface="创艺简标宋" charset="-122"/>
              </a:rPr>
              <a:t>    </a:t>
            </a:r>
          </a:p>
          <a:p>
            <a:pPr marL="457200" indent="-457200" algn="just">
              <a:lnSpc>
                <a:spcPct val="150000"/>
              </a:lnSpc>
              <a:spcBef>
                <a:spcPct val="50000"/>
              </a:spcBef>
              <a:buFont typeface="Wingdings" panose="05000000000000000000" pitchFamily="2" charset="2"/>
              <a:buChar char="l"/>
            </a:pPr>
            <a:r>
              <a:rPr lang="zh-CN" altLang="en-US" sz="2800" b="1" dirty="0" smtClean="0">
                <a:latin typeface="Times New Roman" pitchFamily="18" charset="0"/>
              </a:rPr>
              <a:t>根目录</a:t>
            </a:r>
            <a:r>
              <a:rPr lang="zh-CN" altLang="en-US" sz="2800" dirty="0">
                <a:latin typeface="Times New Roman" pitchFamily="18" charset="0"/>
              </a:rPr>
              <a:t>又称为</a:t>
            </a:r>
            <a:r>
              <a:rPr lang="zh-CN" altLang="en-US" sz="2800" b="1" dirty="0">
                <a:latin typeface="Times New Roman" pitchFamily="18" charset="0"/>
              </a:rPr>
              <a:t>系统目录</a:t>
            </a:r>
            <a:r>
              <a:rPr lang="zh-CN" altLang="en-US" sz="2800" dirty="0" smtClean="0">
                <a:latin typeface="Times New Roman" pitchFamily="18" charset="0"/>
              </a:rPr>
              <a:t>，</a:t>
            </a:r>
            <a:r>
              <a:rPr lang="en-US" altLang="zh-CN" sz="2800" dirty="0" smtClean="0">
                <a:latin typeface="Times New Roman" pitchFamily="18" charset="0"/>
              </a:rPr>
              <a:t>Windows</a:t>
            </a:r>
            <a:r>
              <a:rPr lang="zh-CN" altLang="en-US" sz="2800" dirty="0" smtClean="0">
                <a:latin typeface="Times New Roman" pitchFamily="18" charset="0"/>
              </a:rPr>
              <a:t>中用“</a:t>
            </a:r>
            <a:r>
              <a:rPr lang="en-US" altLang="zh-CN" sz="2800" b="1" dirty="0" smtClean="0">
                <a:latin typeface="Times New Roman" pitchFamily="18" charset="0"/>
              </a:rPr>
              <a:t>\</a:t>
            </a:r>
            <a:r>
              <a:rPr lang="zh-CN" altLang="en-US" sz="2800" b="1" dirty="0" smtClean="0">
                <a:latin typeface="Times New Roman" pitchFamily="18" charset="0"/>
              </a:rPr>
              <a:t>”</a:t>
            </a:r>
            <a:r>
              <a:rPr lang="zh-CN" altLang="en-US" sz="2800" dirty="0" smtClean="0">
                <a:latin typeface="Times New Roman" pitchFamily="18" charset="0"/>
              </a:rPr>
              <a:t>来表示，</a:t>
            </a:r>
            <a:r>
              <a:rPr lang="en-US" altLang="zh-CN" sz="2800" dirty="0" smtClean="0">
                <a:latin typeface="Times New Roman" pitchFamily="18" charset="0"/>
              </a:rPr>
              <a:t>Linux</a:t>
            </a:r>
            <a:r>
              <a:rPr lang="zh-CN" altLang="en-US" sz="2800" dirty="0" smtClean="0">
                <a:latin typeface="Times New Roman" pitchFamily="18" charset="0"/>
              </a:rPr>
              <a:t>中用“</a:t>
            </a:r>
            <a:r>
              <a:rPr lang="en-US" altLang="zh-CN" sz="2800" dirty="0" smtClean="0">
                <a:latin typeface="Times New Roman" pitchFamily="18" charset="0"/>
              </a:rPr>
              <a:t>/</a:t>
            </a:r>
            <a:r>
              <a:rPr lang="zh-CN" altLang="en-US" sz="2800" dirty="0" smtClean="0">
                <a:latin typeface="Times New Roman" pitchFamily="18" charset="0"/>
              </a:rPr>
              <a:t>”</a:t>
            </a:r>
            <a:r>
              <a:rPr lang="zh-CN" altLang="en-US" sz="2800" dirty="0">
                <a:latin typeface="Times New Roman" pitchFamily="18" charset="0"/>
              </a:rPr>
              <a:t>来</a:t>
            </a:r>
            <a:r>
              <a:rPr lang="zh-CN" altLang="en-US" sz="2800" dirty="0" smtClean="0">
                <a:latin typeface="Times New Roman" pitchFamily="18" charset="0"/>
              </a:rPr>
              <a:t>表示。</a:t>
            </a:r>
            <a:r>
              <a:rPr lang="zh-CN" altLang="en-US" sz="2800" b="1" dirty="0" smtClean="0">
                <a:latin typeface="Times New Roman" pitchFamily="18" charset="0"/>
              </a:rPr>
              <a:t>子目录</a:t>
            </a:r>
            <a:r>
              <a:rPr lang="zh-CN" altLang="en-US" sz="2800" dirty="0">
                <a:latin typeface="Times New Roman" pitchFamily="18" charset="0"/>
              </a:rPr>
              <a:t>是</a:t>
            </a:r>
            <a:r>
              <a:rPr lang="zh-CN" altLang="en-US" sz="2800" b="1" dirty="0">
                <a:latin typeface="Times New Roman" pitchFamily="18" charset="0"/>
              </a:rPr>
              <a:t>包含在根目录或其他子目录中的目录</a:t>
            </a:r>
            <a:r>
              <a:rPr lang="zh-CN" altLang="en-US" sz="2800" dirty="0" smtClean="0">
                <a:latin typeface="Times New Roman" pitchFamily="18" charset="0"/>
              </a:rPr>
              <a:t>。</a:t>
            </a:r>
            <a:endParaRPr lang="en-US" altLang="zh-CN" sz="2800" dirty="0" smtClean="0">
              <a:latin typeface="Times New Roman" pitchFamily="18" charset="0"/>
            </a:endParaRPr>
          </a:p>
          <a:p>
            <a:pPr marL="914400" lvl="1" indent="-457200" algn="just">
              <a:lnSpc>
                <a:spcPct val="150000"/>
              </a:lnSpc>
              <a:spcBef>
                <a:spcPct val="50000"/>
              </a:spcBef>
              <a:buFont typeface="Wingdings" panose="05000000000000000000" pitchFamily="2" charset="2"/>
              <a:buChar char="Ø"/>
            </a:pPr>
            <a:r>
              <a:rPr lang="en-US" altLang="zh-CN" sz="2000" dirty="0" smtClean="0">
                <a:latin typeface="Times New Roman" pitchFamily="18" charset="0"/>
              </a:rPr>
              <a:t>Windows</a:t>
            </a:r>
            <a:r>
              <a:rPr lang="zh-CN" altLang="en-US" sz="2000" dirty="0">
                <a:latin typeface="Times New Roman" pitchFamily="18" charset="0"/>
              </a:rPr>
              <a:t>系统中的路径名分割符为“</a:t>
            </a:r>
            <a:r>
              <a:rPr lang="en-US" altLang="zh-CN" sz="2000" dirty="0" smtClean="0">
                <a:latin typeface="Times New Roman" pitchFamily="18" charset="0"/>
              </a:rPr>
              <a:t>\</a:t>
            </a:r>
            <a:r>
              <a:rPr lang="zh-CN" altLang="en-US" sz="2000" dirty="0" smtClean="0">
                <a:latin typeface="Times New Roman" pitchFamily="18" charset="0"/>
              </a:rPr>
              <a:t>”</a:t>
            </a:r>
            <a:r>
              <a:rPr lang="en-US" altLang="zh-CN" sz="2000" dirty="0" smtClean="0">
                <a:latin typeface="Times New Roman" pitchFamily="18" charset="0"/>
              </a:rPr>
              <a:t> </a:t>
            </a:r>
            <a:r>
              <a:rPr lang="zh-CN" altLang="en-US" sz="2000" dirty="0">
                <a:latin typeface="Times New Roman" pitchFamily="18" charset="0"/>
              </a:rPr>
              <a:t>，而</a:t>
            </a:r>
            <a:r>
              <a:rPr lang="en-US" altLang="zh-CN" sz="2000" dirty="0">
                <a:latin typeface="Times New Roman" pitchFamily="18" charset="0"/>
              </a:rPr>
              <a:t>Linux</a:t>
            </a:r>
            <a:r>
              <a:rPr lang="zh-CN" altLang="en-US" sz="2000" dirty="0">
                <a:latin typeface="Times New Roman" pitchFamily="18" charset="0"/>
              </a:rPr>
              <a:t>系统中的路径名分割符则是“</a:t>
            </a:r>
            <a:r>
              <a:rPr lang="en-US" altLang="zh-CN" sz="2000" dirty="0" smtClean="0">
                <a:latin typeface="Times New Roman" pitchFamily="18" charset="0"/>
              </a:rPr>
              <a:t>/</a:t>
            </a:r>
            <a:r>
              <a:rPr lang="zh-CN" altLang="en-US" sz="2000" dirty="0" smtClean="0">
                <a:latin typeface="Times New Roman" pitchFamily="18" charset="0"/>
              </a:rPr>
              <a:t>”</a:t>
            </a:r>
            <a:endParaRPr lang="zh-CN" altLang="en-US" sz="2000" dirty="0">
              <a:latin typeface="Times New Roman" pitchFamily="18" charset="0"/>
            </a:endParaRPr>
          </a:p>
          <a:p>
            <a:pPr marL="457200" indent="-457200" algn="just">
              <a:lnSpc>
                <a:spcPct val="150000"/>
              </a:lnSpc>
              <a:spcBef>
                <a:spcPct val="50000"/>
              </a:spcBef>
              <a:buFont typeface="Wingdings" panose="05000000000000000000" pitchFamily="2" charset="2"/>
              <a:buChar char="l"/>
            </a:pPr>
            <a:r>
              <a:rPr lang="en-US" altLang="zh-CN" sz="2800" dirty="0" smtClean="0">
                <a:latin typeface="Times New Roman" pitchFamily="18" charset="0"/>
              </a:rPr>
              <a:t>Windows</a:t>
            </a:r>
            <a:r>
              <a:rPr lang="zh-CN" altLang="en-US" sz="2800" dirty="0" smtClean="0">
                <a:latin typeface="Times New Roman" pitchFamily="18" charset="0"/>
              </a:rPr>
              <a:t>下一般有多个磁盘分区，因此有多个根目录。而</a:t>
            </a:r>
            <a:r>
              <a:rPr lang="en-US" altLang="zh-CN" sz="2800" dirty="0">
                <a:latin typeface="Times New Roman" pitchFamily="18" charset="0"/>
              </a:rPr>
              <a:t>Linux</a:t>
            </a:r>
            <a:r>
              <a:rPr lang="zh-CN" altLang="en-US" sz="2800" dirty="0">
                <a:latin typeface="Times New Roman" pitchFamily="18" charset="0"/>
              </a:rPr>
              <a:t>下</a:t>
            </a:r>
            <a:r>
              <a:rPr lang="zh-CN" altLang="en-US" sz="2800" dirty="0" smtClean="0">
                <a:latin typeface="Times New Roman" pitchFamily="18" charset="0"/>
              </a:rPr>
              <a:t>只有一个根目录。</a:t>
            </a:r>
            <a:endParaRPr lang="en-US" altLang="zh-CN" sz="2800" dirty="0" smtClean="0">
              <a:latin typeface="Times New Roman" pitchFamily="18" charset="0"/>
            </a:endParaRPr>
          </a:p>
          <a:p>
            <a:pPr marL="457200" indent="-457200" algn="just">
              <a:spcBef>
                <a:spcPct val="50000"/>
              </a:spcBef>
              <a:buFont typeface="Wingdings" panose="05000000000000000000" pitchFamily="2" charset="2"/>
              <a:buChar char="l"/>
            </a:pPr>
            <a:r>
              <a:rPr lang="zh-CN" altLang="en-US" sz="2800" dirty="0">
                <a:latin typeface="Times New Roman" pitchFamily="18" charset="0"/>
              </a:rPr>
              <a:t> 每个子目录都包含两个特别的目录</a:t>
            </a:r>
            <a:r>
              <a:rPr lang="zh-CN" altLang="en-US" sz="2800" dirty="0" smtClean="0">
                <a:latin typeface="Times New Roman" pitchFamily="18" charset="0"/>
              </a:rPr>
              <a:t>项。</a:t>
            </a:r>
            <a:endParaRPr lang="zh-CN" altLang="en-US" sz="2800" dirty="0">
              <a:latin typeface="Times New Roman" pitchFamily="18" charset="0"/>
            </a:endParaRPr>
          </a:p>
          <a:p>
            <a:pPr marL="914400" lvl="1" indent="-457200" algn="just">
              <a:spcBef>
                <a:spcPct val="50000"/>
              </a:spcBef>
              <a:buFont typeface="Wingdings" panose="05000000000000000000" pitchFamily="2" charset="2"/>
              <a:buChar char="Ø"/>
            </a:pPr>
            <a:r>
              <a:rPr lang="zh-CN" altLang="en-US" sz="2800" dirty="0">
                <a:latin typeface="Times New Roman" pitchFamily="18" charset="0"/>
              </a:rPr>
              <a:t>    </a:t>
            </a:r>
            <a:r>
              <a:rPr lang="zh-CN" altLang="en-US" sz="2800" dirty="0" smtClean="0">
                <a:latin typeface="Times New Roman" pitchFamily="18" charset="0"/>
              </a:rPr>
              <a:t>第一</a:t>
            </a:r>
            <a:r>
              <a:rPr lang="zh-CN" altLang="en-US" sz="2800" dirty="0">
                <a:latin typeface="Times New Roman" pitchFamily="18" charset="0"/>
              </a:rPr>
              <a:t>项</a:t>
            </a:r>
            <a:r>
              <a:rPr lang="zh-CN" altLang="en-US" sz="2800" dirty="0" smtClean="0">
                <a:latin typeface="Times New Roman" pitchFamily="18" charset="0"/>
              </a:rPr>
              <a:t>为“</a:t>
            </a:r>
            <a:r>
              <a:rPr lang="en-US" altLang="zh-CN" sz="2800" dirty="0" smtClean="0">
                <a:latin typeface="Times New Roman" pitchFamily="18" charset="0"/>
              </a:rPr>
              <a:t>.</a:t>
            </a:r>
            <a:r>
              <a:rPr lang="zh-CN" altLang="en-US" sz="2800" dirty="0" smtClean="0">
                <a:latin typeface="Times New Roman" pitchFamily="18" charset="0"/>
              </a:rPr>
              <a:t>”，</a:t>
            </a:r>
            <a:r>
              <a:rPr lang="zh-CN" altLang="en-US" sz="2800" dirty="0">
                <a:latin typeface="Times New Roman" pitchFamily="18" charset="0"/>
              </a:rPr>
              <a:t>表示自己是一个子目录；</a:t>
            </a:r>
          </a:p>
          <a:p>
            <a:pPr marL="914400" lvl="1" indent="-457200" algn="just">
              <a:spcBef>
                <a:spcPct val="50000"/>
              </a:spcBef>
              <a:buFont typeface="Wingdings" panose="05000000000000000000" pitchFamily="2" charset="2"/>
              <a:buChar char="Ø"/>
            </a:pPr>
            <a:r>
              <a:rPr lang="zh-CN" altLang="en-US" sz="2800" dirty="0">
                <a:latin typeface="Times New Roman" pitchFamily="18" charset="0"/>
              </a:rPr>
              <a:t>    第二项</a:t>
            </a:r>
            <a:r>
              <a:rPr lang="zh-CN" altLang="en-US" sz="2800" dirty="0" smtClean="0">
                <a:latin typeface="Times New Roman" pitchFamily="18" charset="0"/>
              </a:rPr>
              <a:t>为“</a:t>
            </a:r>
            <a:r>
              <a:rPr lang="en-US" altLang="zh-CN" sz="2800" dirty="0" smtClean="0">
                <a:latin typeface="Times New Roman" pitchFamily="18" charset="0"/>
              </a:rPr>
              <a:t>..</a:t>
            </a:r>
            <a:r>
              <a:rPr lang="zh-CN" altLang="en-US" sz="2800" dirty="0" smtClean="0">
                <a:latin typeface="Times New Roman" pitchFamily="18" charset="0"/>
              </a:rPr>
              <a:t>”，</a:t>
            </a:r>
            <a:r>
              <a:rPr lang="zh-CN" altLang="en-US" sz="2800" dirty="0">
                <a:latin typeface="Times New Roman" pitchFamily="18" charset="0"/>
              </a:rPr>
              <a:t>表示该子目录的上一级目录</a:t>
            </a:r>
            <a:r>
              <a:rPr lang="zh-CN" altLang="en-US" sz="2800" dirty="0" smtClean="0">
                <a:latin typeface="Times New Roman" pitchFamily="18" charset="0"/>
              </a:rPr>
              <a:t>。</a:t>
            </a:r>
            <a:endParaRPr lang="zh-CN" altLang="en-US" sz="2800" dirty="0">
              <a:latin typeface="Times New Roman" pitchFamily="18" charset="0"/>
            </a:endParaRPr>
          </a:p>
        </p:txBody>
      </p:sp>
      <p:sp>
        <p:nvSpPr>
          <p:cNvPr id="2" name="灯片编号占位符 1"/>
          <p:cNvSpPr>
            <a:spLocks noGrp="1"/>
          </p:cNvSpPr>
          <p:nvPr>
            <p:ph type="sldNum" sz="quarter" idx="12"/>
          </p:nvPr>
        </p:nvSpPr>
        <p:spPr/>
        <p:txBody>
          <a:bodyPr/>
          <a:lstStyle/>
          <a:p>
            <a:fld id="{0BD87961-E39D-4DAC-BBE4-2A1C1340B983}" type="slidenum">
              <a:rPr lang="zh-CN" altLang="en-US" smtClean="0"/>
              <a:t>7</a:t>
            </a:fld>
            <a:endParaRPr lang="zh-CN" altLang="en-US"/>
          </a:p>
        </p:txBody>
      </p:sp>
    </p:spTree>
    <p:extLst>
      <p:ext uri="{BB962C8B-B14F-4D97-AF65-F5344CB8AC3E}">
        <p14:creationId xmlns:p14="http://schemas.microsoft.com/office/powerpoint/2010/main" val="23273380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60" name="Text Box 1060"/>
          <p:cNvSpPr txBox="1">
            <a:spLocks noChangeArrowheads="1"/>
          </p:cNvSpPr>
          <p:nvPr/>
        </p:nvSpPr>
        <p:spPr bwMode="auto">
          <a:xfrm>
            <a:off x="406400" y="304800"/>
            <a:ext cx="105664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50000"/>
              </a:spcBef>
            </a:pPr>
            <a:r>
              <a:rPr lang="zh-CN" altLang="en-US" sz="3600" b="1" dirty="0" smtClean="0">
                <a:latin typeface="Times New Roman" pitchFamily="18" charset="0"/>
              </a:rPr>
              <a:t>文件</a:t>
            </a:r>
            <a:r>
              <a:rPr lang="zh-CN" altLang="en-US" sz="3600" b="1" dirty="0">
                <a:latin typeface="Times New Roman" pitchFamily="18" charset="0"/>
              </a:rPr>
              <a:t>的路径名</a:t>
            </a:r>
            <a:r>
              <a:rPr lang="zh-CN" altLang="en-US" sz="3600" b="1" dirty="0">
                <a:solidFill>
                  <a:srgbClr val="006600"/>
                </a:solidFill>
                <a:effectLst>
                  <a:outerShdw blurRad="38100" dist="38100" dir="2700000" algn="tl">
                    <a:srgbClr val="C0C0C0"/>
                  </a:outerShdw>
                </a:effectLst>
                <a:latin typeface="Arial" pitchFamily="34" charset="0"/>
                <a:ea typeface="创艺简标宋" charset="-122"/>
              </a:rPr>
              <a:t> </a:t>
            </a:r>
          </a:p>
        </p:txBody>
      </p:sp>
      <p:sp>
        <p:nvSpPr>
          <p:cNvPr id="26661" name="Text Box 1061"/>
          <p:cNvSpPr txBox="1">
            <a:spLocks noChangeArrowheads="1"/>
          </p:cNvSpPr>
          <p:nvPr/>
        </p:nvSpPr>
        <p:spPr bwMode="auto">
          <a:xfrm>
            <a:off x="711200" y="990601"/>
            <a:ext cx="10929420" cy="4302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457200" indent="-457200" algn="just">
              <a:lnSpc>
                <a:spcPct val="130000"/>
              </a:lnSpc>
              <a:spcBef>
                <a:spcPct val="50000"/>
              </a:spcBef>
              <a:buFont typeface="Wingdings" panose="05000000000000000000" pitchFamily="2" charset="2"/>
              <a:buChar char="l"/>
            </a:pPr>
            <a:r>
              <a:rPr lang="zh-CN" altLang="en-US" sz="2400" dirty="0" smtClean="0">
                <a:latin typeface="Times New Roman" pitchFamily="18" charset="0"/>
              </a:rPr>
              <a:t>以</a:t>
            </a:r>
            <a:r>
              <a:rPr lang="en-US" altLang="zh-CN" sz="2400" dirty="0" smtClean="0">
                <a:latin typeface="Times New Roman" pitchFamily="18" charset="0"/>
              </a:rPr>
              <a:t>Windows</a:t>
            </a:r>
            <a:r>
              <a:rPr lang="zh-CN" altLang="en-US" sz="2400" dirty="0" smtClean="0">
                <a:latin typeface="Times New Roman" pitchFamily="18" charset="0"/>
              </a:rPr>
              <a:t>为例，当</a:t>
            </a:r>
            <a:r>
              <a:rPr lang="zh-CN" altLang="en-US" sz="2400" dirty="0">
                <a:latin typeface="Times New Roman" pitchFamily="18" charset="0"/>
              </a:rPr>
              <a:t>建立一个新文件或查找一个老文件时</a:t>
            </a:r>
            <a:r>
              <a:rPr lang="zh-CN" altLang="en-US" sz="2400" dirty="0" smtClean="0">
                <a:latin typeface="Times New Roman" pitchFamily="18" charset="0"/>
              </a:rPr>
              <a:t>，系统必须</a:t>
            </a:r>
            <a:r>
              <a:rPr lang="zh-CN" altLang="en-US" sz="2400" dirty="0">
                <a:latin typeface="Times New Roman" pitchFamily="18" charset="0"/>
              </a:rPr>
              <a:t>知道文件所在盘的</a:t>
            </a:r>
            <a:r>
              <a:rPr lang="zh-CN" altLang="en-US" sz="2400" dirty="0" smtClean="0">
                <a:latin typeface="Times New Roman" pitchFamily="18" charset="0"/>
              </a:rPr>
              <a:t>盘符，</a:t>
            </a:r>
            <a:r>
              <a:rPr lang="zh-CN" altLang="en-US" sz="2400" dirty="0">
                <a:latin typeface="Times New Roman" pitchFamily="18" charset="0"/>
              </a:rPr>
              <a:t>包含该文件的各级目录及文件名称，称其为文件的引用名。文件引用名是文件的唯一标识符，因此不能同时有两个引用名相同的文件。</a:t>
            </a:r>
          </a:p>
          <a:p>
            <a:pPr marL="457200" indent="-457200" algn="just">
              <a:lnSpc>
                <a:spcPct val="130000"/>
              </a:lnSpc>
              <a:spcBef>
                <a:spcPct val="50000"/>
              </a:spcBef>
              <a:buFont typeface="Wingdings" panose="05000000000000000000" pitchFamily="2" charset="2"/>
              <a:buChar char="l"/>
            </a:pPr>
            <a:r>
              <a:rPr lang="en-US" altLang="zh-CN" sz="2400" b="1" dirty="0" smtClean="0">
                <a:latin typeface="Times New Roman" pitchFamily="18" charset="0"/>
              </a:rPr>
              <a:t>Windows</a:t>
            </a:r>
            <a:r>
              <a:rPr lang="zh-CN" altLang="en-US" sz="2400" b="1" dirty="0" smtClean="0">
                <a:latin typeface="Times New Roman" pitchFamily="18" charset="0"/>
              </a:rPr>
              <a:t>中，文件</a:t>
            </a:r>
            <a:r>
              <a:rPr lang="zh-CN" altLang="en-US" sz="2400" b="1" dirty="0">
                <a:latin typeface="Times New Roman" pitchFamily="18" charset="0"/>
              </a:rPr>
              <a:t>引用名的完整格式</a:t>
            </a:r>
            <a:r>
              <a:rPr lang="zh-CN" altLang="en-US" sz="2400" b="1" dirty="0" smtClean="0">
                <a:latin typeface="Times New Roman" pitchFamily="18" charset="0"/>
              </a:rPr>
              <a:t>为“</a:t>
            </a:r>
            <a:r>
              <a:rPr lang="zh-CN" altLang="en-US" sz="2400" b="1" dirty="0">
                <a:latin typeface="Times New Roman" pitchFamily="18" charset="0"/>
                <a:ea typeface="华康简宋" charset="-122"/>
              </a:rPr>
              <a:t>盘符</a:t>
            </a:r>
            <a:r>
              <a:rPr lang="en-US" altLang="zh-CN" sz="2400" b="1" dirty="0"/>
              <a:t>:\</a:t>
            </a:r>
            <a:r>
              <a:rPr lang="zh-CN" altLang="en-US" sz="2400" b="1" dirty="0">
                <a:latin typeface="Times New Roman" pitchFamily="18" charset="0"/>
                <a:ea typeface="华康简宋" charset="-122"/>
              </a:rPr>
              <a:t>路径名</a:t>
            </a:r>
            <a:r>
              <a:rPr lang="en-US" altLang="zh-CN" sz="2400" b="1" dirty="0">
                <a:latin typeface="Times New Roman" pitchFamily="18" charset="0"/>
                <a:ea typeface="华康简宋" charset="-122"/>
              </a:rPr>
              <a:t>\</a:t>
            </a:r>
            <a:r>
              <a:rPr lang="zh-CN" altLang="en-US" sz="2400" b="1" dirty="0">
                <a:latin typeface="Times New Roman" pitchFamily="18" charset="0"/>
                <a:ea typeface="华康简宋" charset="-122"/>
              </a:rPr>
              <a:t>文件名</a:t>
            </a:r>
            <a:r>
              <a:rPr lang="en-US" altLang="zh-CN" sz="2400" b="1" dirty="0">
                <a:latin typeface="Times New Roman" pitchFamily="18" charset="0"/>
                <a:ea typeface="华康简宋" charset="-122"/>
              </a:rPr>
              <a:t>.</a:t>
            </a:r>
            <a:r>
              <a:rPr lang="zh-CN" altLang="en-US" sz="2400" b="1" dirty="0">
                <a:latin typeface="Times New Roman" pitchFamily="18" charset="0"/>
                <a:ea typeface="华康简宋" charset="-122"/>
              </a:rPr>
              <a:t>扩展名</a:t>
            </a:r>
            <a:r>
              <a:rPr lang="zh-CN" altLang="en-US" sz="2400" b="1" dirty="0" smtClean="0">
                <a:latin typeface="Times New Roman" pitchFamily="18" charset="0"/>
              </a:rPr>
              <a:t>”</a:t>
            </a:r>
            <a:r>
              <a:rPr lang="zh-CN" altLang="en-US" sz="2400" b="1" dirty="0" smtClean="0">
                <a:latin typeface="Times New Roman" pitchFamily="18" charset="0"/>
                <a:ea typeface="华康简宋" charset="-122"/>
              </a:rPr>
              <a:t>，例如：</a:t>
            </a:r>
            <a:r>
              <a:rPr lang="en-US" altLang="zh-CN" sz="2400" b="1" dirty="0" smtClean="0">
                <a:latin typeface="Times New Roman" pitchFamily="18" charset="0"/>
                <a:ea typeface="华康简宋" charset="-122"/>
              </a:rPr>
              <a:t>D:\user\march\record.docx</a:t>
            </a:r>
            <a:r>
              <a:rPr lang="zh-CN" altLang="en-US" sz="2400" b="1" dirty="0" smtClean="0">
                <a:latin typeface="Times New Roman" pitchFamily="18" charset="0"/>
                <a:ea typeface="华康简宋" charset="-122"/>
              </a:rPr>
              <a:t>。</a:t>
            </a:r>
            <a:r>
              <a:rPr lang="zh-CN" altLang="en-US" sz="2400" dirty="0" smtClean="0">
                <a:latin typeface="Times New Roman" pitchFamily="18" charset="0"/>
              </a:rPr>
              <a:t>其中</a:t>
            </a:r>
            <a:r>
              <a:rPr lang="zh-CN" altLang="en-US" sz="2400" dirty="0">
                <a:latin typeface="Times New Roman" pitchFamily="18" charset="0"/>
              </a:rPr>
              <a:t>，盘符</a:t>
            </a:r>
            <a:r>
              <a:rPr lang="zh-CN" altLang="en-US" sz="2400" dirty="0" smtClean="0">
                <a:latin typeface="Times New Roman" pitchFamily="18" charset="0"/>
              </a:rPr>
              <a:t>为</a:t>
            </a:r>
            <a:r>
              <a:rPr lang="en-US" altLang="zh-CN" sz="2400" dirty="0" smtClean="0">
                <a:latin typeface="Times New Roman" pitchFamily="18" charset="0"/>
              </a:rPr>
              <a:t>C</a:t>
            </a:r>
            <a:r>
              <a:rPr lang="zh-CN" altLang="en-US" sz="2400" dirty="0" smtClean="0">
                <a:latin typeface="Times New Roman" pitchFamily="18" charset="0"/>
              </a:rPr>
              <a:t>、</a:t>
            </a:r>
            <a:r>
              <a:rPr lang="en-US" altLang="zh-CN" sz="2400" dirty="0" smtClean="0">
                <a:latin typeface="Times New Roman" pitchFamily="18" charset="0"/>
              </a:rPr>
              <a:t>D</a:t>
            </a:r>
            <a:r>
              <a:rPr lang="zh-CN" altLang="en-US" sz="2400" dirty="0" smtClean="0">
                <a:latin typeface="Times New Roman" pitchFamily="18" charset="0"/>
              </a:rPr>
              <a:t>、</a:t>
            </a:r>
            <a:r>
              <a:rPr lang="en-US" altLang="zh-CN" sz="2400" dirty="0" smtClean="0">
                <a:latin typeface="Times New Roman" pitchFamily="18" charset="0"/>
              </a:rPr>
              <a:t>E</a:t>
            </a:r>
            <a:r>
              <a:rPr lang="zh-CN" altLang="en-US" sz="2400" dirty="0" smtClean="0">
                <a:latin typeface="Times New Roman" pitchFamily="18" charset="0"/>
              </a:rPr>
              <a:t>等。而路径名又分为绝对路径名和相对路径名。</a:t>
            </a:r>
            <a:endParaRPr lang="en-US" altLang="zh-CN" sz="2400" dirty="0" smtClean="0">
              <a:latin typeface="Times New Roman" pitchFamily="18" charset="0"/>
            </a:endParaRPr>
          </a:p>
          <a:p>
            <a:pPr marL="457200" indent="-457200">
              <a:lnSpc>
                <a:spcPct val="130000"/>
              </a:lnSpc>
              <a:spcBef>
                <a:spcPct val="50000"/>
              </a:spcBef>
              <a:buFont typeface="Wingdings" panose="05000000000000000000" pitchFamily="2" charset="2"/>
              <a:buChar char="l"/>
            </a:pPr>
            <a:r>
              <a:rPr lang="en-US" altLang="zh-CN" sz="2400" dirty="0" smtClean="0">
                <a:latin typeface="Times New Roman" pitchFamily="18" charset="0"/>
              </a:rPr>
              <a:t>Linux</a:t>
            </a:r>
            <a:r>
              <a:rPr lang="zh-CN" altLang="en-US" sz="2400" dirty="0">
                <a:latin typeface="Times New Roman" pitchFamily="18" charset="0"/>
              </a:rPr>
              <a:t>中没有分盘的概念，绝对路径是从唯一的根目录下开始</a:t>
            </a:r>
            <a:r>
              <a:rPr lang="zh-CN" altLang="en-US" sz="2400" dirty="0" smtClean="0">
                <a:latin typeface="Times New Roman" pitchFamily="18" charset="0"/>
              </a:rPr>
              <a:t>的，如</a:t>
            </a:r>
            <a:r>
              <a:rPr lang="en-US" altLang="zh-CN" sz="2400" dirty="0" smtClean="0">
                <a:latin typeface="Times New Roman" pitchFamily="18" charset="0"/>
              </a:rPr>
              <a:t>/user/bin/notepad.exe</a:t>
            </a:r>
            <a:endParaRPr lang="zh-CN" altLang="en-US" sz="2400" dirty="0">
              <a:latin typeface="Times New Roman" pitchFamily="18" charset="0"/>
            </a:endParaRPr>
          </a:p>
        </p:txBody>
      </p:sp>
      <p:sp>
        <p:nvSpPr>
          <p:cNvPr id="2" name="灯片编号占位符 1"/>
          <p:cNvSpPr>
            <a:spLocks noGrp="1"/>
          </p:cNvSpPr>
          <p:nvPr>
            <p:ph type="sldNum" sz="quarter" idx="12"/>
          </p:nvPr>
        </p:nvSpPr>
        <p:spPr/>
        <p:txBody>
          <a:bodyPr/>
          <a:lstStyle/>
          <a:p>
            <a:fld id="{0BD87961-E39D-4DAC-BBE4-2A1C1340B983}" type="slidenum">
              <a:rPr lang="zh-CN" altLang="en-US" smtClean="0"/>
              <a:t>8</a:t>
            </a:fld>
            <a:endParaRPr lang="zh-CN" altLang="en-US"/>
          </a:p>
        </p:txBody>
      </p:sp>
    </p:spTree>
    <p:extLst>
      <p:ext uri="{BB962C8B-B14F-4D97-AF65-F5344CB8AC3E}">
        <p14:creationId xmlns:p14="http://schemas.microsoft.com/office/powerpoint/2010/main" val="13446484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0" name="Text Box 42"/>
          <p:cNvSpPr txBox="1">
            <a:spLocks noChangeArrowheads="1"/>
          </p:cNvSpPr>
          <p:nvPr/>
        </p:nvSpPr>
        <p:spPr bwMode="auto">
          <a:xfrm>
            <a:off x="711199" y="304800"/>
            <a:ext cx="11001339" cy="6961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3200" b="1" dirty="0" smtClean="0">
                <a:latin typeface="Times New Roman" pitchFamily="18" charset="0"/>
                <a:ea typeface="黑体" pitchFamily="49" charset="-122"/>
              </a:rPr>
              <a:t>绝对路径和相对路径</a:t>
            </a:r>
            <a:endParaRPr lang="en-US" altLang="zh-CN" sz="3200" b="1" dirty="0" smtClean="0">
              <a:latin typeface="Times New Roman" pitchFamily="18" charset="0"/>
              <a:ea typeface="黑体" pitchFamily="49" charset="-122"/>
            </a:endParaRPr>
          </a:p>
          <a:p>
            <a:pPr marL="457200" indent="-457200">
              <a:lnSpc>
                <a:spcPct val="120000"/>
              </a:lnSpc>
              <a:spcBef>
                <a:spcPct val="50000"/>
              </a:spcBef>
              <a:buFont typeface="Wingdings" panose="05000000000000000000" pitchFamily="2" charset="2"/>
              <a:buChar char="l"/>
            </a:pPr>
            <a:r>
              <a:rPr lang="zh-CN" altLang="en-US" sz="2800" b="1" dirty="0" smtClean="0">
                <a:latin typeface="Times New Roman" pitchFamily="18" charset="0"/>
                <a:ea typeface="黑体" pitchFamily="49" charset="-122"/>
              </a:rPr>
              <a:t>以</a:t>
            </a:r>
            <a:r>
              <a:rPr lang="en-US" altLang="zh-CN" sz="2800" b="1" dirty="0" smtClean="0">
                <a:latin typeface="Times New Roman" pitchFamily="18" charset="0"/>
                <a:ea typeface="黑体" pitchFamily="49" charset="-122"/>
              </a:rPr>
              <a:t>Windows</a:t>
            </a:r>
            <a:r>
              <a:rPr lang="zh-CN" altLang="en-US" sz="2800" b="1" dirty="0" smtClean="0">
                <a:latin typeface="Times New Roman" pitchFamily="18" charset="0"/>
                <a:ea typeface="黑体" pitchFamily="49" charset="-122"/>
              </a:rPr>
              <a:t>为例，绝对</a:t>
            </a:r>
            <a:r>
              <a:rPr lang="zh-CN" altLang="en-US" sz="2800" b="1" dirty="0">
                <a:latin typeface="Times New Roman" pitchFamily="18" charset="0"/>
                <a:ea typeface="黑体" pitchFamily="49" charset="-122"/>
              </a:rPr>
              <a:t>路径名</a:t>
            </a:r>
            <a:r>
              <a:rPr lang="zh-CN" altLang="en-US" sz="2800" dirty="0">
                <a:latin typeface="Times New Roman" pitchFamily="18" charset="0"/>
              </a:rPr>
              <a:t>由从树型目录的根结点开始，直到该文件为止的各级目录加上分隔符“</a:t>
            </a:r>
            <a:r>
              <a:rPr lang="en-US" altLang="zh-CN" sz="2800" dirty="0" smtClean="0">
                <a:latin typeface="Times New Roman" pitchFamily="18" charset="0"/>
              </a:rPr>
              <a:t>\</a:t>
            </a:r>
            <a:r>
              <a:rPr lang="zh-CN" altLang="en-US" sz="2800" dirty="0" smtClean="0">
                <a:latin typeface="Times New Roman" pitchFamily="18" charset="0"/>
              </a:rPr>
              <a:t>”所</a:t>
            </a:r>
            <a:r>
              <a:rPr lang="zh-CN" altLang="en-US" sz="2800" dirty="0">
                <a:latin typeface="Times New Roman" pitchFamily="18" charset="0"/>
              </a:rPr>
              <a:t>组成。</a:t>
            </a:r>
          </a:p>
          <a:p>
            <a:pPr>
              <a:lnSpc>
                <a:spcPct val="120000"/>
              </a:lnSpc>
              <a:spcBef>
                <a:spcPct val="50000"/>
              </a:spcBef>
            </a:pPr>
            <a:r>
              <a:rPr lang="en-US" altLang="zh-CN" sz="2800" dirty="0" smtClean="0">
                <a:latin typeface="Times New Roman" pitchFamily="18" charset="0"/>
              </a:rPr>
              <a:t>	</a:t>
            </a:r>
            <a:r>
              <a:rPr lang="zh-CN" altLang="en-US" sz="2800" dirty="0" smtClean="0">
                <a:latin typeface="Times New Roman" pitchFamily="18" charset="0"/>
              </a:rPr>
              <a:t>例如</a:t>
            </a:r>
            <a:r>
              <a:rPr lang="zh-CN" altLang="en-US" sz="2800" dirty="0" smtClean="0"/>
              <a:t>：</a:t>
            </a:r>
            <a:r>
              <a:rPr lang="en-US" altLang="zh-CN" sz="2800" dirty="0" smtClean="0">
                <a:latin typeface="Times New Roman" pitchFamily="18" charset="0"/>
              </a:rPr>
              <a:t>C</a:t>
            </a:r>
            <a:r>
              <a:rPr lang="en-US" altLang="zh-CN" sz="2800" dirty="0">
                <a:latin typeface="Times New Roman" pitchFamily="18" charset="0"/>
              </a:rPr>
              <a:t>:\</a:t>
            </a:r>
            <a:r>
              <a:rPr lang="en-US" altLang="zh-CN" sz="2800" dirty="0" smtClean="0">
                <a:latin typeface="Times New Roman" pitchFamily="18" charset="0"/>
              </a:rPr>
              <a:t>SYSTEM\PCTOOLS.EXE</a:t>
            </a:r>
          </a:p>
          <a:p>
            <a:pPr marL="457200" indent="-457200">
              <a:lnSpc>
                <a:spcPct val="120000"/>
              </a:lnSpc>
              <a:spcBef>
                <a:spcPct val="50000"/>
              </a:spcBef>
              <a:buFont typeface="Wingdings" panose="05000000000000000000" pitchFamily="2" charset="2"/>
              <a:buChar char="l"/>
            </a:pPr>
            <a:r>
              <a:rPr lang="zh-CN" altLang="en-US" sz="2800" b="1" dirty="0" smtClean="0">
                <a:latin typeface="Times New Roman" pitchFamily="18" charset="0"/>
                <a:ea typeface="黑体" pitchFamily="49" charset="-122"/>
              </a:rPr>
              <a:t>绝对</a:t>
            </a:r>
            <a:r>
              <a:rPr lang="zh-CN" altLang="en-US" sz="2800" dirty="0">
                <a:latin typeface="Times New Roman" pitchFamily="18" charset="0"/>
              </a:rPr>
              <a:t>路径名必须</a:t>
            </a:r>
            <a:r>
              <a:rPr lang="zh-CN" altLang="en-US" sz="2800" dirty="0" smtClean="0">
                <a:latin typeface="Times New Roman" pitchFamily="18" charset="0"/>
              </a:rPr>
              <a:t>以“</a:t>
            </a:r>
            <a:r>
              <a:rPr lang="en-US" altLang="zh-CN" sz="2800" dirty="0" smtClean="0">
                <a:latin typeface="Times New Roman" pitchFamily="18" charset="0"/>
              </a:rPr>
              <a:t>\</a:t>
            </a:r>
            <a:r>
              <a:rPr lang="zh-CN" altLang="en-US" sz="2800" dirty="0" smtClean="0">
                <a:latin typeface="Times New Roman" pitchFamily="18" charset="0"/>
              </a:rPr>
              <a:t>”开始</a:t>
            </a:r>
            <a:r>
              <a:rPr lang="zh-CN" altLang="en-US" sz="2800" dirty="0">
                <a:latin typeface="Times New Roman" pitchFamily="18" charset="0"/>
              </a:rPr>
              <a:t>，以代表根目录</a:t>
            </a:r>
            <a:r>
              <a:rPr lang="zh-CN" altLang="en-US" sz="2800" dirty="0" smtClean="0">
                <a:latin typeface="Times New Roman" pitchFamily="18" charset="0"/>
              </a:rPr>
              <a:t>。而</a:t>
            </a:r>
            <a:r>
              <a:rPr lang="zh-CN" altLang="en-US" sz="2800" b="1" dirty="0" smtClean="0">
                <a:latin typeface="Times New Roman" pitchFamily="18" charset="0"/>
                <a:ea typeface="黑体" pitchFamily="49" charset="-122"/>
              </a:rPr>
              <a:t>相对</a:t>
            </a:r>
            <a:r>
              <a:rPr lang="zh-CN" altLang="en-US" sz="2800" b="1" dirty="0">
                <a:latin typeface="Times New Roman" pitchFamily="18" charset="0"/>
                <a:ea typeface="黑体" pitchFamily="49" charset="-122"/>
              </a:rPr>
              <a:t>路径名</a:t>
            </a:r>
            <a:r>
              <a:rPr lang="zh-CN" altLang="en-US" sz="2800" dirty="0">
                <a:latin typeface="Times New Roman" pitchFamily="18" charset="0"/>
              </a:rPr>
              <a:t>由从当前目录的下一层目录开始，直到该文件为止的各级子目录加上</a:t>
            </a:r>
            <a:r>
              <a:rPr lang="zh-CN" altLang="en-US" sz="2800" dirty="0" smtClean="0">
                <a:latin typeface="Times New Roman" pitchFamily="18" charset="0"/>
              </a:rPr>
              <a:t>分隔符“</a:t>
            </a:r>
            <a:r>
              <a:rPr lang="en-US" altLang="zh-CN" sz="2800" dirty="0" smtClean="0">
                <a:latin typeface="Times New Roman" pitchFamily="18" charset="0"/>
              </a:rPr>
              <a:t>\</a:t>
            </a:r>
            <a:r>
              <a:rPr lang="zh-CN" altLang="en-US" sz="2800" dirty="0" smtClean="0">
                <a:latin typeface="Times New Roman" pitchFamily="18" charset="0"/>
              </a:rPr>
              <a:t>”所</a:t>
            </a:r>
            <a:r>
              <a:rPr lang="zh-CN" altLang="en-US" sz="2800" dirty="0">
                <a:latin typeface="Times New Roman" pitchFamily="18" charset="0"/>
              </a:rPr>
              <a:t>组成</a:t>
            </a:r>
            <a:r>
              <a:rPr lang="zh-CN" altLang="en-US" sz="2800" dirty="0" smtClean="0">
                <a:latin typeface="Times New Roman" pitchFamily="18" charset="0"/>
              </a:rPr>
              <a:t>。</a:t>
            </a:r>
            <a:r>
              <a:rPr lang="zh-CN" altLang="en-US" sz="2800" b="1" dirty="0" smtClean="0">
                <a:latin typeface="Times New Roman" pitchFamily="18" charset="0"/>
                <a:ea typeface="黑体" pitchFamily="49" charset="-122"/>
              </a:rPr>
              <a:t>相对</a:t>
            </a:r>
            <a:r>
              <a:rPr lang="zh-CN" altLang="en-US" sz="2800" dirty="0">
                <a:latin typeface="Times New Roman" pitchFamily="18" charset="0"/>
              </a:rPr>
              <a:t>路径名不能</a:t>
            </a:r>
            <a:r>
              <a:rPr lang="zh-CN" altLang="en-US" sz="2800" dirty="0" smtClean="0">
                <a:latin typeface="Times New Roman" pitchFamily="18" charset="0"/>
              </a:rPr>
              <a:t>以“</a:t>
            </a:r>
            <a:r>
              <a:rPr lang="en-US" altLang="zh-CN" sz="2800" dirty="0" smtClean="0">
                <a:latin typeface="Times New Roman" pitchFamily="18" charset="0"/>
              </a:rPr>
              <a:t>\</a:t>
            </a:r>
            <a:r>
              <a:rPr lang="zh-CN" altLang="en-US" sz="2800" dirty="0" smtClean="0">
                <a:latin typeface="Times New Roman" pitchFamily="18" charset="0"/>
              </a:rPr>
              <a:t>”开始。例如当前目录是</a:t>
            </a:r>
            <a:r>
              <a:rPr lang="en-US" altLang="zh-CN" sz="2800" dirty="0" smtClean="0">
                <a:latin typeface="Times New Roman" pitchFamily="18" charset="0"/>
              </a:rPr>
              <a:t>D:\user</a:t>
            </a:r>
            <a:r>
              <a:rPr lang="zh-CN" altLang="en-US" sz="2800" dirty="0" smtClean="0">
                <a:latin typeface="Times New Roman" pitchFamily="18" charset="0"/>
              </a:rPr>
              <a:t>，用访问该目录下的</a:t>
            </a:r>
            <a:r>
              <a:rPr lang="en-US" altLang="zh-CN" sz="2800" dirty="0" smtClean="0">
                <a:latin typeface="Times New Roman" pitchFamily="18" charset="0"/>
              </a:rPr>
              <a:t>march</a:t>
            </a:r>
            <a:r>
              <a:rPr lang="zh-CN" altLang="en-US" sz="2800" dirty="0" smtClean="0">
                <a:latin typeface="Times New Roman" pitchFamily="18" charset="0"/>
              </a:rPr>
              <a:t>子目录中的</a:t>
            </a:r>
            <a:r>
              <a:rPr lang="en-US" altLang="zh-CN" sz="2800" dirty="0" smtClean="0">
                <a:latin typeface="Times New Roman" pitchFamily="18" charset="0"/>
              </a:rPr>
              <a:t>record.docx</a:t>
            </a:r>
            <a:r>
              <a:rPr lang="zh-CN" altLang="en-US" sz="2800" dirty="0" smtClean="0">
                <a:latin typeface="Times New Roman" pitchFamily="18" charset="0"/>
              </a:rPr>
              <a:t>文件，可使用相对路径：</a:t>
            </a:r>
            <a:r>
              <a:rPr lang="en-US" altLang="zh-CN" sz="2800" dirty="0" smtClean="0">
                <a:latin typeface="Times New Roman" pitchFamily="18" charset="0"/>
              </a:rPr>
              <a:t>march\record.docx</a:t>
            </a:r>
          </a:p>
          <a:p>
            <a:pPr marL="457200" indent="-457200">
              <a:lnSpc>
                <a:spcPct val="120000"/>
              </a:lnSpc>
              <a:spcBef>
                <a:spcPct val="50000"/>
              </a:spcBef>
              <a:buFont typeface="Wingdings" panose="05000000000000000000" pitchFamily="2" charset="2"/>
              <a:buChar char="l"/>
            </a:pPr>
            <a:r>
              <a:rPr lang="en-US" altLang="zh-CN" sz="2800" dirty="0" smtClean="0">
                <a:latin typeface="Times New Roman" pitchFamily="18" charset="0"/>
              </a:rPr>
              <a:t>Linux</a:t>
            </a:r>
            <a:r>
              <a:rPr lang="zh-CN" altLang="en-US" sz="2800" dirty="0" smtClean="0">
                <a:latin typeface="Times New Roman" pitchFamily="18" charset="0"/>
              </a:rPr>
              <a:t>和</a:t>
            </a:r>
            <a:r>
              <a:rPr lang="en-US" altLang="zh-CN" sz="2800" dirty="0" smtClean="0">
                <a:latin typeface="Times New Roman" pitchFamily="18" charset="0"/>
              </a:rPr>
              <a:t>Windows</a:t>
            </a:r>
            <a:r>
              <a:rPr lang="zh-CN" altLang="en-US" sz="2800" dirty="0" smtClean="0">
                <a:latin typeface="Times New Roman" pitchFamily="18" charset="0"/>
              </a:rPr>
              <a:t>类似。</a:t>
            </a:r>
            <a:endParaRPr lang="en-US" altLang="zh-CN" sz="2800" dirty="0" smtClean="0">
              <a:latin typeface="Times New Roman" pitchFamily="18" charset="0"/>
            </a:endParaRPr>
          </a:p>
          <a:p>
            <a:pPr>
              <a:spcBef>
                <a:spcPct val="50000"/>
              </a:spcBef>
            </a:pPr>
            <a:r>
              <a:rPr lang="en-US" altLang="zh-CN" sz="2800" dirty="0">
                <a:latin typeface="Times New Roman" pitchFamily="18" charset="0"/>
              </a:rPr>
              <a:t>	</a:t>
            </a:r>
            <a:endParaRPr lang="zh-CN" altLang="en-US" sz="2800" dirty="0">
              <a:latin typeface="Times New Roman" pitchFamily="18" charset="0"/>
            </a:endParaRPr>
          </a:p>
        </p:txBody>
      </p:sp>
      <p:sp>
        <p:nvSpPr>
          <p:cNvPr id="2" name="灯片编号占位符 1"/>
          <p:cNvSpPr>
            <a:spLocks noGrp="1"/>
          </p:cNvSpPr>
          <p:nvPr>
            <p:ph type="sldNum" sz="quarter" idx="12"/>
          </p:nvPr>
        </p:nvSpPr>
        <p:spPr/>
        <p:txBody>
          <a:bodyPr/>
          <a:lstStyle/>
          <a:p>
            <a:fld id="{0BD87961-E39D-4DAC-BBE4-2A1C1340B983}" type="slidenum">
              <a:rPr lang="zh-CN" altLang="en-US" smtClean="0"/>
              <a:t>9</a:t>
            </a:fld>
            <a:endParaRPr lang="zh-CN" altLang="en-US"/>
          </a:p>
        </p:txBody>
      </p:sp>
    </p:spTree>
    <p:extLst>
      <p:ext uri="{BB962C8B-B14F-4D97-AF65-F5344CB8AC3E}">
        <p14:creationId xmlns:p14="http://schemas.microsoft.com/office/powerpoint/2010/main" val="24125121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0" name="Text Box 42"/>
          <p:cNvSpPr txBox="1">
            <a:spLocks noChangeArrowheads="1"/>
          </p:cNvSpPr>
          <p:nvPr/>
        </p:nvSpPr>
        <p:spPr bwMode="auto">
          <a:xfrm>
            <a:off x="711199" y="304800"/>
            <a:ext cx="1100133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3200" b="1" dirty="0" smtClean="0">
                <a:latin typeface="Times New Roman" pitchFamily="18" charset="0"/>
                <a:ea typeface="黑体" pitchFamily="49" charset="-122"/>
              </a:rPr>
              <a:t>常见文件操作命令</a:t>
            </a:r>
            <a:endParaRPr lang="zh-CN" altLang="en-US" sz="2800" dirty="0">
              <a:latin typeface="Times New Roman" pitchFamily="18"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3731914807"/>
              </p:ext>
            </p:extLst>
          </p:nvPr>
        </p:nvGraphicFramePr>
        <p:xfrm>
          <a:off x="413239" y="1081457"/>
          <a:ext cx="10647483" cy="4276965"/>
        </p:xfrm>
        <a:graphic>
          <a:graphicData uri="http://schemas.openxmlformats.org/drawingml/2006/table">
            <a:tbl>
              <a:tblPr firstRow="1" bandRow="1">
                <a:tableStyleId>{5C22544A-7EE6-4342-B048-85BDC9FD1C3A}</a:tableStyleId>
              </a:tblPr>
              <a:tblGrid>
                <a:gridCol w="3549161">
                  <a:extLst>
                    <a:ext uri="{9D8B030D-6E8A-4147-A177-3AD203B41FA5}">
                      <a16:colId xmlns:a16="http://schemas.microsoft.com/office/drawing/2014/main" val="20000"/>
                    </a:ext>
                  </a:extLst>
                </a:gridCol>
                <a:gridCol w="3549161">
                  <a:extLst>
                    <a:ext uri="{9D8B030D-6E8A-4147-A177-3AD203B41FA5}">
                      <a16:colId xmlns:a16="http://schemas.microsoft.com/office/drawing/2014/main" val="20001"/>
                    </a:ext>
                  </a:extLst>
                </a:gridCol>
                <a:gridCol w="3549161">
                  <a:extLst>
                    <a:ext uri="{9D8B030D-6E8A-4147-A177-3AD203B41FA5}">
                      <a16:colId xmlns:a16="http://schemas.microsoft.com/office/drawing/2014/main" val="20002"/>
                    </a:ext>
                  </a:extLst>
                </a:gridCol>
              </a:tblGrid>
              <a:tr h="388815">
                <a:tc>
                  <a:txBody>
                    <a:bodyPr/>
                    <a:lstStyle/>
                    <a:p>
                      <a:pPr algn="ctr"/>
                      <a:r>
                        <a:rPr lang="zh-CN" altLang="en-US" dirty="0" smtClean="0"/>
                        <a:t>功能</a:t>
                      </a:r>
                      <a:endParaRPr lang="zh-CN" altLang="en-US" dirty="0"/>
                    </a:p>
                  </a:txBody>
                  <a:tcPr/>
                </a:tc>
                <a:tc>
                  <a:txBody>
                    <a:bodyPr/>
                    <a:lstStyle/>
                    <a:p>
                      <a:pPr algn="ctr"/>
                      <a:r>
                        <a:rPr lang="en-US" altLang="zh-CN" dirty="0" smtClean="0"/>
                        <a:t>Windows</a:t>
                      </a:r>
                      <a:endParaRPr lang="zh-CN" altLang="en-US" dirty="0"/>
                    </a:p>
                  </a:txBody>
                  <a:tcPr/>
                </a:tc>
                <a:tc>
                  <a:txBody>
                    <a:bodyPr/>
                    <a:lstStyle/>
                    <a:p>
                      <a:pPr algn="ctr"/>
                      <a:r>
                        <a:rPr lang="en-US" altLang="zh-CN" dirty="0" smtClean="0"/>
                        <a:t>Linux</a:t>
                      </a:r>
                      <a:endParaRPr lang="zh-CN" altLang="en-US" dirty="0"/>
                    </a:p>
                  </a:txBody>
                  <a:tcPr/>
                </a:tc>
                <a:extLst>
                  <a:ext uri="{0D108BD9-81ED-4DB2-BD59-A6C34878D82A}">
                    <a16:rowId xmlns:a16="http://schemas.microsoft.com/office/drawing/2014/main" val="10000"/>
                  </a:ext>
                </a:extLst>
              </a:tr>
              <a:tr h="388815">
                <a:tc>
                  <a:txBody>
                    <a:bodyPr/>
                    <a:lstStyle/>
                    <a:p>
                      <a:pPr algn="ctr"/>
                      <a:r>
                        <a:rPr lang="zh-CN" altLang="en-US" dirty="0" smtClean="0"/>
                        <a:t>显示文件及文件夹</a:t>
                      </a:r>
                      <a:endParaRPr lang="zh-CN" altLang="en-US" dirty="0"/>
                    </a:p>
                  </a:txBody>
                  <a:tcPr/>
                </a:tc>
                <a:tc>
                  <a:txBody>
                    <a:bodyPr/>
                    <a:lstStyle/>
                    <a:p>
                      <a:pPr algn="ctr"/>
                      <a:r>
                        <a:rPr lang="en-US" altLang="zh-CN" dirty="0" err="1" smtClean="0"/>
                        <a:t>dir</a:t>
                      </a:r>
                      <a:endParaRPr lang="zh-CN" altLang="en-US" dirty="0"/>
                    </a:p>
                  </a:txBody>
                  <a:tcPr/>
                </a:tc>
                <a:tc>
                  <a:txBody>
                    <a:bodyPr/>
                    <a:lstStyle/>
                    <a:p>
                      <a:pPr algn="ctr"/>
                      <a:r>
                        <a:rPr lang="en-US" altLang="zh-CN" dirty="0" smtClean="0"/>
                        <a:t>ls</a:t>
                      </a:r>
                      <a:endParaRPr lang="zh-CN" altLang="en-US" dirty="0"/>
                    </a:p>
                  </a:txBody>
                  <a:tcPr/>
                </a:tc>
                <a:extLst>
                  <a:ext uri="{0D108BD9-81ED-4DB2-BD59-A6C34878D82A}">
                    <a16:rowId xmlns:a16="http://schemas.microsoft.com/office/drawing/2014/main" val="10001"/>
                  </a:ext>
                </a:extLst>
              </a:tr>
              <a:tr h="388815">
                <a:tc>
                  <a:txBody>
                    <a:bodyPr/>
                    <a:lstStyle/>
                    <a:p>
                      <a:pPr algn="ctr"/>
                      <a:r>
                        <a:rPr lang="zh-CN" altLang="en-US" dirty="0" smtClean="0"/>
                        <a:t>显示当前目录</a:t>
                      </a:r>
                      <a:endParaRPr lang="zh-CN" altLang="en-US" dirty="0"/>
                    </a:p>
                  </a:txBody>
                  <a:tcPr/>
                </a:tc>
                <a:tc>
                  <a:txBody>
                    <a:bodyPr/>
                    <a:lstStyle/>
                    <a:p>
                      <a:pPr algn="ctr"/>
                      <a:r>
                        <a:rPr lang="en-US" altLang="zh-CN" dirty="0" err="1" smtClean="0"/>
                        <a:t>dir</a:t>
                      </a:r>
                      <a:endParaRPr lang="zh-CN" altLang="en-US" dirty="0"/>
                    </a:p>
                  </a:txBody>
                  <a:tcPr/>
                </a:tc>
                <a:tc>
                  <a:txBody>
                    <a:bodyPr/>
                    <a:lstStyle/>
                    <a:p>
                      <a:pPr algn="ctr"/>
                      <a:r>
                        <a:rPr lang="en-US" altLang="zh-CN" dirty="0" err="1" smtClean="0"/>
                        <a:t>pwd</a:t>
                      </a:r>
                      <a:endParaRPr lang="zh-CN" altLang="en-US" dirty="0"/>
                    </a:p>
                  </a:txBody>
                  <a:tcPr/>
                </a:tc>
                <a:extLst>
                  <a:ext uri="{0D108BD9-81ED-4DB2-BD59-A6C34878D82A}">
                    <a16:rowId xmlns:a16="http://schemas.microsoft.com/office/drawing/2014/main" val="10002"/>
                  </a:ext>
                </a:extLst>
              </a:tr>
              <a:tr h="388815">
                <a:tc>
                  <a:txBody>
                    <a:bodyPr/>
                    <a:lstStyle/>
                    <a:p>
                      <a:pPr algn="ctr"/>
                      <a:r>
                        <a:rPr lang="zh-CN" altLang="en-US" dirty="0" smtClean="0"/>
                        <a:t>创建文件夹</a:t>
                      </a:r>
                      <a:endParaRPr lang="zh-CN" altLang="en-US" dirty="0"/>
                    </a:p>
                  </a:txBody>
                  <a:tcPr/>
                </a:tc>
                <a:tc>
                  <a:txBody>
                    <a:bodyPr/>
                    <a:lstStyle/>
                    <a:p>
                      <a:pPr algn="ctr"/>
                      <a:r>
                        <a:rPr lang="en-US" altLang="zh-CN" dirty="0" smtClean="0"/>
                        <a:t>md</a:t>
                      </a:r>
                      <a:endParaRPr lang="zh-CN" altLang="en-US" dirty="0"/>
                    </a:p>
                  </a:txBody>
                  <a:tcPr/>
                </a:tc>
                <a:tc>
                  <a:txBody>
                    <a:bodyPr/>
                    <a:lstStyle/>
                    <a:p>
                      <a:pPr algn="ctr"/>
                      <a:r>
                        <a:rPr lang="en-US" altLang="zh-CN" dirty="0" err="1" smtClean="0"/>
                        <a:t>mkdir</a:t>
                      </a:r>
                      <a:endParaRPr lang="zh-CN" altLang="en-US" dirty="0"/>
                    </a:p>
                  </a:txBody>
                  <a:tcPr/>
                </a:tc>
                <a:extLst>
                  <a:ext uri="{0D108BD9-81ED-4DB2-BD59-A6C34878D82A}">
                    <a16:rowId xmlns:a16="http://schemas.microsoft.com/office/drawing/2014/main" val="10003"/>
                  </a:ext>
                </a:extLst>
              </a:tr>
              <a:tr h="388815">
                <a:tc>
                  <a:txBody>
                    <a:bodyPr/>
                    <a:lstStyle/>
                    <a:p>
                      <a:pPr algn="ctr"/>
                      <a:r>
                        <a:rPr lang="zh-CN" altLang="en-US" dirty="0" smtClean="0"/>
                        <a:t>改变文件夹</a:t>
                      </a:r>
                      <a:endParaRPr lang="zh-CN" altLang="en-US" dirty="0"/>
                    </a:p>
                  </a:txBody>
                  <a:tcPr/>
                </a:tc>
                <a:tc>
                  <a:txBody>
                    <a:bodyPr/>
                    <a:lstStyle/>
                    <a:p>
                      <a:pPr algn="ctr"/>
                      <a:r>
                        <a:rPr lang="en-US" altLang="zh-CN" dirty="0" smtClean="0"/>
                        <a:t>cd</a:t>
                      </a:r>
                      <a:endParaRPr lang="zh-CN" altLang="en-US" dirty="0"/>
                    </a:p>
                  </a:txBody>
                  <a:tcPr/>
                </a:tc>
                <a:tc>
                  <a:txBody>
                    <a:bodyPr/>
                    <a:lstStyle/>
                    <a:p>
                      <a:pPr algn="ctr"/>
                      <a:r>
                        <a:rPr lang="en-US" altLang="zh-CN" dirty="0" smtClean="0"/>
                        <a:t>cd</a:t>
                      </a:r>
                      <a:endParaRPr lang="zh-CN" altLang="en-US" dirty="0"/>
                    </a:p>
                  </a:txBody>
                  <a:tcPr/>
                </a:tc>
                <a:extLst>
                  <a:ext uri="{0D108BD9-81ED-4DB2-BD59-A6C34878D82A}">
                    <a16:rowId xmlns:a16="http://schemas.microsoft.com/office/drawing/2014/main" val="10004"/>
                  </a:ext>
                </a:extLst>
              </a:tr>
              <a:tr h="388815">
                <a:tc>
                  <a:txBody>
                    <a:bodyPr/>
                    <a:lstStyle/>
                    <a:p>
                      <a:pPr algn="ctr"/>
                      <a:r>
                        <a:rPr lang="zh-CN" altLang="en-US" dirty="0" smtClean="0"/>
                        <a:t>删除文件夹</a:t>
                      </a:r>
                      <a:endParaRPr lang="zh-CN" altLang="en-US" dirty="0"/>
                    </a:p>
                  </a:txBody>
                  <a:tcPr/>
                </a:tc>
                <a:tc>
                  <a:txBody>
                    <a:bodyPr/>
                    <a:lstStyle/>
                    <a:p>
                      <a:pPr algn="ctr"/>
                      <a:r>
                        <a:rPr lang="en-US" altLang="zh-CN" dirty="0" err="1" smtClean="0"/>
                        <a:t>rd</a:t>
                      </a:r>
                      <a:endParaRPr lang="zh-CN" altLang="en-US" dirty="0"/>
                    </a:p>
                  </a:txBody>
                  <a:tcPr/>
                </a:tc>
                <a:tc>
                  <a:txBody>
                    <a:bodyPr/>
                    <a:lstStyle/>
                    <a:p>
                      <a:pPr algn="ctr"/>
                      <a:r>
                        <a:rPr lang="en-US" altLang="zh-CN" dirty="0" err="1" smtClean="0"/>
                        <a:t>rmdir</a:t>
                      </a:r>
                      <a:endParaRPr lang="zh-CN" altLang="en-US" dirty="0"/>
                    </a:p>
                  </a:txBody>
                  <a:tcPr/>
                </a:tc>
                <a:extLst>
                  <a:ext uri="{0D108BD9-81ED-4DB2-BD59-A6C34878D82A}">
                    <a16:rowId xmlns:a16="http://schemas.microsoft.com/office/drawing/2014/main" val="10005"/>
                  </a:ext>
                </a:extLst>
              </a:tr>
              <a:tr h="388815">
                <a:tc>
                  <a:txBody>
                    <a:bodyPr/>
                    <a:lstStyle/>
                    <a:p>
                      <a:pPr algn="ctr"/>
                      <a:r>
                        <a:rPr lang="zh-CN" altLang="en-US" dirty="0" smtClean="0"/>
                        <a:t>创建文件</a:t>
                      </a:r>
                      <a:endParaRPr lang="zh-CN" altLang="en-US" dirty="0"/>
                    </a:p>
                  </a:txBody>
                  <a:tcPr/>
                </a:tc>
                <a:tc>
                  <a:txBody>
                    <a:bodyPr/>
                    <a:lstStyle/>
                    <a:p>
                      <a:pPr algn="ctr"/>
                      <a:r>
                        <a:rPr lang="en-US" altLang="zh-CN" dirty="0" smtClean="0"/>
                        <a:t>copy(</a:t>
                      </a:r>
                      <a:r>
                        <a:rPr lang="zh-CN" altLang="en-US" dirty="0" smtClean="0"/>
                        <a:t>例如：</a:t>
                      </a:r>
                      <a:r>
                        <a:rPr lang="en-US" altLang="zh-CN" dirty="0" smtClean="0"/>
                        <a:t>copy</a:t>
                      </a:r>
                      <a:r>
                        <a:rPr lang="en-US" altLang="zh-CN" baseline="0" dirty="0" smtClean="0"/>
                        <a:t> con test.txt</a:t>
                      </a:r>
                      <a:r>
                        <a:rPr lang="en-US" altLang="zh-CN" dirty="0" smtClean="0"/>
                        <a:t>) </a:t>
                      </a:r>
                      <a:endParaRPr lang="zh-CN" altLang="en-US" dirty="0"/>
                    </a:p>
                  </a:txBody>
                  <a:tcPr/>
                </a:tc>
                <a:tc>
                  <a:txBody>
                    <a:bodyPr/>
                    <a:lstStyle/>
                    <a:p>
                      <a:pPr algn="ctr"/>
                      <a:r>
                        <a:rPr lang="en-US" altLang="zh-CN" dirty="0" smtClean="0"/>
                        <a:t>touch</a:t>
                      </a:r>
                      <a:endParaRPr lang="zh-CN" altLang="en-US" dirty="0"/>
                    </a:p>
                  </a:txBody>
                  <a:tcPr/>
                </a:tc>
                <a:extLst>
                  <a:ext uri="{0D108BD9-81ED-4DB2-BD59-A6C34878D82A}">
                    <a16:rowId xmlns:a16="http://schemas.microsoft.com/office/drawing/2014/main" val="10006"/>
                  </a:ext>
                </a:extLst>
              </a:tr>
              <a:tr h="388815">
                <a:tc>
                  <a:txBody>
                    <a:bodyPr/>
                    <a:lstStyle/>
                    <a:p>
                      <a:pPr algn="ctr"/>
                      <a:r>
                        <a:rPr lang="zh-CN" altLang="en-US" dirty="0" smtClean="0"/>
                        <a:t>删除文件</a:t>
                      </a:r>
                      <a:endParaRPr lang="zh-CN" altLang="en-US" dirty="0"/>
                    </a:p>
                  </a:txBody>
                  <a:tcPr/>
                </a:tc>
                <a:tc>
                  <a:txBody>
                    <a:bodyPr/>
                    <a:lstStyle/>
                    <a:p>
                      <a:pPr algn="ctr"/>
                      <a:r>
                        <a:rPr lang="en-US" altLang="zh-CN" dirty="0" smtClean="0"/>
                        <a:t>del</a:t>
                      </a:r>
                      <a:endParaRPr lang="zh-CN" altLang="en-US" dirty="0"/>
                    </a:p>
                  </a:txBody>
                  <a:tcPr/>
                </a:tc>
                <a:tc>
                  <a:txBody>
                    <a:bodyPr/>
                    <a:lstStyle/>
                    <a:p>
                      <a:pPr algn="ctr"/>
                      <a:r>
                        <a:rPr lang="en-US" altLang="zh-CN" dirty="0" err="1" smtClean="0"/>
                        <a:t>rm</a:t>
                      </a:r>
                      <a:endParaRPr lang="zh-CN" altLang="en-US" dirty="0"/>
                    </a:p>
                  </a:txBody>
                  <a:tcPr/>
                </a:tc>
                <a:extLst>
                  <a:ext uri="{0D108BD9-81ED-4DB2-BD59-A6C34878D82A}">
                    <a16:rowId xmlns:a16="http://schemas.microsoft.com/office/drawing/2014/main" val="10007"/>
                  </a:ext>
                </a:extLst>
              </a:tr>
              <a:tr h="388815">
                <a:tc>
                  <a:txBody>
                    <a:bodyPr/>
                    <a:lstStyle/>
                    <a:p>
                      <a:pPr algn="ctr"/>
                      <a:r>
                        <a:rPr lang="zh-CN" altLang="en-US" dirty="0" smtClean="0"/>
                        <a:t>复制文件</a:t>
                      </a:r>
                      <a:endParaRPr lang="zh-CN" altLang="en-US" dirty="0"/>
                    </a:p>
                  </a:txBody>
                  <a:tcPr/>
                </a:tc>
                <a:tc>
                  <a:txBody>
                    <a:bodyPr/>
                    <a:lstStyle/>
                    <a:p>
                      <a:pPr algn="ctr"/>
                      <a:r>
                        <a:rPr lang="en-US" altLang="zh-CN" dirty="0" smtClean="0"/>
                        <a:t>copy</a:t>
                      </a:r>
                      <a:endParaRPr lang="zh-CN" altLang="en-US" dirty="0"/>
                    </a:p>
                  </a:txBody>
                  <a:tcPr/>
                </a:tc>
                <a:tc>
                  <a:txBody>
                    <a:bodyPr/>
                    <a:lstStyle/>
                    <a:p>
                      <a:pPr algn="ctr"/>
                      <a:r>
                        <a:rPr lang="en-US" altLang="zh-CN" dirty="0" err="1" smtClean="0"/>
                        <a:t>cp</a:t>
                      </a:r>
                      <a:endParaRPr lang="zh-CN" altLang="en-US" dirty="0"/>
                    </a:p>
                  </a:txBody>
                  <a:tcPr/>
                </a:tc>
                <a:extLst>
                  <a:ext uri="{0D108BD9-81ED-4DB2-BD59-A6C34878D82A}">
                    <a16:rowId xmlns:a16="http://schemas.microsoft.com/office/drawing/2014/main" val="10008"/>
                  </a:ext>
                </a:extLst>
              </a:tr>
              <a:tr h="388815">
                <a:tc>
                  <a:txBody>
                    <a:bodyPr/>
                    <a:lstStyle/>
                    <a:p>
                      <a:pPr algn="ctr"/>
                      <a:r>
                        <a:rPr lang="zh-CN" altLang="en-US" dirty="0" smtClean="0"/>
                        <a:t>移动文件</a:t>
                      </a:r>
                      <a:endParaRPr lang="zh-CN" altLang="en-US" dirty="0"/>
                    </a:p>
                  </a:txBody>
                  <a:tcPr/>
                </a:tc>
                <a:tc>
                  <a:txBody>
                    <a:bodyPr/>
                    <a:lstStyle/>
                    <a:p>
                      <a:pPr algn="ctr"/>
                      <a:r>
                        <a:rPr lang="en-US" altLang="zh-CN" dirty="0" smtClean="0"/>
                        <a:t>move</a:t>
                      </a:r>
                      <a:endParaRPr lang="zh-CN" altLang="en-US" dirty="0"/>
                    </a:p>
                  </a:txBody>
                  <a:tcPr/>
                </a:tc>
                <a:tc>
                  <a:txBody>
                    <a:bodyPr/>
                    <a:lstStyle/>
                    <a:p>
                      <a:pPr algn="ctr"/>
                      <a:r>
                        <a:rPr lang="en-US" altLang="zh-CN" dirty="0" smtClean="0"/>
                        <a:t>mv</a:t>
                      </a:r>
                      <a:endParaRPr lang="zh-CN" altLang="en-US" dirty="0"/>
                    </a:p>
                  </a:txBody>
                  <a:tcPr/>
                </a:tc>
                <a:extLst>
                  <a:ext uri="{0D108BD9-81ED-4DB2-BD59-A6C34878D82A}">
                    <a16:rowId xmlns:a16="http://schemas.microsoft.com/office/drawing/2014/main" val="10009"/>
                  </a:ext>
                </a:extLst>
              </a:tr>
              <a:tr h="388815">
                <a:tc>
                  <a:txBody>
                    <a:bodyPr/>
                    <a:lstStyle/>
                    <a:p>
                      <a:pPr algn="ctr"/>
                      <a:r>
                        <a:rPr lang="zh-CN" altLang="en-US" dirty="0" smtClean="0"/>
                        <a:t>显示文件</a:t>
                      </a:r>
                      <a:endParaRPr lang="zh-CN" altLang="en-US" dirty="0"/>
                    </a:p>
                  </a:txBody>
                  <a:tcPr/>
                </a:tc>
                <a:tc>
                  <a:txBody>
                    <a:bodyPr/>
                    <a:lstStyle/>
                    <a:p>
                      <a:pPr algn="ctr"/>
                      <a:r>
                        <a:rPr lang="en-US" altLang="zh-CN" dirty="0" smtClean="0"/>
                        <a:t>type</a:t>
                      </a:r>
                      <a:endParaRPr lang="zh-CN" altLang="en-US" dirty="0"/>
                    </a:p>
                  </a:txBody>
                  <a:tcPr/>
                </a:tc>
                <a:tc>
                  <a:txBody>
                    <a:bodyPr/>
                    <a:lstStyle/>
                    <a:p>
                      <a:pPr algn="ctr"/>
                      <a:r>
                        <a:rPr lang="en-US" altLang="zh-CN" dirty="0" smtClean="0"/>
                        <a:t>cat</a:t>
                      </a:r>
                      <a:endParaRPr lang="zh-CN" altLang="en-US" dirty="0"/>
                    </a:p>
                  </a:txBody>
                  <a:tcPr/>
                </a:tc>
                <a:extLst>
                  <a:ext uri="{0D108BD9-81ED-4DB2-BD59-A6C34878D82A}">
                    <a16:rowId xmlns:a16="http://schemas.microsoft.com/office/drawing/2014/main" val="10010"/>
                  </a:ext>
                </a:extLst>
              </a:tr>
            </a:tbl>
          </a:graphicData>
        </a:graphic>
      </p:graphicFrame>
      <p:sp>
        <p:nvSpPr>
          <p:cNvPr id="2" name="灯片编号占位符 1"/>
          <p:cNvSpPr>
            <a:spLocks noGrp="1"/>
          </p:cNvSpPr>
          <p:nvPr>
            <p:ph type="sldNum" sz="quarter" idx="12"/>
          </p:nvPr>
        </p:nvSpPr>
        <p:spPr/>
        <p:txBody>
          <a:bodyPr/>
          <a:lstStyle/>
          <a:p>
            <a:fld id="{0BD87961-E39D-4DAC-BBE4-2A1C1340B983}" type="slidenum">
              <a:rPr lang="zh-CN" altLang="en-US" smtClean="0"/>
              <a:t>10</a:t>
            </a:fld>
            <a:endParaRPr lang="zh-CN" altLang="en-US"/>
          </a:p>
        </p:txBody>
      </p:sp>
    </p:spTree>
    <p:extLst>
      <p:ext uri="{BB962C8B-B14F-4D97-AF65-F5344CB8AC3E}">
        <p14:creationId xmlns:p14="http://schemas.microsoft.com/office/powerpoint/2010/main" val="34191594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02223" y="909829"/>
            <a:ext cx="11922369" cy="4998602"/>
          </a:xfrm>
        </p:spPr>
        <p:txBody>
          <a:bodyPr>
            <a:noAutofit/>
          </a:bodyPr>
          <a:lstStyle/>
          <a:p>
            <a:r>
              <a:rPr lang="en-US" altLang="zh-CN" sz="1800" dirty="0" smtClean="0">
                <a:solidFill>
                  <a:srgbClr val="002060"/>
                </a:solidFill>
              </a:rPr>
              <a:t>1.</a:t>
            </a:r>
            <a:r>
              <a:rPr lang="zh-CN" altLang="en-US" sz="1800" dirty="0" smtClean="0">
                <a:solidFill>
                  <a:srgbClr val="002060"/>
                </a:solidFill>
              </a:rPr>
              <a:t>在</a:t>
            </a:r>
            <a:r>
              <a:rPr lang="en-US" altLang="zh-CN" sz="1800" dirty="0" err="1" smtClean="0">
                <a:solidFill>
                  <a:srgbClr val="002060"/>
                </a:solidFill>
              </a:rPr>
              <a:t>git</a:t>
            </a:r>
            <a:r>
              <a:rPr lang="zh-CN" altLang="en-US" sz="1800" dirty="0" smtClean="0">
                <a:solidFill>
                  <a:srgbClr val="002060"/>
                </a:solidFill>
              </a:rPr>
              <a:t>实训中点击命令行标签，进入命令行界面。</a:t>
            </a:r>
            <a:endParaRPr lang="en-US" altLang="zh-CN" sz="1800" dirty="0" smtClean="0">
              <a:solidFill>
                <a:srgbClr val="002060"/>
              </a:solidFill>
            </a:endParaRPr>
          </a:p>
          <a:p>
            <a:r>
              <a:rPr lang="en-US" altLang="zh-CN" sz="1800" dirty="0" smtClean="0">
                <a:solidFill>
                  <a:srgbClr val="002060"/>
                </a:solidFill>
              </a:rPr>
              <a:t>2.</a:t>
            </a:r>
            <a:r>
              <a:rPr lang="zh-CN" altLang="en-US" sz="1800" dirty="0" smtClean="0">
                <a:solidFill>
                  <a:srgbClr val="002060"/>
                </a:solidFill>
              </a:rPr>
              <a:t>输入</a:t>
            </a:r>
            <a:r>
              <a:rPr lang="en-US" altLang="zh-CN" sz="1800" dirty="0" smtClean="0">
                <a:solidFill>
                  <a:srgbClr val="002060"/>
                </a:solidFill>
              </a:rPr>
              <a:t>touch test.txt</a:t>
            </a:r>
            <a:r>
              <a:rPr lang="zh-CN" altLang="en-US" sz="1800" dirty="0" smtClean="0">
                <a:solidFill>
                  <a:srgbClr val="002060"/>
                </a:solidFill>
              </a:rPr>
              <a:t>，创建一个新文件。</a:t>
            </a:r>
            <a:endParaRPr lang="en-US" altLang="zh-CN" sz="1800" dirty="0" smtClean="0">
              <a:solidFill>
                <a:srgbClr val="002060"/>
              </a:solidFill>
            </a:endParaRPr>
          </a:p>
          <a:p>
            <a:r>
              <a:rPr lang="en-US" altLang="zh-CN" sz="1800" dirty="0" smtClean="0">
                <a:solidFill>
                  <a:srgbClr val="002060"/>
                </a:solidFill>
              </a:rPr>
              <a:t>3.</a:t>
            </a:r>
            <a:r>
              <a:rPr lang="zh-CN" altLang="en-US" sz="1800" dirty="0" smtClean="0">
                <a:solidFill>
                  <a:srgbClr val="002060"/>
                </a:solidFill>
              </a:rPr>
              <a:t>输入</a:t>
            </a:r>
            <a:r>
              <a:rPr lang="en-US" altLang="zh-CN" sz="1800" dirty="0" smtClean="0">
                <a:solidFill>
                  <a:srgbClr val="002060"/>
                </a:solidFill>
              </a:rPr>
              <a:t>vi test.txt</a:t>
            </a:r>
            <a:r>
              <a:rPr lang="zh-CN" altLang="en-US" sz="1800" dirty="0" smtClean="0">
                <a:solidFill>
                  <a:srgbClr val="002060"/>
                </a:solidFill>
              </a:rPr>
              <a:t>，进入</a:t>
            </a:r>
            <a:r>
              <a:rPr lang="en-US" altLang="zh-CN" sz="1800" dirty="0" smtClean="0">
                <a:solidFill>
                  <a:srgbClr val="002060"/>
                </a:solidFill>
              </a:rPr>
              <a:t>vi</a:t>
            </a:r>
            <a:r>
              <a:rPr lang="zh-CN" altLang="en-US" sz="1800" dirty="0" smtClean="0">
                <a:solidFill>
                  <a:srgbClr val="002060"/>
                </a:solidFill>
              </a:rPr>
              <a:t>编辑模式。</a:t>
            </a:r>
            <a:endParaRPr lang="en-US" altLang="zh-CN" sz="1800" dirty="0" smtClean="0">
              <a:solidFill>
                <a:srgbClr val="002060"/>
              </a:solidFill>
            </a:endParaRPr>
          </a:p>
          <a:p>
            <a:r>
              <a:rPr lang="en-US" altLang="zh-CN" sz="1800" dirty="0" smtClean="0">
                <a:solidFill>
                  <a:srgbClr val="002060"/>
                </a:solidFill>
              </a:rPr>
              <a:t>4.</a:t>
            </a:r>
            <a:r>
              <a:rPr lang="zh-CN" altLang="en-US" sz="1800" dirty="0" smtClean="0">
                <a:solidFill>
                  <a:srgbClr val="002060"/>
                </a:solidFill>
              </a:rPr>
              <a:t>按</a:t>
            </a:r>
            <a:r>
              <a:rPr lang="en-US" altLang="zh-CN" sz="1800" dirty="0" err="1" smtClean="0">
                <a:solidFill>
                  <a:srgbClr val="002060"/>
                </a:solidFill>
              </a:rPr>
              <a:t>i</a:t>
            </a:r>
            <a:r>
              <a:rPr lang="zh-CN" altLang="en-US" sz="1800" dirty="0" smtClean="0">
                <a:solidFill>
                  <a:srgbClr val="002060"/>
                </a:solidFill>
              </a:rPr>
              <a:t>键，进入编辑模式，输入</a:t>
            </a:r>
            <a:r>
              <a:rPr lang="en-US" altLang="zh-CN" sz="1800" dirty="0" smtClean="0">
                <a:solidFill>
                  <a:srgbClr val="002060"/>
                </a:solidFill>
              </a:rPr>
              <a:t>hello</a:t>
            </a:r>
            <a:r>
              <a:rPr lang="zh-CN" altLang="en-US" sz="1800" dirty="0" smtClean="0">
                <a:solidFill>
                  <a:srgbClr val="002060"/>
                </a:solidFill>
              </a:rPr>
              <a:t>；按</a:t>
            </a:r>
            <a:r>
              <a:rPr lang="en-US" altLang="zh-CN" sz="1800" dirty="0" smtClean="0">
                <a:solidFill>
                  <a:srgbClr val="002060"/>
                </a:solidFill>
              </a:rPr>
              <a:t>ESC</a:t>
            </a:r>
            <a:r>
              <a:rPr lang="zh-CN" altLang="en-US" sz="1800" dirty="0" smtClean="0">
                <a:solidFill>
                  <a:srgbClr val="002060"/>
                </a:solidFill>
              </a:rPr>
              <a:t>键，退出编辑；按英文冒号键，再按</a:t>
            </a:r>
            <a:r>
              <a:rPr lang="en-US" altLang="zh-CN" sz="1800" dirty="0" smtClean="0">
                <a:solidFill>
                  <a:srgbClr val="002060"/>
                </a:solidFill>
              </a:rPr>
              <a:t>x</a:t>
            </a:r>
            <a:r>
              <a:rPr lang="zh-CN" altLang="en-US" sz="1800" dirty="0" smtClean="0">
                <a:solidFill>
                  <a:srgbClr val="002060"/>
                </a:solidFill>
              </a:rPr>
              <a:t>键，保存退出。</a:t>
            </a:r>
            <a:endParaRPr lang="en-US" altLang="zh-CN" sz="1800" dirty="0" smtClean="0">
              <a:solidFill>
                <a:srgbClr val="002060"/>
              </a:solidFill>
            </a:endParaRPr>
          </a:p>
          <a:p>
            <a:r>
              <a:rPr lang="en-US" altLang="zh-CN" sz="1800" dirty="0" smtClean="0">
                <a:solidFill>
                  <a:srgbClr val="002060"/>
                </a:solidFill>
              </a:rPr>
              <a:t>5.</a:t>
            </a:r>
            <a:r>
              <a:rPr lang="zh-CN" altLang="en-US" sz="1800" dirty="0" smtClean="0">
                <a:solidFill>
                  <a:srgbClr val="002060"/>
                </a:solidFill>
              </a:rPr>
              <a:t>输入</a:t>
            </a:r>
            <a:r>
              <a:rPr lang="en-US" altLang="zh-CN" sz="1800" dirty="0" smtClean="0">
                <a:solidFill>
                  <a:srgbClr val="002060"/>
                </a:solidFill>
              </a:rPr>
              <a:t>cat test.txt</a:t>
            </a:r>
            <a:r>
              <a:rPr lang="zh-CN" altLang="en-US" sz="1800" dirty="0" smtClean="0">
                <a:solidFill>
                  <a:srgbClr val="002060"/>
                </a:solidFill>
              </a:rPr>
              <a:t>，显示文件内容。</a:t>
            </a:r>
            <a:endParaRPr lang="en-US" altLang="zh-CN" sz="1800" dirty="0" smtClean="0">
              <a:solidFill>
                <a:srgbClr val="002060"/>
              </a:solidFill>
            </a:endParaRPr>
          </a:p>
          <a:p>
            <a:r>
              <a:rPr lang="en-US" altLang="zh-CN" sz="1800" dirty="0" smtClean="0">
                <a:solidFill>
                  <a:srgbClr val="002060"/>
                </a:solidFill>
              </a:rPr>
              <a:t>6.</a:t>
            </a:r>
            <a:r>
              <a:rPr lang="zh-CN" altLang="en-US" sz="1800" dirty="0" smtClean="0">
                <a:solidFill>
                  <a:srgbClr val="002060"/>
                </a:solidFill>
              </a:rPr>
              <a:t>输入</a:t>
            </a:r>
            <a:r>
              <a:rPr lang="en-US" altLang="zh-CN" sz="1800" dirty="0" err="1" smtClean="0">
                <a:solidFill>
                  <a:srgbClr val="002060"/>
                </a:solidFill>
              </a:rPr>
              <a:t>mkdir</a:t>
            </a:r>
            <a:r>
              <a:rPr lang="en-US" altLang="zh-CN" sz="1800" dirty="0" smtClean="0">
                <a:solidFill>
                  <a:srgbClr val="002060"/>
                </a:solidFill>
              </a:rPr>
              <a:t> user</a:t>
            </a:r>
            <a:r>
              <a:rPr lang="zh-CN" altLang="en-US" sz="1800" dirty="0" smtClean="0">
                <a:solidFill>
                  <a:srgbClr val="002060"/>
                </a:solidFill>
              </a:rPr>
              <a:t>，创建一个文件夹。</a:t>
            </a:r>
            <a:endParaRPr lang="en-US" altLang="zh-CN" sz="1800" dirty="0" smtClean="0">
              <a:solidFill>
                <a:srgbClr val="002060"/>
              </a:solidFill>
            </a:endParaRPr>
          </a:p>
          <a:p>
            <a:r>
              <a:rPr lang="en-US" altLang="zh-CN" sz="1800" dirty="0" smtClean="0">
                <a:solidFill>
                  <a:srgbClr val="002060"/>
                </a:solidFill>
              </a:rPr>
              <a:t>7.</a:t>
            </a:r>
            <a:r>
              <a:rPr lang="zh-CN" altLang="en-US" sz="1800" dirty="0" smtClean="0">
                <a:solidFill>
                  <a:srgbClr val="002060"/>
                </a:solidFill>
              </a:rPr>
              <a:t>输入</a:t>
            </a:r>
            <a:r>
              <a:rPr lang="en-US" altLang="zh-CN" sz="1800" dirty="0" smtClean="0">
                <a:solidFill>
                  <a:srgbClr val="002060"/>
                </a:solidFill>
              </a:rPr>
              <a:t>cd user</a:t>
            </a:r>
            <a:r>
              <a:rPr lang="zh-CN" altLang="en-US" sz="1800" dirty="0" smtClean="0">
                <a:solidFill>
                  <a:srgbClr val="002060"/>
                </a:solidFill>
              </a:rPr>
              <a:t>，进入创建的文件夹</a:t>
            </a:r>
            <a:r>
              <a:rPr lang="en-US" altLang="zh-CN" sz="1800" dirty="0" smtClean="0">
                <a:solidFill>
                  <a:srgbClr val="002060"/>
                </a:solidFill>
              </a:rPr>
              <a:t>user</a:t>
            </a:r>
            <a:r>
              <a:rPr lang="zh-CN" altLang="en-US" sz="1800" dirty="0" smtClean="0">
                <a:solidFill>
                  <a:srgbClr val="002060"/>
                </a:solidFill>
              </a:rPr>
              <a:t>。</a:t>
            </a:r>
            <a:endParaRPr lang="en-US" altLang="zh-CN" sz="1800" dirty="0" smtClean="0">
              <a:solidFill>
                <a:srgbClr val="002060"/>
              </a:solidFill>
            </a:endParaRPr>
          </a:p>
          <a:p>
            <a:r>
              <a:rPr lang="en-US" altLang="zh-CN" sz="1800" dirty="0" smtClean="0">
                <a:solidFill>
                  <a:srgbClr val="002060"/>
                </a:solidFill>
              </a:rPr>
              <a:t>8.</a:t>
            </a:r>
            <a:r>
              <a:rPr lang="zh-CN" altLang="en-US" sz="1800" dirty="0">
                <a:solidFill>
                  <a:srgbClr val="002060"/>
                </a:solidFill>
              </a:rPr>
              <a:t>输入</a:t>
            </a:r>
            <a:r>
              <a:rPr lang="en-US" altLang="zh-CN" sz="1800" dirty="0" err="1">
                <a:solidFill>
                  <a:srgbClr val="002060"/>
                </a:solidFill>
              </a:rPr>
              <a:t>pwd</a:t>
            </a:r>
            <a:r>
              <a:rPr lang="zh-CN" altLang="en-US" sz="1800" dirty="0">
                <a:solidFill>
                  <a:srgbClr val="002060"/>
                </a:solidFill>
              </a:rPr>
              <a:t>，显示当前目录。</a:t>
            </a:r>
            <a:endParaRPr lang="en-US" altLang="zh-CN" sz="1800" dirty="0">
              <a:solidFill>
                <a:srgbClr val="002060"/>
              </a:solidFill>
            </a:endParaRPr>
          </a:p>
          <a:p>
            <a:r>
              <a:rPr lang="en-US" altLang="zh-CN" sz="1800" dirty="0" smtClean="0">
                <a:solidFill>
                  <a:srgbClr val="002060"/>
                </a:solidFill>
              </a:rPr>
              <a:t>9.</a:t>
            </a:r>
            <a:r>
              <a:rPr lang="zh-CN" altLang="en-US" sz="1800" dirty="0" smtClean="0">
                <a:solidFill>
                  <a:srgbClr val="002060"/>
                </a:solidFill>
              </a:rPr>
              <a:t>输入</a:t>
            </a:r>
            <a:r>
              <a:rPr lang="en-US" altLang="zh-CN" sz="1800" dirty="0" err="1" smtClean="0">
                <a:solidFill>
                  <a:srgbClr val="002060"/>
                </a:solidFill>
              </a:rPr>
              <a:t>cp</a:t>
            </a:r>
            <a:r>
              <a:rPr lang="en-US" altLang="zh-CN" sz="1800" dirty="0" smtClean="0">
                <a:solidFill>
                  <a:srgbClr val="002060"/>
                </a:solidFill>
              </a:rPr>
              <a:t> ../test.txt test1.txt</a:t>
            </a:r>
            <a:r>
              <a:rPr lang="zh-CN" altLang="en-US" sz="1800" dirty="0" smtClean="0">
                <a:solidFill>
                  <a:srgbClr val="002060"/>
                </a:solidFill>
              </a:rPr>
              <a:t>，将上一层目录的文件</a:t>
            </a:r>
            <a:r>
              <a:rPr lang="en-US" altLang="zh-CN" sz="1800" dirty="0" smtClean="0">
                <a:solidFill>
                  <a:srgbClr val="002060"/>
                </a:solidFill>
              </a:rPr>
              <a:t>test.txt</a:t>
            </a:r>
            <a:r>
              <a:rPr lang="zh-CN" altLang="en-US" sz="1800" dirty="0" smtClean="0">
                <a:solidFill>
                  <a:srgbClr val="002060"/>
                </a:solidFill>
              </a:rPr>
              <a:t>拷贝过来并改名为</a:t>
            </a:r>
            <a:r>
              <a:rPr lang="en-US" altLang="zh-CN" sz="1800" dirty="0" smtClean="0">
                <a:solidFill>
                  <a:srgbClr val="002060"/>
                </a:solidFill>
              </a:rPr>
              <a:t>test1.txt</a:t>
            </a:r>
            <a:r>
              <a:rPr lang="zh-CN" altLang="en-US" sz="1800" dirty="0" smtClean="0">
                <a:solidFill>
                  <a:srgbClr val="002060"/>
                </a:solidFill>
              </a:rPr>
              <a:t>。</a:t>
            </a:r>
            <a:endParaRPr lang="en-US" altLang="zh-CN" sz="1800" dirty="0" smtClean="0">
              <a:solidFill>
                <a:srgbClr val="002060"/>
              </a:solidFill>
            </a:endParaRPr>
          </a:p>
          <a:p>
            <a:r>
              <a:rPr lang="en-US" altLang="zh-CN" sz="1800" dirty="0" smtClean="0">
                <a:solidFill>
                  <a:srgbClr val="002060"/>
                </a:solidFill>
              </a:rPr>
              <a:t>10.</a:t>
            </a:r>
            <a:r>
              <a:rPr lang="zh-CN" altLang="en-US" sz="1800" dirty="0" smtClean="0">
                <a:solidFill>
                  <a:srgbClr val="002060"/>
                </a:solidFill>
              </a:rPr>
              <a:t>输入</a:t>
            </a:r>
            <a:r>
              <a:rPr lang="en-US" altLang="zh-CN" sz="1800" dirty="0" smtClean="0">
                <a:solidFill>
                  <a:srgbClr val="002060"/>
                </a:solidFill>
              </a:rPr>
              <a:t>ls</a:t>
            </a:r>
            <a:r>
              <a:rPr lang="zh-CN" altLang="en-US" sz="1800" dirty="0" smtClean="0">
                <a:solidFill>
                  <a:srgbClr val="002060"/>
                </a:solidFill>
              </a:rPr>
              <a:t>，显示当前目录的所有内容。</a:t>
            </a:r>
            <a:endParaRPr lang="en-US" altLang="zh-CN" sz="1800" dirty="0" smtClean="0">
              <a:solidFill>
                <a:srgbClr val="002060"/>
              </a:solidFill>
            </a:endParaRPr>
          </a:p>
          <a:p>
            <a:r>
              <a:rPr lang="en-US" altLang="zh-CN" sz="1800" dirty="0" smtClean="0">
                <a:solidFill>
                  <a:srgbClr val="002060"/>
                </a:solidFill>
              </a:rPr>
              <a:t>11.</a:t>
            </a:r>
            <a:r>
              <a:rPr lang="zh-CN" altLang="en-US" sz="1800" dirty="0" smtClean="0">
                <a:solidFill>
                  <a:srgbClr val="002060"/>
                </a:solidFill>
              </a:rPr>
              <a:t>输入 </a:t>
            </a:r>
            <a:r>
              <a:rPr lang="en-US" altLang="zh-CN" sz="1800" dirty="0" smtClean="0">
                <a:solidFill>
                  <a:srgbClr val="002060"/>
                </a:solidFill>
              </a:rPr>
              <a:t>cd ..</a:t>
            </a:r>
            <a:r>
              <a:rPr lang="zh-CN" altLang="en-US" sz="1800" dirty="0" smtClean="0">
                <a:solidFill>
                  <a:srgbClr val="002060"/>
                </a:solidFill>
              </a:rPr>
              <a:t>，返回上一层目录。</a:t>
            </a:r>
            <a:endParaRPr lang="en-US" altLang="zh-CN" sz="1800" dirty="0" smtClean="0">
              <a:solidFill>
                <a:srgbClr val="002060"/>
              </a:solidFill>
            </a:endParaRPr>
          </a:p>
          <a:p>
            <a:r>
              <a:rPr lang="en-US" altLang="zh-CN" sz="1800" dirty="0" smtClean="0">
                <a:solidFill>
                  <a:srgbClr val="002060"/>
                </a:solidFill>
              </a:rPr>
              <a:t>12.</a:t>
            </a:r>
            <a:r>
              <a:rPr lang="zh-CN" altLang="en-US" sz="1800" dirty="0" smtClean="0">
                <a:solidFill>
                  <a:srgbClr val="002060"/>
                </a:solidFill>
              </a:rPr>
              <a:t>输入</a:t>
            </a:r>
            <a:r>
              <a:rPr lang="en-US" altLang="zh-CN" sz="1800" dirty="0" err="1" smtClean="0">
                <a:solidFill>
                  <a:srgbClr val="002060"/>
                </a:solidFill>
              </a:rPr>
              <a:t>rmdir</a:t>
            </a:r>
            <a:r>
              <a:rPr lang="en-US" altLang="zh-CN" sz="1800" dirty="0" smtClean="0">
                <a:solidFill>
                  <a:srgbClr val="002060"/>
                </a:solidFill>
              </a:rPr>
              <a:t> user</a:t>
            </a:r>
            <a:r>
              <a:rPr lang="zh-CN" altLang="en-US" sz="1800" dirty="0" smtClean="0">
                <a:solidFill>
                  <a:srgbClr val="002060"/>
                </a:solidFill>
              </a:rPr>
              <a:t>，删除</a:t>
            </a:r>
            <a:r>
              <a:rPr lang="en-US" altLang="zh-CN" sz="1800" dirty="0" smtClean="0">
                <a:solidFill>
                  <a:srgbClr val="002060"/>
                </a:solidFill>
              </a:rPr>
              <a:t>user</a:t>
            </a:r>
            <a:r>
              <a:rPr lang="zh-CN" altLang="en-US" sz="1800" dirty="0" smtClean="0">
                <a:solidFill>
                  <a:srgbClr val="002060"/>
                </a:solidFill>
              </a:rPr>
              <a:t>目录。</a:t>
            </a:r>
            <a:r>
              <a:rPr lang="en-US" altLang="zh-CN" sz="1800" dirty="0" smtClean="0">
                <a:solidFill>
                  <a:srgbClr val="002060"/>
                </a:solidFill>
              </a:rPr>
              <a:t>//</a:t>
            </a:r>
            <a:r>
              <a:rPr lang="zh-CN" altLang="en-US" sz="1800" dirty="0" smtClean="0">
                <a:solidFill>
                  <a:srgbClr val="002060"/>
                </a:solidFill>
              </a:rPr>
              <a:t>错误提示：目录不为空，不能删除</a:t>
            </a:r>
            <a:endParaRPr lang="en-US" altLang="zh-CN" sz="1800" dirty="0" smtClean="0">
              <a:solidFill>
                <a:srgbClr val="002060"/>
              </a:solidFill>
            </a:endParaRPr>
          </a:p>
          <a:p>
            <a:r>
              <a:rPr lang="en-US" altLang="zh-CN" sz="1800" dirty="0" smtClean="0">
                <a:solidFill>
                  <a:srgbClr val="002060"/>
                </a:solidFill>
              </a:rPr>
              <a:t>13.</a:t>
            </a:r>
            <a:r>
              <a:rPr lang="zh-CN" altLang="en-US" sz="1800" dirty="0" smtClean="0">
                <a:solidFill>
                  <a:srgbClr val="002060"/>
                </a:solidFill>
              </a:rPr>
              <a:t>输入</a:t>
            </a:r>
            <a:r>
              <a:rPr lang="en-US" altLang="zh-CN" sz="1800" dirty="0" smtClean="0">
                <a:solidFill>
                  <a:srgbClr val="002060"/>
                </a:solidFill>
              </a:rPr>
              <a:t>mv user/test1.txt test2.txt</a:t>
            </a:r>
            <a:r>
              <a:rPr lang="zh-CN" altLang="en-US" sz="1800" dirty="0" smtClean="0">
                <a:solidFill>
                  <a:srgbClr val="002060"/>
                </a:solidFill>
              </a:rPr>
              <a:t>，移动</a:t>
            </a:r>
            <a:r>
              <a:rPr lang="en-US" altLang="zh-CN" sz="1800" dirty="0" smtClean="0">
                <a:solidFill>
                  <a:srgbClr val="002060"/>
                </a:solidFill>
              </a:rPr>
              <a:t>user</a:t>
            </a:r>
            <a:r>
              <a:rPr lang="zh-CN" altLang="en-US" sz="1800" dirty="0" smtClean="0">
                <a:solidFill>
                  <a:srgbClr val="002060"/>
                </a:solidFill>
              </a:rPr>
              <a:t>目录中的文件到当前目录并改名为</a:t>
            </a:r>
            <a:r>
              <a:rPr lang="en-US" altLang="zh-CN" sz="1800" dirty="0" smtClean="0">
                <a:solidFill>
                  <a:srgbClr val="002060"/>
                </a:solidFill>
              </a:rPr>
              <a:t>test2.txt</a:t>
            </a:r>
            <a:r>
              <a:rPr lang="zh-CN" altLang="en-US" sz="1800" dirty="0" smtClean="0">
                <a:solidFill>
                  <a:srgbClr val="002060"/>
                </a:solidFill>
              </a:rPr>
              <a:t>，移动文件后</a:t>
            </a:r>
            <a:r>
              <a:rPr lang="en-US" altLang="zh-CN" sz="1800" dirty="0" smtClean="0">
                <a:solidFill>
                  <a:srgbClr val="002060"/>
                </a:solidFill>
              </a:rPr>
              <a:t>user</a:t>
            </a:r>
            <a:r>
              <a:rPr lang="zh-CN" altLang="en-US" sz="1800" dirty="0" smtClean="0">
                <a:solidFill>
                  <a:srgbClr val="002060"/>
                </a:solidFill>
              </a:rPr>
              <a:t>目录为空</a:t>
            </a:r>
            <a:endParaRPr lang="en-US" altLang="zh-CN" sz="1800" dirty="0" smtClean="0">
              <a:solidFill>
                <a:srgbClr val="002060"/>
              </a:solidFill>
            </a:endParaRPr>
          </a:p>
          <a:p>
            <a:r>
              <a:rPr lang="en-US" altLang="zh-CN" sz="1800" dirty="0" smtClean="0">
                <a:solidFill>
                  <a:srgbClr val="002060"/>
                </a:solidFill>
              </a:rPr>
              <a:t>14.</a:t>
            </a:r>
            <a:r>
              <a:rPr lang="zh-CN" altLang="en-US" sz="1800" dirty="0" smtClean="0">
                <a:solidFill>
                  <a:srgbClr val="002060"/>
                </a:solidFill>
              </a:rPr>
              <a:t>输入</a:t>
            </a:r>
            <a:r>
              <a:rPr lang="en-US" altLang="zh-CN" sz="1800" dirty="0" err="1" smtClean="0">
                <a:solidFill>
                  <a:srgbClr val="002060"/>
                </a:solidFill>
              </a:rPr>
              <a:t>rmdir</a:t>
            </a:r>
            <a:r>
              <a:rPr lang="en-US" altLang="zh-CN" sz="1800" dirty="0" smtClean="0">
                <a:solidFill>
                  <a:srgbClr val="002060"/>
                </a:solidFill>
              </a:rPr>
              <a:t> user</a:t>
            </a:r>
            <a:r>
              <a:rPr lang="zh-CN" altLang="en-US" sz="1800" dirty="0" smtClean="0">
                <a:solidFill>
                  <a:srgbClr val="002060"/>
                </a:solidFill>
              </a:rPr>
              <a:t>。删除</a:t>
            </a:r>
            <a:r>
              <a:rPr lang="en-US" altLang="zh-CN" sz="1800" dirty="0" smtClean="0">
                <a:solidFill>
                  <a:srgbClr val="002060"/>
                </a:solidFill>
              </a:rPr>
              <a:t>user</a:t>
            </a:r>
            <a:r>
              <a:rPr lang="zh-CN" altLang="en-US" sz="1800" dirty="0" smtClean="0">
                <a:solidFill>
                  <a:srgbClr val="002060"/>
                </a:solidFill>
              </a:rPr>
              <a:t>目录。</a:t>
            </a:r>
            <a:endParaRPr lang="zh-CN" altLang="en-US" sz="1800" dirty="0">
              <a:solidFill>
                <a:srgbClr val="002060"/>
              </a:solidFill>
            </a:endParaRPr>
          </a:p>
        </p:txBody>
      </p:sp>
      <p:sp>
        <p:nvSpPr>
          <p:cNvPr id="3" name="标题 2"/>
          <p:cNvSpPr>
            <a:spLocks noGrp="1"/>
          </p:cNvSpPr>
          <p:nvPr>
            <p:ph type="title"/>
          </p:nvPr>
        </p:nvSpPr>
        <p:spPr>
          <a:xfrm>
            <a:off x="609600" y="274638"/>
            <a:ext cx="6696808" cy="701308"/>
          </a:xfrm>
        </p:spPr>
        <p:txBody>
          <a:bodyPr>
            <a:normAutofit/>
          </a:bodyPr>
          <a:lstStyle/>
          <a:p>
            <a:r>
              <a:rPr lang="zh-CN" altLang="en-US" sz="2800" dirty="0" smtClean="0"/>
              <a:t>示例：（</a:t>
            </a:r>
            <a:r>
              <a:rPr lang="en-US" altLang="zh-CN" sz="2800" dirty="0" smtClean="0"/>
              <a:t>Linux</a:t>
            </a:r>
            <a:r>
              <a:rPr lang="zh-CN" altLang="en-US" sz="2800" dirty="0" smtClean="0"/>
              <a:t>环境）</a:t>
            </a:r>
            <a:endParaRPr lang="zh-CN" altLang="en-US" sz="2800" dirty="0"/>
          </a:p>
        </p:txBody>
      </p:sp>
      <p:sp>
        <p:nvSpPr>
          <p:cNvPr id="4" name="灯片编号占位符 3"/>
          <p:cNvSpPr>
            <a:spLocks noGrp="1"/>
          </p:cNvSpPr>
          <p:nvPr>
            <p:ph type="sldNum" sz="quarter" idx="12"/>
          </p:nvPr>
        </p:nvSpPr>
        <p:spPr/>
        <p:txBody>
          <a:bodyPr/>
          <a:lstStyle/>
          <a:p>
            <a:fld id="{0BD87961-E39D-4DAC-BBE4-2A1C1340B983}" type="slidenum">
              <a:rPr lang="zh-CN" altLang="en-US" smtClean="0"/>
              <a:t>11</a:t>
            </a:fld>
            <a:endParaRPr lang="zh-CN" altLang="en-US"/>
          </a:p>
        </p:txBody>
      </p:sp>
    </p:spTree>
    <p:extLst>
      <p:ext uri="{BB962C8B-B14F-4D97-AF65-F5344CB8AC3E}">
        <p14:creationId xmlns:p14="http://schemas.microsoft.com/office/powerpoint/2010/main" val="297098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600" y="513709"/>
            <a:ext cx="10972800" cy="4006920"/>
          </a:xfrm>
        </p:spPr>
        <p:txBody>
          <a:bodyPr/>
          <a:lstStyle/>
          <a:p>
            <a:r>
              <a:rPr lang="zh-CN" altLang="en-US" sz="4000" dirty="0"/>
              <a:t>文件概念及文件操作</a:t>
            </a:r>
            <a:endParaRPr lang="en-US" altLang="zh-CN" sz="4000" dirty="0"/>
          </a:p>
          <a:p>
            <a:endParaRPr lang="en-US" altLang="zh-CN" sz="4000" dirty="0"/>
          </a:p>
          <a:p>
            <a:r>
              <a:rPr lang="en-US" altLang="zh-CN" sz="4000" dirty="0" err="1" smtClean="0">
                <a:solidFill>
                  <a:srgbClr val="FF0000"/>
                </a:solidFill>
              </a:rPr>
              <a:t>Git</a:t>
            </a:r>
            <a:r>
              <a:rPr lang="zh-CN" altLang="en-US" sz="4000" dirty="0" smtClean="0">
                <a:solidFill>
                  <a:srgbClr val="FF0000"/>
                </a:solidFill>
              </a:rPr>
              <a:t>概念及相关操作</a:t>
            </a:r>
            <a:endParaRPr lang="en-US" altLang="zh-CN" sz="4000" dirty="0" smtClean="0">
              <a:solidFill>
                <a:srgbClr val="FF0000"/>
              </a:solidFill>
            </a:endParaRPr>
          </a:p>
          <a:p>
            <a:endParaRPr lang="en-US" altLang="zh-CN" sz="4000" dirty="0" smtClean="0"/>
          </a:p>
          <a:p>
            <a:r>
              <a:rPr lang="en-US" altLang="zh-CN" sz="4000" dirty="0" err="1"/>
              <a:t>Gitee</a:t>
            </a:r>
            <a:r>
              <a:rPr lang="zh-CN" altLang="en-US" sz="4000" dirty="0"/>
              <a:t>（码云）的使用</a:t>
            </a:r>
            <a:endParaRPr lang="en-US" altLang="zh-CN" sz="4000" dirty="0"/>
          </a:p>
          <a:p>
            <a:pPr lvl="1"/>
            <a:endParaRPr lang="zh-CN" altLang="en-US" dirty="0"/>
          </a:p>
          <a:p>
            <a:endParaRPr lang="zh-CN" altLang="en-US" dirty="0"/>
          </a:p>
        </p:txBody>
      </p:sp>
      <p:sp>
        <p:nvSpPr>
          <p:cNvPr id="3" name="灯片编号占位符 2"/>
          <p:cNvSpPr>
            <a:spLocks noGrp="1"/>
          </p:cNvSpPr>
          <p:nvPr>
            <p:ph type="sldNum" sz="quarter" idx="12"/>
          </p:nvPr>
        </p:nvSpPr>
        <p:spPr/>
        <p:txBody>
          <a:bodyPr/>
          <a:lstStyle/>
          <a:p>
            <a:fld id="{0BD87961-E39D-4DAC-BBE4-2A1C1340B983}" type="slidenum">
              <a:rPr lang="zh-CN" altLang="en-US" smtClean="0"/>
              <a:t>12</a:t>
            </a:fld>
            <a:endParaRPr lang="zh-CN" altLang="en-US"/>
          </a:p>
        </p:txBody>
      </p:sp>
    </p:spTree>
    <p:extLst>
      <p:ext uri="{BB962C8B-B14F-4D97-AF65-F5344CB8AC3E}">
        <p14:creationId xmlns:p14="http://schemas.microsoft.com/office/powerpoint/2010/main" val="1702634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软件分类</a:t>
            </a:r>
          </a:p>
        </p:txBody>
      </p:sp>
      <p:sp>
        <p:nvSpPr>
          <p:cNvPr id="6" name="TextBox 5"/>
          <p:cNvSpPr txBox="1"/>
          <p:nvPr/>
        </p:nvSpPr>
        <p:spPr>
          <a:xfrm>
            <a:off x="357188" y="1504187"/>
            <a:ext cx="11415712" cy="4524315"/>
          </a:xfrm>
          <a:prstGeom prst="rect">
            <a:avLst/>
          </a:prstGeom>
          <a:noFill/>
        </p:spPr>
        <p:txBody>
          <a:bodyPr wrap="square" rtlCol="0">
            <a:spAutoFit/>
          </a:bodyPr>
          <a:lstStyle/>
          <a:p>
            <a:pPr marL="342900" indent="-342900">
              <a:buFont typeface="Wingdings" panose="05000000000000000000" pitchFamily="2" charset="2"/>
              <a:buChar char="l"/>
            </a:pPr>
            <a:r>
              <a:rPr lang="zh-CN" altLang="en-US" sz="2400" b="1" dirty="0"/>
              <a:t>商业</a:t>
            </a:r>
            <a:r>
              <a:rPr lang="zh-CN" altLang="en-US" sz="2400" b="1" dirty="0" smtClean="0"/>
              <a:t>软件：</a:t>
            </a:r>
            <a:r>
              <a:rPr lang="zh-CN" altLang="en-US" sz="2400" dirty="0" smtClean="0"/>
              <a:t>商业</a:t>
            </a:r>
            <a:r>
              <a:rPr lang="zh-CN" altLang="en-US" sz="2400" dirty="0"/>
              <a:t>软件是在计算机软件中，指被作为商品进行交易的软件，在国内商业软件一般是有音像制品发布权和著作权</a:t>
            </a:r>
            <a:r>
              <a:rPr lang="zh-CN" altLang="en-US" sz="2400" dirty="0" smtClean="0"/>
              <a:t>保护</a:t>
            </a:r>
            <a:r>
              <a:rPr lang="zh-CN" altLang="en-US" sz="2400" dirty="0"/>
              <a:t>的软件。在</a:t>
            </a:r>
            <a:r>
              <a:rPr lang="en-US" altLang="zh-CN" sz="2400" dirty="0"/>
              <a:t>2000</a:t>
            </a:r>
            <a:r>
              <a:rPr lang="zh-CN" altLang="en-US" sz="2400" dirty="0"/>
              <a:t>之前中国国内市场上基本上被商业软件所统治。</a:t>
            </a:r>
          </a:p>
          <a:p>
            <a:pPr marL="342900" indent="-342900">
              <a:buFont typeface="Wingdings" panose="05000000000000000000" pitchFamily="2" charset="2"/>
              <a:buChar char="l"/>
            </a:pPr>
            <a:r>
              <a:rPr lang="zh-CN" altLang="en-US" sz="2400" b="1" dirty="0"/>
              <a:t>共享</a:t>
            </a:r>
            <a:r>
              <a:rPr lang="zh-CN" altLang="en-US" sz="2400" b="1" dirty="0" smtClean="0"/>
              <a:t>软件：</a:t>
            </a:r>
            <a:r>
              <a:rPr lang="zh-CN" altLang="en-US" sz="2400" dirty="0" smtClean="0"/>
              <a:t>共享</a:t>
            </a:r>
            <a:r>
              <a:rPr lang="zh-CN" altLang="en-US" sz="2400" dirty="0"/>
              <a:t>软件是为了促进</a:t>
            </a:r>
            <a:r>
              <a:rPr lang="en-US" altLang="zh-CN" sz="2400" dirty="0"/>
              <a:t>IT</a:t>
            </a:r>
            <a:r>
              <a:rPr lang="zh-CN" altLang="en-US" sz="2400" dirty="0"/>
              <a:t>业的发展，软件开发商或自由软件者推出的免费产品，共享版软件一般有次数、时间、</a:t>
            </a:r>
            <a:r>
              <a:rPr lang="zh-CN" altLang="en-US" sz="2400" dirty="0" smtClean="0"/>
              <a:t>用户数量</a:t>
            </a:r>
            <a:r>
              <a:rPr lang="zh-CN" altLang="en-US" sz="2400" dirty="0"/>
              <a:t>限制</a:t>
            </a:r>
            <a:r>
              <a:rPr lang="zh-CN" altLang="en-US" sz="2400" dirty="0" smtClean="0"/>
              <a:t>；用户</a:t>
            </a:r>
            <a:r>
              <a:rPr lang="zh-CN" altLang="en-US" sz="2400" dirty="0"/>
              <a:t>可以通过注册来解除限制。</a:t>
            </a:r>
          </a:p>
          <a:p>
            <a:pPr marL="342900" indent="-342900">
              <a:buFont typeface="Wingdings" panose="05000000000000000000" pitchFamily="2" charset="2"/>
              <a:buChar char="l"/>
            </a:pPr>
            <a:r>
              <a:rPr lang="zh-CN" altLang="en-US" sz="2400" b="1" dirty="0"/>
              <a:t>免费</a:t>
            </a:r>
            <a:r>
              <a:rPr lang="zh-CN" altLang="en-US" sz="2400" b="1" dirty="0" smtClean="0"/>
              <a:t>软件：</a:t>
            </a:r>
            <a:r>
              <a:rPr lang="zh-CN" altLang="en-US" sz="2400" dirty="0" smtClean="0"/>
              <a:t>免费</a:t>
            </a:r>
            <a:r>
              <a:rPr lang="zh-CN" altLang="en-US" sz="2400" dirty="0"/>
              <a:t>软件是软件开发商为了推介其主力软件的产品，扩大公司的影响，免费向用户发放的软件产品。还有一些是自由软件者开发的免费产品。免费软件一般有</a:t>
            </a:r>
            <a:r>
              <a:rPr lang="zh-CN" altLang="en-US" sz="2400" dirty="0" smtClean="0"/>
              <a:t>广告，不用钱，无限制。</a:t>
            </a:r>
            <a:endParaRPr lang="en-US" altLang="zh-CN" sz="2400" dirty="0"/>
          </a:p>
          <a:p>
            <a:pPr marL="342900" indent="-342900">
              <a:buFont typeface="Wingdings" panose="05000000000000000000" pitchFamily="2" charset="2"/>
              <a:buChar char="l"/>
            </a:pPr>
            <a:r>
              <a:rPr lang="zh-CN" altLang="en-US" sz="2400" b="1" dirty="0"/>
              <a:t>开放源代码</a:t>
            </a:r>
            <a:r>
              <a:rPr lang="zh-CN" altLang="en-US" sz="2400" b="1" dirty="0" smtClean="0"/>
              <a:t>软件：</a:t>
            </a:r>
            <a:r>
              <a:rPr lang="zh-CN" altLang="en-US" sz="2400" dirty="0" smtClean="0"/>
              <a:t>开放</a:t>
            </a:r>
            <a:r>
              <a:rPr lang="zh-CN" altLang="en-US" sz="2400" dirty="0"/>
              <a:t>源代码软件是这样一种软件，它们在发布时附带了旨在确保将某些权利授予用户的许可证。当然，最明显的权利就是源代码必须可用，以便用户能自由地修改和再分发该软件</a:t>
            </a:r>
            <a:r>
              <a:rPr lang="zh-CN" altLang="en-US" sz="2400" dirty="0" smtClean="0"/>
              <a:t>。</a:t>
            </a:r>
            <a:endParaRPr lang="zh-CN" altLang="en-US" sz="2400" dirty="0"/>
          </a:p>
        </p:txBody>
      </p:sp>
      <p:sp>
        <p:nvSpPr>
          <p:cNvPr id="3" name="灯片编号占位符 2"/>
          <p:cNvSpPr>
            <a:spLocks noGrp="1"/>
          </p:cNvSpPr>
          <p:nvPr>
            <p:ph type="sldNum" sz="quarter" idx="12"/>
          </p:nvPr>
        </p:nvSpPr>
        <p:spPr/>
        <p:txBody>
          <a:bodyPr/>
          <a:lstStyle/>
          <a:p>
            <a:fld id="{0BD87961-E39D-4DAC-BBE4-2A1C1340B983}" type="slidenum">
              <a:rPr lang="zh-CN" altLang="en-US" smtClean="0"/>
              <a:t>13</a:t>
            </a:fld>
            <a:endParaRPr lang="zh-CN" altLang="en-US"/>
          </a:p>
        </p:txBody>
      </p:sp>
    </p:spTree>
    <p:extLst>
      <p:ext uri="{BB962C8B-B14F-4D97-AF65-F5344CB8AC3E}">
        <p14:creationId xmlns:p14="http://schemas.microsoft.com/office/powerpoint/2010/main" val="27200114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4946" y="531234"/>
            <a:ext cx="11339685" cy="5586102"/>
          </a:xfrm>
        </p:spPr>
        <p:txBody>
          <a:bodyPr>
            <a:normAutofit lnSpcReduction="10000"/>
          </a:bodyPr>
          <a:lstStyle/>
          <a:p>
            <a:pPr>
              <a:lnSpc>
                <a:spcPct val="150000"/>
              </a:lnSpc>
            </a:pPr>
            <a:r>
              <a:rPr lang="en-US" altLang="zh-CN" dirty="0" err="1" smtClean="0"/>
              <a:t>Git</a:t>
            </a:r>
            <a:endParaRPr lang="en-US" altLang="zh-CN" dirty="0" smtClean="0"/>
          </a:p>
          <a:p>
            <a:pPr lvl="1">
              <a:lnSpc>
                <a:spcPct val="150000"/>
              </a:lnSpc>
            </a:pPr>
            <a:r>
              <a:rPr lang="en-US" altLang="zh-CN" dirty="0" err="1" smtClean="0"/>
              <a:t>Git</a:t>
            </a:r>
            <a:r>
              <a:rPr lang="zh-CN" altLang="en-US" dirty="0"/>
              <a:t>是一个分布式版本控制系统，这意味着每个开发人员的计算机上都可以使用整个代码库和历史记录，这样可以轻松进行分支和合并。</a:t>
            </a:r>
            <a:endParaRPr lang="en-US" altLang="zh-CN" dirty="0"/>
          </a:p>
          <a:p>
            <a:pPr>
              <a:lnSpc>
                <a:spcPct val="150000"/>
              </a:lnSpc>
            </a:pPr>
            <a:r>
              <a:rPr lang="en-US" altLang="zh-CN" dirty="0" smtClean="0"/>
              <a:t>GitHub</a:t>
            </a:r>
          </a:p>
          <a:p>
            <a:pPr lvl="1">
              <a:lnSpc>
                <a:spcPct val="150000"/>
              </a:lnSpc>
            </a:pPr>
            <a:r>
              <a:rPr lang="en-US" altLang="zh-CN" dirty="0" smtClean="0"/>
              <a:t>GitHub</a:t>
            </a:r>
            <a:r>
              <a:rPr lang="zh-CN" altLang="en-US" dirty="0"/>
              <a:t>是一家营利性公司，提供基于云的</a:t>
            </a:r>
            <a:r>
              <a:rPr lang="en-US" altLang="zh-CN" dirty="0" err="1"/>
              <a:t>Git</a:t>
            </a:r>
            <a:r>
              <a:rPr lang="zh-CN" altLang="en-US" dirty="0"/>
              <a:t>存储库托管服务</a:t>
            </a:r>
            <a:r>
              <a:rPr lang="zh-CN" altLang="en-US" dirty="0" smtClean="0"/>
              <a:t>。</a:t>
            </a:r>
            <a:endParaRPr lang="en-US" altLang="zh-CN" dirty="0" smtClean="0"/>
          </a:p>
          <a:p>
            <a:pPr>
              <a:lnSpc>
                <a:spcPct val="150000"/>
              </a:lnSpc>
            </a:pPr>
            <a:r>
              <a:rPr lang="en-US" altLang="zh-CN" dirty="0" err="1" smtClean="0"/>
              <a:t>Gitee</a:t>
            </a:r>
            <a:endParaRPr lang="en-US" altLang="zh-CN" dirty="0" smtClean="0"/>
          </a:p>
          <a:p>
            <a:pPr lvl="1">
              <a:lnSpc>
                <a:spcPct val="150000"/>
              </a:lnSpc>
            </a:pPr>
            <a:r>
              <a:rPr lang="en-US" altLang="zh-CN" dirty="0" err="1" smtClean="0"/>
              <a:t>Gitee</a:t>
            </a:r>
            <a:r>
              <a:rPr lang="zh-CN" altLang="en-US" dirty="0" smtClean="0"/>
              <a:t>和</a:t>
            </a:r>
            <a:r>
              <a:rPr lang="en-US" altLang="zh-CN" dirty="0" err="1" smtClean="0"/>
              <a:t>Github</a:t>
            </a:r>
            <a:r>
              <a:rPr lang="zh-CN" altLang="en-US" dirty="0" smtClean="0"/>
              <a:t>是同一类</a:t>
            </a:r>
            <a:r>
              <a:rPr lang="zh-CN" altLang="en-US" dirty="0"/>
              <a:t>，在云端。区别是</a:t>
            </a:r>
            <a:r>
              <a:rPr lang="en-US" altLang="zh-CN" dirty="0" err="1"/>
              <a:t>Github</a:t>
            </a:r>
            <a:r>
              <a:rPr lang="zh-CN" altLang="en-US" dirty="0"/>
              <a:t>是国外的，</a:t>
            </a:r>
            <a:r>
              <a:rPr lang="en-US" altLang="zh-CN" dirty="0" err="1"/>
              <a:t>Gitee</a:t>
            </a:r>
            <a:r>
              <a:rPr lang="zh-CN" altLang="en-US" dirty="0"/>
              <a:t>是国内的。二者的</a:t>
            </a:r>
            <a:r>
              <a:rPr lang="zh-CN" altLang="en-US" dirty="0" smtClean="0"/>
              <a:t>使用均需要</a:t>
            </a:r>
            <a:r>
              <a:rPr lang="zh-CN" altLang="en-US" dirty="0"/>
              <a:t>借助</a:t>
            </a:r>
            <a:r>
              <a:rPr lang="en-US" altLang="zh-CN" dirty="0" err="1"/>
              <a:t>Git</a:t>
            </a:r>
            <a:r>
              <a:rPr lang="zh-CN" altLang="en-US" dirty="0" smtClean="0"/>
              <a:t>。</a:t>
            </a:r>
            <a:endParaRPr lang="en-US" altLang="zh-CN" dirty="0" smtClean="0"/>
          </a:p>
          <a:p>
            <a:pPr lvl="1">
              <a:lnSpc>
                <a:spcPct val="150000"/>
              </a:lnSpc>
            </a:pPr>
            <a:r>
              <a:rPr lang="en-US" altLang="zh-CN" dirty="0" err="1" smtClean="0"/>
              <a:t>Gitee</a:t>
            </a:r>
            <a:r>
              <a:rPr lang="zh-CN" altLang="en-US" dirty="0" smtClean="0"/>
              <a:t>是</a:t>
            </a:r>
            <a:r>
              <a:rPr lang="en-US" altLang="zh-CN" dirty="0" smtClean="0"/>
              <a:t>OSCHINA.NET </a:t>
            </a:r>
            <a:r>
              <a:rPr lang="zh-CN" altLang="en-US" dirty="0"/>
              <a:t>推出的代码托管</a:t>
            </a:r>
            <a:r>
              <a:rPr lang="zh-CN" altLang="en-US" dirty="0" smtClean="0"/>
              <a:t>平台，支持 </a:t>
            </a:r>
            <a:r>
              <a:rPr lang="en-US" altLang="zh-CN" dirty="0" err="1" smtClean="0"/>
              <a:t>Git</a:t>
            </a:r>
            <a:r>
              <a:rPr lang="en-US" altLang="zh-CN" dirty="0" smtClean="0"/>
              <a:t> </a:t>
            </a:r>
            <a:r>
              <a:rPr lang="zh-CN" altLang="en-US" dirty="0" smtClean="0"/>
              <a:t>，提供</a:t>
            </a:r>
            <a:r>
              <a:rPr lang="zh-CN" altLang="en-US" dirty="0"/>
              <a:t>免费的私有仓库托管。目前已有超过 </a:t>
            </a:r>
            <a:r>
              <a:rPr lang="en-US" altLang="zh-CN" dirty="0"/>
              <a:t>350 </a:t>
            </a:r>
            <a:r>
              <a:rPr lang="zh-CN" altLang="en-US" dirty="0"/>
              <a:t>万的开发者选择码云。</a:t>
            </a:r>
            <a:endParaRPr lang="en-US" altLang="zh-CN" dirty="0" smtClean="0"/>
          </a:p>
          <a:p>
            <a:endParaRPr lang="zh-CN" altLang="en-US" dirty="0"/>
          </a:p>
        </p:txBody>
      </p:sp>
      <p:sp>
        <p:nvSpPr>
          <p:cNvPr id="4" name="灯片编号占位符 3"/>
          <p:cNvSpPr>
            <a:spLocks noGrp="1"/>
          </p:cNvSpPr>
          <p:nvPr>
            <p:ph type="sldNum" sz="quarter" idx="12"/>
          </p:nvPr>
        </p:nvSpPr>
        <p:spPr/>
        <p:txBody>
          <a:bodyPr/>
          <a:lstStyle/>
          <a:p>
            <a:fld id="{0BD87961-E39D-4DAC-BBE4-2A1C1340B983}" type="slidenum">
              <a:rPr lang="zh-CN" altLang="en-US" smtClean="0"/>
              <a:t>14</a:t>
            </a:fld>
            <a:endParaRPr lang="zh-CN" altLang="en-US"/>
          </a:p>
        </p:txBody>
      </p:sp>
    </p:spTree>
    <p:extLst>
      <p:ext uri="{BB962C8B-B14F-4D97-AF65-F5344CB8AC3E}">
        <p14:creationId xmlns:p14="http://schemas.microsoft.com/office/powerpoint/2010/main" val="298895699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307848" y="192342"/>
            <a:ext cx="10972800" cy="1143000"/>
          </a:xfrm>
        </p:spPr>
        <p:txBody>
          <a:bodyPr/>
          <a:lstStyle/>
          <a:p>
            <a:r>
              <a:rPr lang="zh-CN" altLang="en-US" dirty="0" smtClean="0"/>
              <a:t>什么是版本控制</a:t>
            </a:r>
            <a:endParaRPr lang="zh-CN" altLang="en-US" dirty="0"/>
          </a:p>
        </p:txBody>
      </p:sp>
      <p:pic>
        <p:nvPicPr>
          <p:cNvPr id="1026" name="Picture 2" descr="lots-of-doc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5118" y="1228643"/>
            <a:ext cx="3733800" cy="2533650"/>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p:cNvPicPr>
            <a:picLocks noChangeAspect="1"/>
          </p:cNvPicPr>
          <p:nvPr/>
        </p:nvPicPr>
        <p:blipFill>
          <a:blip r:embed="rId3"/>
          <a:stretch>
            <a:fillRect/>
          </a:stretch>
        </p:blipFill>
        <p:spPr>
          <a:xfrm>
            <a:off x="5231701" y="1215308"/>
            <a:ext cx="6960299" cy="2214641"/>
          </a:xfrm>
          <a:prstGeom prst="rect">
            <a:avLst/>
          </a:prstGeom>
        </p:spPr>
      </p:pic>
      <p:sp>
        <p:nvSpPr>
          <p:cNvPr id="5" name="右箭头 4"/>
          <p:cNvSpPr/>
          <p:nvPr/>
        </p:nvSpPr>
        <p:spPr>
          <a:xfrm>
            <a:off x="4457790" y="2112469"/>
            <a:ext cx="645459" cy="42031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灯片编号占位符 1"/>
          <p:cNvSpPr>
            <a:spLocks noGrp="1"/>
          </p:cNvSpPr>
          <p:nvPr>
            <p:ph type="sldNum" sz="quarter" idx="12"/>
          </p:nvPr>
        </p:nvSpPr>
        <p:spPr/>
        <p:txBody>
          <a:bodyPr/>
          <a:lstStyle/>
          <a:p>
            <a:fld id="{0BD87961-E39D-4DAC-BBE4-2A1C1340B983}" type="slidenum">
              <a:rPr lang="zh-CN" altLang="en-US" smtClean="0"/>
              <a:t>15</a:t>
            </a:fld>
            <a:endParaRPr lang="zh-CN" altLang="en-US"/>
          </a:p>
        </p:txBody>
      </p:sp>
      <p:sp>
        <p:nvSpPr>
          <p:cNvPr id="7" name="内容占位符 2"/>
          <p:cNvSpPr txBox="1">
            <a:spLocks/>
          </p:cNvSpPr>
          <p:nvPr/>
        </p:nvSpPr>
        <p:spPr>
          <a:xfrm>
            <a:off x="510938" y="3712464"/>
            <a:ext cx="11339685" cy="2852928"/>
          </a:xfrm>
          <a:prstGeom prst="rect">
            <a:avLst/>
          </a:prstGeom>
        </p:spPr>
        <p:txBody>
          <a:bodyPr vert="horz">
            <a:normAutofit lnSpcReduction="10000"/>
          </a:bodyPr>
          <a:lst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a:lstStyle>
          <a:p>
            <a:pPr marL="0" indent="0">
              <a:buFont typeface="Wingdings 3"/>
              <a:buNone/>
            </a:pPr>
            <a:r>
              <a:rPr lang="zh-CN" altLang="en-US" dirty="0" smtClean="0"/>
              <a:t>版本控制可帮助开发人员跟踪和管理软件项目代码的更改。</a:t>
            </a:r>
            <a:r>
              <a:rPr lang="zh-CN" altLang="en-US" smtClean="0"/>
              <a:t>例如：对于一个大项目</a:t>
            </a:r>
            <a:r>
              <a:rPr lang="zh-CN" altLang="en-US" dirty="0" smtClean="0"/>
              <a:t>。如果核心开发</a:t>
            </a:r>
            <a:r>
              <a:rPr lang="zh-CN" altLang="en-US" smtClean="0"/>
              <a:t>人员想在代码</a:t>
            </a:r>
            <a:r>
              <a:rPr lang="zh-CN" altLang="en-US" dirty="0" smtClean="0"/>
              <a:t>库的某个特定部分上工作</a:t>
            </a:r>
            <a:r>
              <a:rPr lang="zh-CN" altLang="en-US" smtClean="0"/>
              <a:t>，那么直接</a:t>
            </a:r>
            <a:r>
              <a:rPr lang="zh-CN" altLang="en-US" dirty="0" smtClean="0"/>
              <a:t>编辑“官方”源代码是不</a:t>
            </a:r>
            <a:r>
              <a:rPr lang="zh-CN" altLang="en-US" smtClean="0"/>
              <a:t>安全或无效的。而版本控制</a:t>
            </a:r>
            <a:r>
              <a:rPr lang="zh-CN" altLang="en-US" dirty="0" smtClean="0"/>
              <a:t>允许开发人员安全地完成分支和合并。通过分支，开发人员复制部分源代码并可安全更改代码的这一部分，而不会影响项目的其余部分。而且，一旦开发人员使他的部分代码正常工作，他就可以将该代码合并回主要源代码以使其正式化。然后跟踪所有这些更改，并在需要时还原。</a:t>
            </a:r>
          </a:p>
          <a:p>
            <a:endParaRPr lang="zh-CN" altLang="en-US" dirty="0"/>
          </a:p>
        </p:txBody>
      </p:sp>
    </p:spTree>
    <p:extLst>
      <p:ext uri="{BB962C8B-B14F-4D97-AF65-F5344CB8AC3E}">
        <p14:creationId xmlns:p14="http://schemas.microsoft.com/office/powerpoint/2010/main" val="15081069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600" y="1481330"/>
            <a:ext cx="11003280" cy="3867910"/>
          </a:xfrm>
        </p:spPr>
        <p:txBody>
          <a:bodyPr>
            <a:normAutofit/>
          </a:bodyPr>
          <a:lstStyle/>
          <a:p>
            <a:pPr>
              <a:lnSpc>
                <a:spcPct val="150000"/>
              </a:lnSpc>
            </a:pPr>
            <a:r>
              <a:rPr lang="zh-CN" altLang="en-US" sz="3200" dirty="0" smtClean="0"/>
              <a:t>手工管理</a:t>
            </a:r>
            <a:endParaRPr lang="en-US" altLang="zh-CN" sz="3200" dirty="0" smtClean="0"/>
          </a:p>
          <a:p>
            <a:pPr>
              <a:lnSpc>
                <a:spcPct val="150000"/>
              </a:lnSpc>
            </a:pPr>
            <a:r>
              <a:rPr lang="zh-CN" altLang="en-US" sz="3200" dirty="0" smtClean="0"/>
              <a:t>日志记录</a:t>
            </a:r>
            <a:endParaRPr lang="en-US" altLang="zh-CN" sz="3200" dirty="0" smtClean="0"/>
          </a:p>
          <a:p>
            <a:pPr>
              <a:lnSpc>
                <a:spcPct val="150000"/>
              </a:lnSpc>
            </a:pPr>
            <a:r>
              <a:rPr lang="zh-CN" altLang="en-US" sz="3200" dirty="0" smtClean="0"/>
              <a:t>集中式版本控制</a:t>
            </a:r>
            <a:r>
              <a:rPr lang="en-US" altLang="zh-CN" sz="3200" dirty="0" smtClean="0"/>
              <a:t>(</a:t>
            </a:r>
            <a:r>
              <a:rPr lang="en-US" altLang="zh-CN" sz="3200" dirty="0" err="1" smtClean="0"/>
              <a:t>cvs,svn</a:t>
            </a:r>
            <a:r>
              <a:rPr lang="en-US" altLang="zh-CN" sz="3200" dirty="0" smtClean="0"/>
              <a:t>)</a:t>
            </a:r>
          </a:p>
          <a:p>
            <a:pPr>
              <a:lnSpc>
                <a:spcPct val="150000"/>
              </a:lnSpc>
            </a:pPr>
            <a:r>
              <a:rPr lang="zh-CN" altLang="en-US" sz="3200" dirty="0" smtClean="0"/>
              <a:t>分布式版本控制</a:t>
            </a:r>
            <a:r>
              <a:rPr lang="en-US" altLang="zh-CN" sz="3200" dirty="0" smtClean="0"/>
              <a:t>(</a:t>
            </a:r>
            <a:r>
              <a:rPr lang="en-US" altLang="zh-CN" sz="3200" dirty="0" err="1" smtClean="0"/>
              <a:t>git</a:t>
            </a:r>
            <a:r>
              <a:rPr lang="en-US" altLang="zh-CN" sz="3200" dirty="0" smtClean="0"/>
              <a:t>)</a:t>
            </a:r>
            <a:endParaRPr lang="zh-CN" altLang="en-US" sz="3200" dirty="0"/>
          </a:p>
        </p:txBody>
      </p:sp>
      <p:sp>
        <p:nvSpPr>
          <p:cNvPr id="3" name="标题 2"/>
          <p:cNvSpPr>
            <a:spLocks noGrp="1"/>
          </p:cNvSpPr>
          <p:nvPr>
            <p:ph type="title"/>
          </p:nvPr>
        </p:nvSpPr>
        <p:spPr/>
        <p:txBody>
          <a:bodyPr/>
          <a:lstStyle/>
          <a:p>
            <a:r>
              <a:rPr lang="zh-CN" altLang="en-US" dirty="0" smtClean="0"/>
              <a:t>版本控制的历史</a:t>
            </a:r>
            <a:endParaRPr lang="zh-CN" altLang="en-US" dirty="0"/>
          </a:p>
        </p:txBody>
      </p:sp>
      <p:sp>
        <p:nvSpPr>
          <p:cNvPr id="4" name="灯片编号占位符 3"/>
          <p:cNvSpPr>
            <a:spLocks noGrp="1"/>
          </p:cNvSpPr>
          <p:nvPr>
            <p:ph type="sldNum" sz="quarter" idx="12"/>
          </p:nvPr>
        </p:nvSpPr>
        <p:spPr/>
        <p:txBody>
          <a:bodyPr/>
          <a:lstStyle/>
          <a:p>
            <a:fld id="{0BD87961-E39D-4DAC-BBE4-2A1C1340B983}" type="slidenum">
              <a:rPr lang="zh-CN" altLang="en-US" smtClean="0"/>
              <a:t>16</a:t>
            </a:fld>
            <a:endParaRPr lang="zh-CN" altLang="en-US"/>
          </a:p>
        </p:txBody>
      </p:sp>
    </p:spTree>
    <p:extLst>
      <p:ext uri="{BB962C8B-B14F-4D97-AF65-F5344CB8AC3E}">
        <p14:creationId xmlns:p14="http://schemas.microsoft.com/office/powerpoint/2010/main" val="35873734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err="1" smtClean="0"/>
              <a:t>Git</a:t>
            </a:r>
            <a:r>
              <a:rPr lang="zh-CN" altLang="en-US" dirty="0" smtClean="0"/>
              <a:t>的基本概念</a:t>
            </a:r>
            <a:endParaRPr lang="zh-CN" altLang="en-US" dirty="0"/>
          </a:p>
        </p:txBody>
      </p:sp>
      <p:pic>
        <p:nvPicPr>
          <p:cNvPr id="4" name="内容占位符 3">
            <a:extLst>
              <a:ext uri="{FF2B5EF4-FFF2-40B4-BE49-F238E27FC236}">
                <a16:creationId xmlns:a16="http://schemas.microsoft.com/office/drawing/2014/main" id="{C381E88F-4E3C-4142-87EE-0F8A6C6C916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9600" y="2152501"/>
            <a:ext cx="10972800" cy="3183235"/>
          </a:xfrm>
          <a:prstGeom prst="rect">
            <a:avLst/>
          </a:prstGeom>
        </p:spPr>
      </p:pic>
      <p:sp>
        <p:nvSpPr>
          <p:cNvPr id="2" name="灯片编号占位符 1"/>
          <p:cNvSpPr>
            <a:spLocks noGrp="1"/>
          </p:cNvSpPr>
          <p:nvPr>
            <p:ph type="sldNum" sz="quarter" idx="12"/>
          </p:nvPr>
        </p:nvSpPr>
        <p:spPr/>
        <p:txBody>
          <a:bodyPr/>
          <a:lstStyle/>
          <a:p>
            <a:fld id="{0BD87961-E39D-4DAC-BBE4-2A1C1340B983}" type="slidenum">
              <a:rPr lang="zh-CN" altLang="en-US" smtClean="0"/>
              <a:t>17</a:t>
            </a:fld>
            <a:endParaRPr lang="zh-CN" altLang="en-US"/>
          </a:p>
        </p:txBody>
      </p:sp>
    </p:spTree>
    <p:extLst>
      <p:ext uri="{BB962C8B-B14F-4D97-AF65-F5344CB8AC3E}">
        <p14:creationId xmlns:p14="http://schemas.microsoft.com/office/powerpoint/2010/main" val="12515354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600" y="1481329"/>
            <a:ext cx="10637520" cy="1417319"/>
          </a:xfrm>
        </p:spPr>
        <p:txBody>
          <a:bodyPr/>
          <a:lstStyle/>
          <a:p>
            <a:pPr>
              <a:lnSpc>
                <a:spcPct val="150000"/>
              </a:lnSpc>
            </a:pPr>
            <a:r>
              <a:rPr lang="zh-CN" altLang="en-US" dirty="0" smtClean="0"/>
              <a:t>工作区</a:t>
            </a:r>
            <a:r>
              <a:rPr lang="en-US" altLang="zh-CN" dirty="0" smtClean="0"/>
              <a:t>(</a:t>
            </a:r>
            <a:r>
              <a:rPr lang="en-US" altLang="zh-CN" dirty="0"/>
              <a:t>Working </a:t>
            </a:r>
            <a:r>
              <a:rPr lang="en-US" altLang="zh-CN" dirty="0" smtClean="0"/>
              <a:t>Directory)-</a:t>
            </a:r>
            <a:r>
              <a:rPr lang="zh-CN" altLang="en-US" dirty="0" smtClean="0"/>
              <a:t>当前的工作目录</a:t>
            </a:r>
            <a:endParaRPr lang="en-US" altLang="zh-CN" dirty="0" smtClean="0"/>
          </a:p>
          <a:p>
            <a:pPr>
              <a:lnSpc>
                <a:spcPct val="150000"/>
              </a:lnSpc>
            </a:pPr>
            <a:r>
              <a:rPr lang="zh-CN" altLang="en-US" dirty="0" smtClean="0"/>
              <a:t>版本库</a:t>
            </a:r>
            <a:r>
              <a:rPr lang="en-US" altLang="zh-CN" dirty="0" smtClean="0"/>
              <a:t>(Repository)</a:t>
            </a:r>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zh-CN" altLang="en-US" dirty="0"/>
          </a:p>
          <a:p>
            <a:endParaRPr lang="zh-CN" altLang="en-US" dirty="0"/>
          </a:p>
        </p:txBody>
      </p:sp>
      <p:sp>
        <p:nvSpPr>
          <p:cNvPr id="3" name="标题 2"/>
          <p:cNvSpPr>
            <a:spLocks noGrp="1"/>
          </p:cNvSpPr>
          <p:nvPr>
            <p:ph type="title"/>
          </p:nvPr>
        </p:nvSpPr>
        <p:spPr/>
        <p:txBody>
          <a:bodyPr/>
          <a:lstStyle/>
          <a:p>
            <a:r>
              <a:rPr lang="zh-CN" altLang="en-US" dirty="0" smtClean="0"/>
              <a:t>工作区，暂存区，版本库</a:t>
            </a:r>
            <a:endParaRPr lang="zh-CN" altLang="en-US" dirty="0"/>
          </a:p>
        </p:txBody>
      </p:sp>
      <p:pic>
        <p:nvPicPr>
          <p:cNvPr id="6149" name="Picture 5" descr="git-rep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6774" y="2987398"/>
            <a:ext cx="6591444" cy="3367681"/>
          </a:xfrm>
          <a:prstGeom prst="rect">
            <a:avLst/>
          </a:prstGeom>
          <a:noFill/>
          <a:extLst>
            <a:ext uri="{909E8E84-426E-40DD-AFC4-6F175D3DCCD1}">
              <a14:hiddenFill xmlns:a14="http://schemas.microsoft.com/office/drawing/2010/main">
                <a:solidFill>
                  <a:srgbClr val="FFFFFF"/>
                </a:solidFill>
              </a14:hiddenFill>
            </a:ext>
          </a:extLst>
        </p:spPr>
      </p:pic>
      <p:sp>
        <p:nvSpPr>
          <p:cNvPr id="4" name="灯片编号占位符 3"/>
          <p:cNvSpPr>
            <a:spLocks noGrp="1"/>
          </p:cNvSpPr>
          <p:nvPr>
            <p:ph type="sldNum" sz="quarter" idx="12"/>
          </p:nvPr>
        </p:nvSpPr>
        <p:spPr/>
        <p:txBody>
          <a:bodyPr/>
          <a:lstStyle/>
          <a:p>
            <a:fld id="{0BD87961-E39D-4DAC-BBE4-2A1C1340B983}" type="slidenum">
              <a:rPr lang="zh-CN" altLang="en-US" smtClean="0"/>
              <a:t>18</a:t>
            </a:fld>
            <a:endParaRPr lang="zh-CN" altLang="en-US"/>
          </a:p>
        </p:txBody>
      </p:sp>
    </p:spTree>
    <p:extLst>
      <p:ext uri="{BB962C8B-B14F-4D97-AF65-F5344CB8AC3E}">
        <p14:creationId xmlns:p14="http://schemas.microsoft.com/office/powerpoint/2010/main" val="64442533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9" y="1481328"/>
            <a:ext cx="11385885" cy="5087913"/>
          </a:xfrm>
        </p:spPr>
        <p:txBody>
          <a:bodyPr>
            <a:normAutofit lnSpcReduction="10000"/>
          </a:bodyPr>
          <a:lstStyle/>
          <a:p>
            <a:pPr>
              <a:lnSpc>
                <a:spcPct val="130000"/>
              </a:lnSpc>
            </a:pPr>
            <a:r>
              <a:rPr lang="zh-CN" altLang="en-US" sz="2800" dirty="0" smtClean="0"/>
              <a:t>在安装好</a:t>
            </a:r>
            <a:r>
              <a:rPr lang="en-US" altLang="zh-CN" sz="2800" dirty="0" err="1" smtClean="0"/>
              <a:t>Git</a:t>
            </a:r>
            <a:r>
              <a:rPr lang="zh-CN" altLang="en-US" sz="2800" dirty="0" smtClean="0"/>
              <a:t>后，可以创建一个本地版本库。</a:t>
            </a:r>
            <a:endParaRPr lang="en-US" altLang="zh-CN" sz="2800" dirty="0" smtClean="0"/>
          </a:p>
          <a:p>
            <a:pPr>
              <a:lnSpc>
                <a:spcPct val="130000"/>
              </a:lnSpc>
            </a:pPr>
            <a:r>
              <a:rPr lang="zh-CN" altLang="en-US" sz="2800" dirty="0" smtClean="0"/>
              <a:t>首先需要</a:t>
            </a:r>
            <a:r>
              <a:rPr lang="zh-CN" altLang="en-US" sz="2800" dirty="0"/>
              <a:t>创建一个目录，</a:t>
            </a:r>
            <a:r>
              <a:rPr lang="zh-CN" altLang="en-US" sz="2800" dirty="0" smtClean="0"/>
              <a:t>做为本地</a:t>
            </a:r>
            <a:r>
              <a:rPr lang="zh-CN" altLang="en-US" sz="2800" dirty="0"/>
              <a:t>版本库，然后使用</a:t>
            </a:r>
            <a:r>
              <a:rPr lang="en-US" altLang="zh-CN" sz="2800" dirty="0" err="1"/>
              <a:t>git</a:t>
            </a:r>
            <a:r>
              <a:rPr lang="en-US" altLang="zh-CN" sz="2800" dirty="0"/>
              <a:t> </a:t>
            </a:r>
            <a:r>
              <a:rPr lang="en-US" altLang="zh-CN" sz="2800" dirty="0" err="1"/>
              <a:t>init</a:t>
            </a:r>
            <a:r>
              <a:rPr lang="zh-CN" altLang="en-US" sz="2800" dirty="0"/>
              <a:t>命令，将其初始化为一个本地版本</a:t>
            </a:r>
            <a:r>
              <a:rPr lang="zh-CN" altLang="en-US" sz="2800" dirty="0" smtClean="0"/>
              <a:t>库。如下所示：</a:t>
            </a:r>
            <a:endParaRPr lang="en-US" altLang="zh-CN" sz="2800" dirty="0" smtClean="0"/>
          </a:p>
          <a:p>
            <a:pPr marL="393192" lvl="1" indent="0">
              <a:lnSpc>
                <a:spcPct val="130000"/>
              </a:lnSpc>
              <a:buNone/>
            </a:pPr>
            <a:r>
              <a:rPr lang="en-US" altLang="zh-CN" sz="2800" dirty="0"/>
              <a:t>#</a:t>
            </a:r>
            <a:r>
              <a:rPr lang="zh-CN" altLang="en-US" sz="2800" dirty="0"/>
              <a:t>在</a:t>
            </a:r>
            <a:r>
              <a:rPr lang="en-US" altLang="zh-CN" sz="2800" dirty="0"/>
              <a:t>/home</a:t>
            </a:r>
            <a:r>
              <a:rPr lang="zh-CN" altLang="en-US" sz="2800" dirty="0"/>
              <a:t>目录下，创建</a:t>
            </a:r>
            <a:r>
              <a:rPr lang="en-US" altLang="zh-CN" sz="2800" dirty="0"/>
              <a:t>repo</a:t>
            </a:r>
            <a:r>
              <a:rPr lang="zh-CN" altLang="en-US" sz="2800" dirty="0"/>
              <a:t>目录</a:t>
            </a:r>
          </a:p>
          <a:p>
            <a:pPr marL="393192" lvl="1" indent="0">
              <a:lnSpc>
                <a:spcPct val="130000"/>
              </a:lnSpc>
              <a:buNone/>
            </a:pPr>
            <a:r>
              <a:rPr lang="en-US" altLang="zh-CN" sz="2800" dirty="0" err="1">
                <a:solidFill>
                  <a:srgbClr val="FF0000"/>
                </a:solidFill>
              </a:rPr>
              <a:t>mkdir</a:t>
            </a:r>
            <a:r>
              <a:rPr lang="en-US" altLang="zh-CN" sz="2800" dirty="0">
                <a:solidFill>
                  <a:srgbClr val="FF0000"/>
                </a:solidFill>
              </a:rPr>
              <a:t> /home/repo</a:t>
            </a:r>
          </a:p>
          <a:p>
            <a:pPr marL="393192" lvl="1" indent="0">
              <a:lnSpc>
                <a:spcPct val="130000"/>
              </a:lnSpc>
              <a:buNone/>
            </a:pPr>
            <a:r>
              <a:rPr lang="en-US" altLang="zh-CN" sz="2800" dirty="0"/>
              <a:t>#</a:t>
            </a:r>
            <a:r>
              <a:rPr lang="zh-CN" altLang="en-US" sz="2800" dirty="0"/>
              <a:t>进入</a:t>
            </a:r>
            <a:r>
              <a:rPr lang="en-US" altLang="zh-CN" sz="2800" dirty="0"/>
              <a:t>repo</a:t>
            </a:r>
            <a:r>
              <a:rPr lang="zh-CN" altLang="en-US" sz="2800" dirty="0"/>
              <a:t>目录</a:t>
            </a:r>
          </a:p>
          <a:p>
            <a:pPr marL="393192" lvl="1" indent="0">
              <a:lnSpc>
                <a:spcPct val="130000"/>
              </a:lnSpc>
              <a:buNone/>
            </a:pPr>
            <a:r>
              <a:rPr lang="en-US" altLang="zh-CN" sz="2800" dirty="0">
                <a:solidFill>
                  <a:srgbClr val="FF0000"/>
                </a:solidFill>
              </a:rPr>
              <a:t>cd /home/repo</a:t>
            </a:r>
          </a:p>
          <a:p>
            <a:pPr marL="393192" lvl="1" indent="0">
              <a:lnSpc>
                <a:spcPct val="130000"/>
              </a:lnSpc>
              <a:buNone/>
            </a:pPr>
            <a:r>
              <a:rPr lang="en-US" altLang="zh-CN" sz="2800" dirty="0"/>
              <a:t>#</a:t>
            </a:r>
            <a:r>
              <a:rPr lang="zh-CN" altLang="en-US" sz="2800" dirty="0"/>
              <a:t>将</a:t>
            </a:r>
            <a:r>
              <a:rPr lang="en-US" altLang="zh-CN" sz="2800" dirty="0"/>
              <a:t>repo</a:t>
            </a:r>
            <a:r>
              <a:rPr lang="zh-CN" altLang="en-US" sz="2800" dirty="0"/>
              <a:t>初始化为一个本地版本库</a:t>
            </a:r>
          </a:p>
          <a:p>
            <a:pPr marL="393192" lvl="1" indent="0">
              <a:lnSpc>
                <a:spcPct val="130000"/>
              </a:lnSpc>
              <a:buNone/>
            </a:pPr>
            <a:r>
              <a:rPr lang="en-US" altLang="zh-CN" sz="2800" dirty="0" err="1">
                <a:solidFill>
                  <a:srgbClr val="FF0000"/>
                </a:solidFill>
              </a:rPr>
              <a:t>git</a:t>
            </a:r>
            <a:r>
              <a:rPr lang="en-US" altLang="zh-CN" sz="2800" dirty="0">
                <a:solidFill>
                  <a:srgbClr val="FF0000"/>
                </a:solidFill>
              </a:rPr>
              <a:t> </a:t>
            </a:r>
            <a:r>
              <a:rPr lang="en-US" altLang="zh-CN" sz="2800" dirty="0" err="1">
                <a:solidFill>
                  <a:srgbClr val="FF0000"/>
                </a:solidFill>
              </a:rPr>
              <a:t>init</a:t>
            </a:r>
            <a:endParaRPr lang="en-US" altLang="zh-CN" sz="2800" dirty="0" smtClean="0">
              <a:solidFill>
                <a:srgbClr val="FF0000"/>
              </a:solidFill>
            </a:endParaRPr>
          </a:p>
        </p:txBody>
      </p:sp>
      <p:sp>
        <p:nvSpPr>
          <p:cNvPr id="3" name="标题 2"/>
          <p:cNvSpPr>
            <a:spLocks noGrp="1"/>
          </p:cNvSpPr>
          <p:nvPr>
            <p:ph type="title"/>
          </p:nvPr>
        </p:nvSpPr>
        <p:spPr/>
        <p:txBody>
          <a:bodyPr>
            <a:normAutofit/>
          </a:bodyPr>
          <a:lstStyle/>
          <a:p>
            <a:r>
              <a:rPr lang="zh-CN" altLang="en-US" b="0" dirty="0" smtClean="0">
                <a:effectLst/>
              </a:rPr>
              <a:t>本地版本库</a:t>
            </a:r>
            <a:r>
              <a:rPr lang="en-US" altLang="zh-CN" b="0" dirty="0" smtClean="0">
                <a:effectLst/>
              </a:rPr>
              <a:t>-</a:t>
            </a:r>
            <a:r>
              <a:rPr lang="zh-CN" altLang="en-US" b="0" dirty="0" smtClean="0">
                <a:effectLst/>
              </a:rPr>
              <a:t>（</a:t>
            </a:r>
            <a:r>
              <a:rPr lang="en-US" altLang="zh-CN" b="0" dirty="0" smtClean="0">
                <a:effectLst/>
              </a:rPr>
              <a:t>1</a:t>
            </a:r>
            <a:r>
              <a:rPr lang="zh-CN" altLang="en-US" b="0" dirty="0" smtClean="0">
                <a:effectLst/>
              </a:rPr>
              <a:t>）创建本地版本库</a:t>
            </a:r>
            <a:endParaRPr lang="zh-CN" altLang="en-US" dirty="0"/>
          </a:p>
        </p:txBody>
      </p:sp>
      <p:sp>
        <p:nvSpPr>
          <p:cNvPr id="4" name="灯片编号占位符 3"/>
          <p:cNvSpPr>
            <a:spLocks noGrp="1"/>
          </p:cNvSpPr>
          <p:nvPr>
            <p:ph type="sldNum" sz="quarter" idx="12"/>
          </p:nvPr>
        </p:nvSpPr>
        <p:spPr/>
        <p:txBody>
          <a:bodyPr/>
          <a:lstStyle/>
          <a:p>
            <a:fld id="{0BD87961-E39D-4DAC-BBE4-2A1C1340B983}" type="slidenum">
              <a:rPr lang="zh-CN" altLang="en-US" smtClean="0"/>
              <a:t>19</a:t>
            </a:fld>
            <a:endParaRPr lang="zh-CN" altLang="en-US"/>
          </a:p>
        </p:txBody>
      </p:sp>
    </p:spTree>
    <p:extLst>
      <p:ext uri="{BB962C8B-B14F-4D97-AF65-F5344CB8AC3E}">
        <p14:creationId xmlns:p14="http://schemas.microsoft.com/office/powerpoint/2010/main" val="13182943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109728" indent="0">
              <a:lnSpc>
                <a:spcPct val="150000"/>
              </a:lnSpc>
              <a:buNone/>
            </a:pPr>
            <a:r>
              <a:rPr lang="en-US" altLang="zh-CN" sz="3200" dirty="0"/>
              <a:t>#</a:t>
            </a:r>
            <a:r>
              <a:rPr lang="zh-CN" altLang="en-US" sz="3200" dirty="0"/>
              <a:t>创建</a:t>
            </a:r>
            <a:r>
              <a:rPr lang="en-US" altLang="zh-CN" sz="3200" dirty="0"/>
              <a:t>helloGit.txt</a:t>
            </a:r>
            <a:r>
              <a:rPr lang="zh-CN" altLang="en-US" sz="3200" dirty="0"/>
              <a:t>文件</a:t>
            </a:r>
          </a:p>
          <a:p>
            <a:pPr marL="109728" indent="0">
              <a:lnSpc>
                <a:spcPct val="150000"/>
              </a:lnSpc>
              <a:buNone/>
            </a:pPr>
            <a:r>
              <a:rPr lang="en-US" altLang="zh-CN" sz="3200" dirty="0">
                <a:solidFill>
                  <a:srgbClr val="FF0000"/>
                </a:solidFill>
              </a:rPr>
              <a:t>touch helloGit.txt</a:t>
            </a:r>
          </a:p>
          <a:p>
            <a:pPr marL="109728" indent="0">
              <a:lnSpc>
                <a:spcPct val="150000"/>
              </a:lnSpc>
              <a:buNone/>
            </a:pPr>
            <a:r>
              <a:rPr lang="en-US" altLang="zh-CN" sz="3200" dirty="0" smtClean="0"/>
              <a:t>#</a:t>
            </a:r>
            <a:r>
              <a:rPr lang="zh-CN" altLang="en-US" sz="3200" dirty="0" smtClean="0"/>
              <a:t>提交</a:t>
            </a:r>
            <a:r>
              <a:rPr lang="en-US" altLang="zh-CN" sz="3200" dirty="0"/>
              <a:t>helloGit.txt</a:t>
            </a:r>
            <a:r>
              <a:rPr lang="zh-CN" altLang="en-US" sz="3200" dirty="0"/>
              <a:t>到暂存</a:t>
            </a:r>
            <a:r>
              <a:rPr lang="zh-CN" altLang="en-US" sz="3200" dirty="0" smtClean="0"/>
              <a:t>区</a:t>
            </a:r>
            <a:endParaRPr lang="en-US" altLang="zh-CN" sz="3200" dirty="0" smtClean="0"/>
          </a:p>
          <a:p>
            <a:pPr marL="109728" indent="0">
              <a:lnSpc>
                <a:spcPct val="150000"/>
              </a:lnSpc>
              <a:buNone/>
            </a:pPr>
            <a:r>
              <a:rPr lang="en-US" altLang="zh-CN" sz="3200" dirty="0" err="1" smtClean="0">
                <a:solidFill>
                  <a:srgbClr val="FF0000"/>
                </a:solidFill>
              </a:rPr>
              <a:t>git</a:t>
            </a:r>
            <a:r>
              <a:rPr lang="en-US" altLang="zh-CN" sz="3200" dirty="0" smtClean="0">
                <a:solidFill>
                  <a:srgbClr val="FF0000"/>
                </a:solidFill>
              </a:rPr>
              <a:t> add helloGit.txt</a:t>
            </a:r>
          </a:p>
        </p:txBody>
      </p:sp>
      <p:sp>
        <p:nvSpPr>
          <p:cNvPr id="3" name="标题 2"/>
          <p:cNvSpPr>
            <a:spLocks noGrp="1"/>
          </p:cNvSpPr>
          <p:nvPr>
            <p:ph type="title"/>
          </p:nvPr>
        </p:nvSpPr>
        <p:spPr/>
        <p:txBody>
          <a:bodyPr>
            <a:normAutofit/>
          </a:bodyPr>
          <a:lstStyle/>
          <a:p>
            <a:r>
              <a:rPr lang="zh-CN" altLang="en-US" b="0" dirty="0" smtClean="0">
                <a:effectLst/>
              </a:rPr>
              <a:t>本地版本库</a:t>
            </a:r>
            <a:r>
              <a:rPr lang="en-US" altLang="zh-CN" b="0" dirty="0" smtClean="0">
                <a:effectLst/>
              </a:rPr>
              <a:t>-</a:t>
            </a:r>
            <a:r>
              <a:rPr lang="zh-CN" altLang="en-US" b="0" dirty="0" smtClean="0">
                <a:effectLst/>
              </a:rPr>
              <a:t>（</a:t>
            </a:r>
            <a:r>
              <a:rPr lang="en-US" altLang="zh-CN" b="0" dirty="0" smtClean="0">
                <a:effectLst/>
              </a:rPr>
              <a:t>2</a:t>
            </a:r>
            <a:r>
              <a:rPr lang="zh-CN" altLang="en-US" b="0" dirty="0" smtClean="0">
                <a:effectLst/>
              </a:rPr>
              <a:t>）</a:t>
            </a:r>
            <a:r>
              <a:rPr lang="zh-CN" altLang="en-US" b="0" dirty="0">
                <a:effectLst/>
              </a:rPr>
              <a:t>添加修改到暂存</a:t>
            </a:r>
            <a:r>
              <a:rPr lang="zh-CN" altLang="en-US" b="0" dirty="0" smtClean="0">
                <a:effectLst/>
              </a:rPr>
              <a:t>区域</a:t>
            </a:r>
            <a:endParaRPr lang="zh-CN" altLang="en-US" dirty="0"/>
          </a:p>
        </p:txBody>
      </p:sp>
      <p:sp>
        <p:nvSpPr>
          <p:cNvPr id="4" name="灯片编号占位符 3"/>
          <p:cNvSpPr>
            <a:spLocks noGrp="1"/>
          </p:cNvSpPr>
          <p:nvPr>
            <p:ph type="sldNum" sz="quarter" idx="12"/>
          </p:nvPr>
        </p:nvSpPr>
        <p:spPr/>
        <p:txBody>
          <a:bodyPr/>
          <a:lstStyle/>
          <a:p>
            <a:fld id="{0BD87961-E39D-4DAC-BBE4-2A1C1340B983}" type="slidenum">
              <a:rPr lang="zh-CN" altLang="en-US" smtClean="0"/>
              <a:t>20</a:t>
            </a:fld>
            <a:endParaRPr lang="zh-CN" altLang="en-US"/>
          </a:p>
        </p:txBody>
      </p:sp>
    </p:spTree>
    <p:extLst>
      <p:ext uri="{BB962C8B-B14F-4D97-AF65-F5344CB8AC3E}">
        <p14:creationId xmlns:p14="http://schemas.microsoft.com/office/powerpoint/2010/main" val="16089421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109728" indent="0">
              <a:lnSpc>
                <a:spcPct val="150000"/>
              </a:lnSpc>
              <a:buNone/>
            </a:pPr>
            <a:r>
              <a:rPr lang="en-US" altLang="zh-CN" sz="3200" dirty="0" smtClean="0"/>
              <a:t>#</a:t>
            </a:r>
            <a:r>
              <a:rPr lang="zh-CN" altLang="en-US" sz="3200" dirty="0" smtClean="0"/>
              <a:t>提交</a:t>
            </a:r>
            <a:r>
              <a:rPr lang="en-US" altLang="zh-CN" sz="3200" dirty="0" smtClean="0"/>
              <a:t>helloGit.txt</a:t>
            </a:r>
            <a:r>
              <a:rPr lang="zh-CN" altLang="en-US" sz="3200" dirty="0" smtClean="0"/>
              <a:t>到本地仓库</a:t>
            </a:r>
            <a:endParaRPr lang="en-US" altLang="zh-CN" sz="3200" dirty="0" smtClean="0"/>
          </a:p>
          <a:p>
            <a:pPr marL="109728" indent="0">
              <a:lnSpc>
                <a:spcPct val="150000"/>
              </a:lnSpc>
              <a:buNone/>
            </a:pPr>
            <a:r>
              <a:rPr lang="en-US" altLang="zh-CN" sz="3200" dirty="0" err="1" smtClean="0">
                <a:solidFill>
                  <a:srgbClr val="FF0000"/>
                </a:solidFill>
              </a:rPr>
              <a:t>git</a:t>
            </a:r>
            <a:r>
              <a:rPr lang="en-US" altLang="zh-CN" sz="3200" dirty="0">
                <a:solidFill>
                  <a:srgbClr val="FF0000"/>
                </a:solidFill>
              </a:rPr>
              <a:t> commit -m "Hello </a:t>
            </a:r>
            <a:r>
              <a:rPr lang="en-US" altLang="zh-CN" sz="3200" dirty="0" err="1">
                <a:solidFill>
                  <a:srgbClr val="FF0000"/>
                </a:solidFill>
              </a:rPr>
              <a:t>Git</a:t>
            </a:r>
            <a:r>
              <a:rPr lang="en-US" altLang="zh-CN" sz="3200" dirty="0">
                <a:solidFill>
                  <a:srgbClr val="FF0000"/>
                </a:solidFill>
              </a:rPr>
              <a:t>!"</a:t>
            </a:r>
          </a:p>
          <a:p>
            <a:pPr marL="109728" indent="0">
              <a:lnSpc>
                <a:spcPct val="150000"/>
              </a:lnSpc>
              <a:buNone/>
            </a:pPr>
            <a:endParaRPr lang="en-US" altLang="zh-CN" sz="3200" dirty="0" smtClean="0"/>
          </a:p>
        </p:txBody>
      </p:sp>
      <p:sp>
        <p:nvSpPr>
          <p:cNvPr id="3" name="标题 2"/>
          <p:cNvSpPr>
            <a:spLocks noGrp="1"/>
          </p:cNvSpPr>
          <p:nvPr>
            <p:ph type="title"/>
          </p:nvPr>
        </p:nvSpPr>
        <p:spPr/>
        <p:txBody>
          <a:bodyPr>
            <a:normAutofit/>
          </a:bodyPr>
          <a:lstStyle/>
          <a:p>
            <a:r>
              <a:rPr lang="zh-CN" altLang="en-US" b="0" dirty="0" smtClean="0">
                <a:effectLst/>
              </a:rPr>
              <a:t>本地版本库</a:t>
            </a:r>
            <a:r>
              <a:rPr lang="en-US" altLang="zh-CN" b="0" dirty="0" smtClean="0">
                <a:effectLst/>
              </a:rPr>
              <a:t>-</a:t>
            </a:r>
            <a:r>
              <a:rPr lang="zh-CN" altLang="en-US" b="0" dirty="0" smtClean="0">
                <a:effectLst/>
              </a:rPr>
              <a:t>（</a:t>
            </a:r>
            <a:r>
              <a:rPr lang="en-US" altLang="zh-CN" b="0" dirty="0" smtClean="0">
                <a:effectLst/>
              </a:rPr>
              <a:t>3</a:t>
            </a:r>
            <a:r>
              <a:rPr lang="zh-CN" altLang="en-US" b="0" dirty="0" smtClean="0">
                <a:effectLst/>
              </a:rPr>
              <a:t>）</a:t>
            </a:r>
            <a:r>
              <a:rPr lang="zh-CN" altLang="en-US" b="0" dirty="0">
                <a:effectLst/>
              </a:rPr>
              <a:t>提交修改到本地仓库</a:t>
            </a:r>
          </a:p>
        </p:txBody>
      </p:sp>
      <p:sp>
        <p:nvSpPr>
          <p:cNvPr id="4" name="灯片编号占位符 3"/>
          <p:cNvSpPr>
            <a:spLocks noGrp="1"/>
          </p:cNvSpPr>
          <p:nvPr>
            <p:ph type="sldNum" sz="quarter" idx="12"/>
          </p:nvPr>
        </p:nvSpPr>
        <p:spPr/>
        <p:txBody>
          <a:bodyPr/>
          <a:lstStyle/>
          <a:p>
            <a:fld id="{0BD87961-E39D-4DAC-BBE4-2A1C1340B983}" type="slidenum">
              <a:rPr lang="zh-CN" altLang="en-US" smtClean="0"/>
              <a:t>21</a:t>
            </a:fld>
            <a:endParaRPr lang="zh-CN" altLang="en-US"/>
          </a:p>
        </p:txBody>
      </p:sp>
    </p:spTree>
    <p:extLst>
      <p:ext uri="{BB962C8B-B14F-4D97-AF65-F5344CB8AC3E}">
        <p14:creationId xmlns:p14="http://schemas.microsoft.com/office/powerpoint/2010/main" val="172578893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109728" indent="0">
              <a:lnSpc>
                <a:spcPct val="150000"/>
              </a:lnSpc>
              <a:buNone/>
            </a:pPr>
            <a:r>
              <a:rPr lang="en-US" altLang="zh-CN" sz="3200" dirty="0" smtClean="0"/>
              <a:t>#</a:t>
            </a:r>
            <a:r>
              <a:rPr lang="zh-CN" altLang="en-US" sz="3200" dirty="0"/>
              <a:t>将远程版本库</a:t>
            </a:r>
            <a:r>
              <a:rPr lang="en-US" altLang="zh-CN" sz="3200" dirty="0"/>
              <a:t>clone</a:t>
            </a:r>
            <a:r>
              <a:rPr lang="zh-CN" altLang="en-US" sz="3200" dirty="0"/>
              <a:t>到</a:t>
            </a:r>
            <a:r>
              <a:rPr lang="zh-CN" altLang="en-US" sz="3200" dirty="0" smtClean="0"/>
              <a:t>本地</a:t>
            </a:r>
            <a:endParaRPr lang="en-US" altLang="zh-CN" sz="3200" dirty="0" smtClean="0"/>
          </a:p>
          <a:p>
            <a:pPr marL="109728" indent="0">
              <a:lnSpc>
                <a:spcPct val="150000"/>
              </a:lnSpc>
              <a:buNone/>
            </a:pPr>
            <a:r>
              <a:rPr lang="en-US" altLang="zh-CN" sz="3200" dirty="0" err="1" smtClean="0">
                <a:solidFill>
                  <a:srgbClr val="FF0000"/>
                </a:solidFill>
              </a:rPr>
              <a:t>git</a:t>
            </a:r>
            <a:r>
              <a:rPr lang="en-US" altLang="zh-CN" sz="3200" dirty="0">
                <a:solidFill>
                  <a:srgbClr val="FF0000"/>
                </a:solidFill>
              </a:rPr>
              <a:t> clone /</a:t>
            </a:r>
            <a:r>
              <a:rPr lang="en-US" altLang="zh-CN" sz="3200" dirty="0" err="1" smtClean="0">
                <a:solidFill>
                  <a:srgbClr val="FF0000"/>
                </a:solidFill>
              </a:rPr>
              <a:t>tmp</a:t>
            </a:r>
            <a:r>
              <a:rPr lang="en-US" altLang="zh-CN" sz="3200" dirty="0" smtClean="0">
                <a:solidFill>
                  <a:srgbClr val="FF0000"/>
                </a:solidFill>
              </a:rPr>
              <a:t>/</a:t>
            </a:r>
            <a:r>
              <a:rPr lang="en-US" altLang="zh-CN" sz="3200" dirty="0" err="1" smtClean="0">
                <a:solidFill>
                  <a:srgbClr val="FF0000"/>
                </a:solidFill>
              </a:rPr>
              <a:t>sample.git</a:t>
            </a:r>
            <a:endParaRPr lang="en-US" altLang="zh-CN" sz="3200" dirty="0" smtClean="0">
              <a:solidFill>
                <a:srgbClr val="FF0000"/>
              </a:solidFill>
            </a:endParaRPr>
          </a:p>
        </p:txBody>
      </p:sp>
      <p:sp>
        <p:nvSpPr>
          <p:cNvPr id="3" name="标题 2"/>
          <p:cNvSpPr>
            <a:spLocks noGrp="1"/>
          </p:cNvSpPr>
          <p:nvPr>
            <p:ph type="title"/>
          </p:nvPr>
        </p:nvSpPr>
        <p:spPr/>
        <p:txBody>
          <a:bodyPr>
            <a:normAutofit/>
          </a:bodyPr>
          <a:lstStyle/>
          <a:p>
            <a:r>
              <a:rPr lang="zh-CN" altLang="en-US" b="0" dirty="0" smtClean="0">
                <a:effectLst/>
              </a:rPr>
              <a:t>远程版本库</a:t>
            </a:r>
            <a:r>
              <a:rPr lang="en-US" altLang="zh-CN" b="0" dirty="0" smtClean="0">
                <a:effectLst/>
              </a:rPr>
              <a:t>-</a:t>
            </a:r>
            <a:r>
              <a:rPr lang="zh-CN" altLang="en-US" b="0" dirty="0" smtClean="0">
                <a:effectLst/>
              </a:rPr>
              <a:t>（</a:t>
            </a:r>
            <a:r>
              <a:rPr lang="en-US" altLang="zh-CN" b="0" dirty="0" smtClean="0">
                <a:effectLst/>
              </a:rPr>
              <a:t>1</a:t>
            </a:r>
            <a:r>
              <a:rPr lang="zh-CN" altLang="en-US" b="0" dirty="0" smtClean="0">
                <a:effectLst/>
              </a:rPr>
              <a:t>）</a:t>
            </a:r>
            <a:r>
              <a:rPr lang="en-US" altLang="zh-CN" b="0" dirty="0" smtClean="0">
                <a:effectLst/>
              </a:rPr>
              <a:t>Clone</a:t>
            </a:r>
            <a:r>
              <a:rPr lang="zh-CN" altLang="en-US" b="0" dirty="0" smtClean="0">
                <a:effectLst/>
              </a:rPr>
              <a:t>远程版本库</a:t>
            </a:r>
            <a:endParaRPr lang="zh-CN" altLang="en-US" b="0" dirty="0">
              <a:effectLst/>
            </a:endParaRPr>
          </a:p>
        </p:txBody>
      </p:sp>
      <p:sp>
        <p:nvSpPr>
          <p:cNvPr id="4" name="灯片编号占位符 3"/>
          <p:cNvSpPr>
            <a:spLocks noGrp="1"/>
          </p:cNvSpPr>
          <p:nvPr>
            <p:ph type="sldNum" sz="quarter" idx="12"/>
          </p:nvPr>
        </p:nvSpPr>
        <p:spPr/>
        <p:txBody>
          <a:bodyPr/>
          <a:lstStyle/>
          <a:p>
            <a:fld id="{0BD87961-E39D-4DAC-BBE4-2A1C1340B983}" type="slidenum">
              <a:rPr lang="zh-CN" altLang="en-US" smtClean="0"/>
              <a:t>22</a:t>
            </a:fld>
            <a:endParaRPr lang="zh-CN" altLang="en-US"/>
          </a:p>
        </p:txBody>
      </p:sp>
    </p:spTree>
    <p:extLst>
      <p:ext uri="{BB962C8B-B14F-4D97-AF65-F5344CB8AC3E}">
        <p14:creationId xmlns:p14="http://schemas.microsoft.com/office/powerpoint/2010/main" val="255669539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9" y="1481329"/>
            <a:ext cx="11237843" cy="4525963"/>
          </a:xfrm>
        </p:spPr>
        <p:txBody>
          <a:bodyPr>
            <a:normAutofit/>
          </a:bodyPr>
          <a:lstStyle/>
          <a:p>
            <a:pPr marL="109728" indent="0">
              <a:lnSpc>
                <a:spcPct val="150000"/>
              </a:lnSpc>
              <a:buNone/>
            </a:pPr>
            <a:r>
              <a:rPr lang="en-US" altLang="zh-CN" sz="2800" dirty="0" smtClean="0"/>
              <a:t>#</a:t>
            </a:r>
            <a:r>
              <a:rPr lang="zh-CN" altLang="en-US" sz="2800" dirty="0"/>
              <a:t>添加远程版本库需要用到的命令是</a:t>
            </a:r>
            <a:r>
              <a:rPr lang="en-US" altLang="zh-CN" sz="2800" dirty="0" err="1"/>
              <a:t>git</a:t>
            </a:r>
            <a:r>
              <a:rPr lang="en-US" altLang="zh-CN" sz="2800" dirty="0"/>
              <a:t> remote add</a:t>
            </a:r>
            <a:r>
              <a:rPr lang="zh-CN" altLang="en-US" sz="2800" dirty="0" smtClean="0"/>
              <a:t>，其命令格式为：</a:t>
            </a:r>
            <a:r>
              <a:rPr lang="en-US" altLang="zh-CN" sz="2800" dirty="0" err="1" smtClean="0"/>
              <a:t>git</a:t>
            </a:r>
            <a:r>
              <a:rPr lang="en-US" altLang="zh-CN" sz="2800" dirty="0" smtClean="0"/>
              <a:t> remote add “</a:t>
            </a:r>
            <a:r>
              <a:rPr lang="zh-CN" altLang="en-US" sz="2800" dirty="0" smtClean="0"/>
              <a:t>远程仓库名” “远程仓库地址”，例如</a:t>
            </a:r>
            <a:endParaRPr lang="en-US" altLang="zh-CN" sz="2800" dirty="0" smtClean="0"/>
          </a:p>
          <a:p>
            <a:pPr marL="109728" indent="0">
              <a:lnSpc>
                <a:spcPct val="150000"/>
              </a:lnSpc>
              <a:buNone/>
            </a:pPr>
            <a:r>
              <a:rPr lang="en-US" altLang="zh-CN" sz="2800" dirty="0" err="1" smtClean="0">
                <a:solidFill>
                  <a:srgbClr val="FF0000"/>
                </a:solidFill>
              </a:rPr>
              <a:t>git</a:t>
            </a:r>
            <a:r>
              <a:rPr lang="en-US" altLang="zh-CN" sz="2800" dirty="0">
                <a:solidFill>
                  <a:srgbClr val="FF0000"/>
                </a:solidFill>
              </a:rPr>
              <a:t> remote add </a:t>
            </a:r>
            <a:r>
              <a:rPr lang="en-US" altLang="zh-CN" sz="2800" dirty="0" err="1">
                <a:solidFill>
                  <a:srgbClr val="FF0000"/>
                </a:solidFill>
              </a:rPr>
              <a:t>git</a:t>
            </a:r>
            <a:r>
              <a:rPr lang="en-US" altLang="zh-CN" sz="2800" dirty="0">
                <a:solidFill>
                  <a:srgbClr val="FF0000"/>
                </a:solidFill>
              </a:rPr>
              <a:t> /</a:t>
            </a:r>
            <a:r>
              <a:rPr lang="en-US" altLang="zh-CN" sz="2800" dirty="0" err="1">
                <a:solidFill>
                  <a:srgbClr val="FF0000"/>
                </a:solidFill>
              </a:rPr>
              <a:t>tmp</a:t>
            </a:r>
            <a:r>
              <a:rPr lang="en-US" altLang="zh-CN" sz="2800" dirty="0">
                <a:solidFill>
                  <a:srgbClr val="FF0000"/>
                </a:solidFill>
              </a:rPr>
              <a:t>/</a:t>
            </a:r>
            <a:r>
              <a:rPr lang="en-US" altLang="zh-CN" sz="2800" dirty="0" err="1">
                <a:solidFill>
                  <a:srgbClr val="FF0000"/>
                </a:solidFill>
              </a:rPr>
              <a:t>sample.git</a:t>
            </a:r>
            <a:endParaRPr lang="en-US" altLang="zh-CN" sz="2800" dirty="0">
              <a:solidFill>
                <a:srgbClr val="FF0000"/>
              </a:solidFill>
            </a:endParaRPr>
          </a:p>
          <a:p>
            <a:pPr marL="109728" indent="0">
              <a:lnSpc>
                <a:spcPct val="150000"/>
              </a:lnSpc>
              <a:buNone/>
            </a:pPr>
            <a:endParaRPr lang="en-US" altLang="zh-CN" sz="2800" dirty="0" smtClean="0">
              <a:solidFill>
                <a:srgbClr val="FF0000"/>
              </a:solidFill>
            </a:endParaRPr>
          </a:p>
        </p:txBody>
      </p:sp>
      <p:sp>
        <p:nvSpPr>
          <p:cNvPr id="3" name="标题 2"/>
          <p:cNvSpPr>
            <a:spLocks noGrp="1"/>
          </p:cNvSpPr>
          <p:nvPr>
            <p:ph type="title"/>
          </p:nvPr>
        </p:nvSpPr>
        <p:spPr/>
        <p:txBody>
          <a:bodyPr>
            <a:normAutofit/>
          </a:bodyPr>
          <a:lstStyle/>
          <a:p>
            <a:r>
              <a:rPr lang="zh-CN" altLang="en-US" b="0" dirty="0" smtClean="0">
                <a:effectLst/>
              </a:rPr>
              <a:t>远程版本库</a:t>
            </a:r>
            <a:r>
              <a:rPr lang="en-US" altLang="zh-CN" b="0" dirty="0" smtClean="0">
                <a:effectLst/>
              </a:rPr>
              <a:t>-</a:t>
            </a:r>
            <a:r>
              <a:rPr lang="zh-CN" altLang="en-US" b="0" dirty="0" smtClean="0">
                <a:effectLst/>
              </a:rPr>
              <a:t>（</a:t>
            </a:r>
            <a:r>
              <a:rPr lang="en-US" altLang="zh-CN" b="0" dirty="0" smtClean="0">
                <a:effectLst/>
              </a:rPr>
              <a:t>2</a:t>
            </a:r>
            <a:r>
              <a:rPr lang="zh-CN" altLang="en-US" b="0" dirty="0" smtClean="0">
                <a:effectLst/>
              </a:rPr>
              <a:t>）添加远程版本库</a:t>
            </a:r>
            <a:endParaRPr lang="zh-CN" altLang="en-US" b="0" dirty="0">
              <a:effectLst/>
            </a:endParaRPr>
          </a:p>
        </p:txBody>
      </p:sp>
      <p:sp>
        <p:nvSpPr>
          <p:cNvPr id="4" name="灯片编号占位符 3"/>
          <p:cNvSpPr>
            <a:spLocks noGrp="1"/>
          </p:cNvSpPr>
          <p:nvPr>
            <p:ph type="sldNum" sz="quarter" idx="12"/>
          </p:nvPr>
        </p:nvSpPr>
        <p:spPr/>
        <p:txBody>
          <a:bodyPr/>
          <a:lstStyle/>
          <a:p>
            <a:fld id="{0BD87961-E39D-4DAC-BBE4-2A1C1340B983}" type="slidenum">
              <a:rPr lang="zh-CN" altLang="en-US" smtClean="0"/>
              <a:t>23</a:t>
            </a:fld>
            <a:endParaRPr lang="zh-CN" altLang="en-US"/>
          </a:p>
        </p:txBody>
      </p:sp>
    </p:spTree>
    <p:extLst>
      <p:ext uri="{BB962C8B-B14F-4D97-AF65-F5344CB8AC3E}">
        <p14:creationId xmlns:p14="http://schemas.microsoft.com/office/powerpoint/2010/main" val="201948062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9" y="1481329"/>
            <a:ext cx="11237843" cy="4525963"/>
          </a:xfrm>
        </p:spPr>
        <p:txBody>
          <a:bodyPr>
            <a:normAutofit/>
          </a:bodyPr>
          <a:lstStyle/>
          <a:p>
            <a:pPr marL="109728" indent="0">
              <a:lnSpc>
                <a:spcPct val="150000"/>
              </a:lnSpc>
              <a:buNone/>
            </a:pPr>
            <a:r>
              <a:rPr lang="en-US" altLang="zh-CN" sz="2800" dirty="0" smtClean="0"/>
              <a:t>#</a:t>
            </a:r>
            <a:r>
              <a:rPr lang="zh-CN" altLang="en-US" sz="2800" dirty="0"/>
              <a:t>推送本地内容时，会将所有未推送至远程仓库的内容，都</a:t>
            </a:r>
            <a:r>
              <a:rPr lang="zh-CN" altLang="en-US" sz="2800" dirty="0" smtClean="0"/>
              <a:t>提交到</a:t>
            </a:r>
            <a:r>
              <a:rPr lang="zh-CN" altLang="en-US" sz="2800" dirty="0"/>
              <a:t>远程仓库。它用到的命令是</a:t>
            </a:r>
            <a:r>
              <a:rPr lang="en-US" altLang="zh-CN" sz="2800" dirty="0" err="1"/>
              <a:t>git</a:t>
            </a:r>
            <a:r>
              <a:rPr lang="en-US" altLang="zh-CN" sz="2800" dirty="0"/>
              <a:t> </a:t>
            </a:r>
            <a:r>
              <a:rPr lang="en-US" altLang="zh-CN" sz="2800" dirty="0" smtClean="0"/>
              <a:t>push</a:t>
            </a:r>
            <a:r>
              <a:rPr lang="zh-CN" altLang="en-US" sz="2800" dirty="0" smtClean="0"/>
              <a:t>，</a:t>
            </a:r>
            <a:r>
              <a:rPr lang="zh-CN" altLang="en-US" sz="2800" dirty="0"/>
              <a:t>使用方法如下</a:t>
            </a:r>
            <a:r>
              <a:rPr lang="zh-CN" altLang="en-US" sz="2800" dirty="0" smtClean="0"/>
              <a:t>：</a:t>
            </a:r>
            <a:r>
              <a:rPr lang="en-US" altLang="zh-CN" sz="2800" dirty="0" err="1" smtClean="0"/>
              <a:t>git</a:t>
            </a:r>
            <a:r>
              <a:rPr lang="en-US" altLang="zh-CN" sz="2800" dirty="0" smtClean="0"/>
              <a:t> </a:t>
            </a:r>
            <a:r>
              <a:rPr lang="en-US" altLang="zh-CN" sz="2800" dirty="0"/>
              <a:t>push </a:t>
            </a:r>
            <a:r>
              <a:rPr lang="zh-CN" altLang="en-US" sz="2800" dirty="0"/>
              <a:t>远程仓库名 本地分支名 远程分支</a:t>
            </a:r>
            <a:r>
              <a:rPr lang="zh-CN" altLang="en-US" sz="2800" dirty="0" smtClean="0"/>
              <a:t>名，例如：</a:t>
            </a:r>
            <a:endParaRPr lang="en-US" altLang="zh-CN" sz="2800" dirty="0" smtClean="0"/>
          </a:p>
          <a:p>
            <a:pPr marL="109728" indent="0">
              <a:lnSpc>
                <a:spcPct val="150000"/>
              </a:lnSpc>
              <a:buNone/>
            </a:pPr>
            <a:r>
              <a:rPr lang="en-US" altLang="zh-CN" sz="2800" dirty="0" err="1" smtClean="0">
                <a:solidFill>
                  <a:srgbClr val="FF0000"/>
                </a:solidFill>
              </a:rPr>
              <a:t>git</a:t>
            </a:r>
            <a:r>
              <a:rPr lang="en-US" altLang="zh-CN" sz="2800" dirty="0">
                <a:solidFill>
                  <a:srgbClr val="FF0000"/>
                </a:solidFill>
              </a:rPr>
              <a:t> push </a:t>
            </a:r>
            <a:r>
              <a:rPr lang="en-US" altLang="zh-CN" sz="2800" dirty="0" err="1">
                <a:solidFill>
                  <a:srgbClr val="FF0000"/>
                </a:solidFill>
              </a:rPr>
              <a:t>git</a:t>
            </a:r>
            <a:r>
              <a:rPr lang="en-US" altLang="zh-CN" sz="2800" dirty="0">
                <a:solidFill>
                  <a:srgbClr val="FF0000"/>
                </a:solidFill>
              </a:rPr>
              <a:t> </a:t>
            </a:r>
            <a:r>
              <a:rPr lang="en-US" altLang="zh-CN" sz="2800" dirty="0" err="1">
                <a:solidFill>
                  <a:srgbClr val="FF0000"/>
                </a:solidFill>
              </a:rPr>
              <a:t>master:master</a:t>
            </a:r>
            <a:endParaRPr lang="en-US" altLang="zh-CN" sz="2800" dirty="0">
              <a:solidFill>
                <a:srgbClr val="FF0000"/>
              </a:solidFill>
            </a:endParaRPr>
          </a:p>
          <a:p>
            <a:pPr marL="109728" indent="0">
              <a:lnSpc>
                <a:spcPct val="150000"/>
              </a:lnSpc>
              <a:buNone/>
            </a:pPr>
            <a:endParaRPr lang="en-US" altLang="zh-CN" sz="2800" dirty="0">
              <a:solidFill>
                <a:srgbClr val="FF0000"/>
              </a:solidFill>
            </a:endParaRPr>
          </a:p>
          <a:p>
            <a:pPr marL="109728" indent="0">
              <a:lnSpc>
                <a:spcPct val="150000"/>
              </a:lnSpc>
              <a:buNone/>
            </a:pPr>
            <a:endParaRPr lang="en-US" altLang="zh-CN" sz="2800" dirty="0" smtClean="0">
              <a:solidFill>
                <a:srgbClr val="FF0000"/>
              </a:solidFill>
            </a:endParaRPr>
          </a:p>
        </p:txBody>
      </p:sp>
      <p:sp>
        <p:nvSpPr>
          <p:cNvPr id="3" name="标题 2"/>
          <p:cNvSpPr>
            <a:spLocks noGrp="1"/>
          </p:cNvSpPr>
          <p:nvPr>
            <p:ph type="title"/>
          </p:nvPr>
        </p:nvSpPr>
        <p:spPr/>
        <p:txBody>
          <a:bodyPr>
            <a:normAutofit/>
          </a:bodyPr>
          <a:lstStyle/>
          <a:p>
            <a:r>
              <a:rPr lang="zh-CN" altLang="en-US" b="0" dirty="0" smtClean="0">
                <a:effectLst/>
              </a:rPr>
              <a:t>远程版本库</a:t>
            </a:r>
            <a:r>
              <a:rPr lang="en-US" altLang="zh-CN" b="0" dirty="0" smtClean="0">
                <a:effectLst/>
              </a:rPr>
              <a:t>-</a:t>
            </a:r>
            <a:r>
              <a:rPr lang="zh-CN" altLang="en-US" b="0" dirty="0" smtClean="0">
                <a:effectLst/>
              </a:rPr>
              <a:t>（</a:t>
            </a:r>
            <a:r>
              <a:rPr lang="en-US" altLang="zh-CN" b="0" dirty="0" smtClean="0">
                <a:effectLst/>
              </a:rPr>
              <a:t>3</a:t>
            </a:r>
            <a:r>
              <a:rPr lang="zh-CN" altLang="en-US" b="0" dirty="0">
                <a:effectLst/>
              </a:rPr>
              <a:t>）推送本地内容到远程仓库</a:t>
            </a:r>
          </a:p>
        </p:txBody>
      </p:sp>
      <p:sp>
        <p:nvSpPr>
          <p:cNvPr id="4" name="灯片编号占位符 3"/>
          <p:cNvSpPr>
            <a:spLocks noGrp="1"/>
          </p:cNvSpPr>
          <p:nvPr>
            <p:ph type="sldNum" sz="quarter" idx="12"/>
          </p:nvPr>
        </p:nvSpPr>
        <p:spPr/>
        <p:txBody>
          <a:bodyPr/>
          <a:lstStyle/>
          <a:p>
            <a:fld id="{0BD87961-E39D-4DAC-BBE4-2A1C1340B983}" type="slidenum">
              <a:rPr lang="zh-CN" altLang="en-US" smtClean="0"/>
              <a:t>24</a:t>
            </a:fld>
            <a:endParaRPr lang="zh-CN" altLang="en-US"/>
          </a:p>
        </p:txBody>
      </p:sp>
    </p:spTree>
    <p:extLst>
      <p:ext uri="{BB962C8B-B14F-4D97-AF65-F5344CB8AC3E}">
        <p14:creationId xmlns:p14="http://schemas.microsoft.com/office/powerpoint/2010/main" val="227684236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9" y="1481329"/>
            <a:ext cx="11237843" cy="4525963"/>
          </a:xfrm>
        </p:spPr>
        <p:txBody>
          <a:bodyPr>
            <a:normAutofit/>
          </a:bodyPr>
          <a:lstStyle/>
          <a:p>
            <a:pPr marL="109728" indent="0">
              <a:lnSpc>
                <a:spcPct val="150000"/>
              </a:lnSpc>
              <a:buNone/>
            </a:pPr>
            <a:r>
              <a:rPr lang="en-US" altLang="zh-CN" sz="2800" dirty="0" smtClean="0"/>
              <a:t>#</a:t>
            </a:r>
            <a:r>
              <a:rPr lang="zh-CN" altLang="en-US" sz="2800" dirty="0"/>
              <a:t>拉取远程仓库的内容到本地，需要使用</a:t>
            </a:r>
            <a:r>
              <a:rPr lang="en-US" altLang="zh-CN" sz="2800" dirty="0" err="1"/>
              <a:t>git</a:t>
            </a:r>
            <a:r>
              <a:rPr lang="en-US" altLang="zh-CN" sz="2800" dirty="0"/>
              <a:t> pull</a:t>
            </a:r>
            <a:r>
              <a:rPr lang="zh-CN" altLang="en-US" sz="2800" dirty="0"/>
              <a:t>命令</a:t>
            </a:r>
            <a:r>
              <a:rPr lang="zh-CN" altLang="en-US" sz="2800" dirty="0" smtClean="0"/>
              <a:t>，其</a:t>
            </a:r>
            <a:r>
              <a:rPr lang="zh-CN" altLang="en-US" sz="2800" dirty="0"/>
              <a:t>命令格式为</a:t>
            </a:r>
            <a:r>
              <a:rPr lang="zh-CN" altLang="en-US" sz="2800" dirty="0" smtClean="0"/>
              <a:t>：</a:t>
            </a:r>
            <a:r>
              <a:rPr lang="en-US" altLang="zh-CN" sz="2800" dirty="0" err="1" smtClean="0"/>
              <a:t>git</a:t>
            </a:r>
            <a:r>
              <a:rPr lang="en-US" altLang="zh-CN" sz="2800" dirty="0" smtClean="0"/>
              <a:t> </a:t>
            </a:r>
            <a:r>
              <a:rPr lang="en-US" altLang="zh-CN" sz="2800" dirty="0"/>
              <a:t>pull </a:t>
            </a:r>
            <a:r>
              <a:rPr lang="zh-CN" altLang="en-US" sz="2800" dirty="0"/>
              <a:t>远程主机名 远程分支名 本地分支</a:t>
            </a:r>
            <a:r>
              <a:rPr lang="zh-CN" altLang="en-US" sz="2800" dirty="0" smtClean="0"/>
              <a:t>名，例如：</a:t>
            </a:r>
            <a:endParaRPr lang="en-US" altLang="zh-CN" sz="2800" dirty="0" smtClean="0"/>
          </a:p>
          <a:p>
            <a:pPr marL="109728" indent="0">
              <a:lnSpc>
                <a:spcPct val="150000"/>
              </a:lnSpc>
              <a:buNone/>
            </a:pPr>
            <a:r>
              <a:rPr lang="en-US" altLang="zh-CN" sz="2800" dirty="0" err="1">
                <a:solidFill>
                  <a:srgbClr val="FF0000"/>
                </a:solidFill>
              </a:rPr>
              <a:t>git</a:t>
            </a:r>
            <a:r>
              <a:rPr lang="en-US" altLang="zh-CN" sz="2800" dirty="0">
                <a:solidFill>
                  <a:srgbClr val="FF0000"/>
                </a:solidFill>
              </a:rPr>
              <a:t> pull </a:t>
            </a:r>
            <a:r>
              <a:rPr lang="en-US" altLang="zh-CN" sz="2800" dirty="0" err="1">
                <a:solidFill>
                  <a:srgbClr val="FF0000"/>
                </a:solidFill>
              </a:rPr>
              <a:t>git</a:t>
            </a:r>
            <a:r>
              <a:rPr lang="en-US" altLang="zh-CN" sz="2800" dirty="0">
                <a:solidFill>
                  <a:srgbClr val="FF0000"/>
                </a:solidFill>
              </a:rPr>
              <a:t> </a:t>
            </a:r>
            <a:r>
              <a:rPr lang="en-US" altLang="zh-CN" sz="2800" dirty="0" err="1">
                <a:solidFill>
                  <a:srgbClr val="FF0000"/>
                </a:solidFill>
              </a:rPr>
              <a:t>master:master</a:t>
            </a:r>
            <a:endParaRPr lang="en-US" altLang="zh-CN" sz="2800" dirty="0">
              <a:solidFill>
                <a:srgbClr val="FF0000"/>
              </a:solidFill>
            </a:endParaRPr>
          </a:p>
          <a:p>
            <a:pPr marL="109728" indent="0">
              <a:lnSpc>
                <a:spcPct val="150000"/>
              </a:lnSpc>
              <a:buNone/>
            </a:pPr>
            <a:endParaRPr lang="en-US" altLang="zh-CN" sz="2800" dirty="0">
              <a:solidFill>
                <a:srgbClr val="FF0000"/>
              </a:solidFill>
            </a:endParaRPr>
          </a:p>
          <a:p>
            <a:pPr marL="109728" indent="0">
              <a:lnSpc>
                <a:spcPct val="150000"/>
              </a:lnSpc>
              <a:buNone/>
            </a:pPr>
            <a:endParaRPr lang="en-US" altLang="zh-CN" sz="2800" dirty="0" smtClean="0">
              <a:solidFill>
                <a:srgbClr val="FF0000"/>
              </a:solidFill>
            </a:endParaRPr>
          </a:p>
        </p:txBody>
      </p:sp>
      <p:sp>
        <p:nvSpPr>
          <p:cNvPr id="3" name="标题 2"/>
          <p:cNvSpPr>
            <a:spLocks noGrp="1"/>
          </p:cNvSpPr>
          <p:nvPr>
            <p:ph type="title"/>
          </p:nvPr>
        </p:nvSpPr>
        <p:spPr/>
        <p:txBody>
          <a:bodyPr>
            <a:normAutofit/>
          </a:bodyPr>
          <a:lstStyle/>
          <a:p>
            <a:r>
              <a:rPr lang="zh-CN" altLang="en-US" b="0" dirty="0" smtClean="0">
                <a:effectLst/>
              </a:rPr>
              <a:t>远程版本库</a:t>
            </a:r>
            <a:r>
              <a:rPr lang="en-US" altLang="zh-CN" b="0" dirty="0" smtClean="0">
                <a:effectLst/>
              </a:rPr>
              <a:t>-</a:t>
            </a:r>
            <a:r>
              <a:rPr lang="zh-CN" altLang="en-US" b="0" dirty="0" smtClean="0">
                <a:effectLst/>
              </a:rPr>
              <a:t>（</a:t>
            </a:r>
            <a:r>
              <a:rPr lang="en-US" altLang="zh-CN" b="0" dirty="0" smtClean="0">
                <a:effectLst/>
              </a:rPr>
              <a:t>4</a:t>
            </a:r>
            <a:r>
              <a:rPr lang="zh-CN" altLang="en-US" b="0" dirty="0" smtClean="0">
                <a:effectLst/>
              </a:rPr>
              <a:t>）</a:t>
            </a:r>
            <a:r>
              <a:rPr lang="zh-CN" altLang="en-US" b="0" dirty="0">
                <a:effectLst/>
              </a:rPr>
              <a:t>拉取远程分支到</a:t>
            </a:r>
            <a:r>
              <a:rPr lang="zh-CN" altLang="en-US" b="0" dirty="0" smtClean="0">
                <a:effectLst/>
              </a:rPr>
              <a:t>本地</a:t>
            </a:r>
            <a:endParaRPr lang="zh-CN" altLang="en-US" b="0" dirty="0">
              <a:effectLst/>
            </a:endParaRPr>
          </a:p>
        </p:txBody>
      </p:sp>
      <p:sp>
        <p:nvSpPr>
          <p:cNvPr id="4" name="灯片编号占位符 3"/>
          <p:cNvSpPr>
            <a:spLocks noGrp="1"/>
          </p:cNvSpPr>
          <p:nvPr>
            <p:ph type="sldNum" sz="quarter" idx="12"/>
          </p:nvPr>
        </p:nvSpPr>
        <p:spPr/>
        <p:txBody>
          <a:bodyPr/>
          <a:lstStyle/>
          <a:p>
            <a:fld id="{0BD87961-E39D-4DAC-BBE4-2A1C1340B983}" type="slidenum">
              <a:rPr lang="zh-CN" altLang="en-US" smtClean="0"/>
              <a:t>25</a:t>
            </a:fld>
            <a:endParaRPr lang="zh-CN" altLang="en-US"/>
          </a:p>
        </p:txBody>
      </p:sp>
    </p:spTree>
    <p:extLst>
      <p:ext uri="{BB962C8B-B14F-4D97-AF65-F5344CB8AC3E}">
        <p14:creationId xmlns:p14="http://schemas.microsoft.com/office/powerpoint/2010/main" val="1657627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9" y="1481329"/>
            <a:ext cx="11237843" cy="4525963"/>
          </a:xfrm>
        </p:spPr>
        <p:txBody>
          <a:bodyPr>
            <a:normAutofit/>
          </a:bodyPr>
          <a:lstStyle/>
          <a:p>
            <a:pPr marL="109728" indent="0">
              <a:lnSpc>
                <a:spcPct val="150000"/>
              </a:lnSpc>
              <a:buNone/>
            </a:pPr>
            <a:r>
              <a:rPr lang="en-US" altLang="zh-CN" sz="2800" dirty="0" smtClean="0"/>
              <a:t>#</a:t>
            </a:r>
            <a:r>
              <a:rPr lang="zh-CN" altLang="en-US" sz="2800" dirty="0" smtClean="0"/>
              <a:t>当需要</a:t>
            </a:r>
            <a:r>
              <a:rPr lang="zh-CN" altLang="en-US" sz="2800" dirty="0"/>
              <a:t>创建一个新的分支的时候，可以使用</a:t>
            </a:r>
            <a:r>
              <a:rPr lang="en-US" altLang="zh-CN" sz="2800" dirty="0" err="1"/>
              <a:t>git</a:t>
            </a:r>
            <a:r>
              <a:rPr lang="en-US" altLang="zh-CN" sz="2800" dirty="0"/>
              <a:t> branch</a:t>
            </a:r>
            <a:r>
              <a:rPr lang="zh-CN" altLang="en-US" sz="2800" dirty="0"/>
              <a:t>命令，其具体使用格式为： </a:t>
            </a:r>
            <a:r>
              <a:rPr lang="en-US" altLang="zh-CN" sz="2800" dirty="0" err="1"/>
              <a:t>git</a:t>
            </a:r>
            <a:r>
              <a:rPr lang="en-US" altLang="zh-CN" sz="2800" dirty="0"/>
              <a:t> branch </a:t>
            </a:r>
            <a:r>
              <a:rPr lang="zh-CN" altLang="en-US" sz="2800" dirty="0"/>
              <a:t>新的分支名字，</a:t>
            </a:r>
            <a:r>
              <a:rPr lang="zh-CN" altLang="en-US" sz="2800" dirty="0" smtClean="0"/>
              <a:t>例如：</a:t>
            </a:r>
            <a:endParaRPr lang="en-US" altLang="zh-CN" sz="2800" dirty="0" smtClean="0"/>
          </a:p>
          <a:p>
            <a:pPr marL="109728" indent="0">
              <a:lnSpc>
                <a:spcPct val="150000"/>
              </a:lnSpc>
              <a:buNone/>
            </a:pPr>
            <a:r>
              <a:rPr lang="en-US" altLang="zh-CN" sz="2800" dirty="0" err="1">
                <a:solidFill>
                  <a:srgbClr val="FF0000"/>
                </a:solidFill>
              </a:rPr>
              <a:t>git</a:t>
            </a:r>
            <a:r>
              <a:rPr lang="en-US" altLang="zh-CN" sz="2800" dirty="0">
                <a:solidFill>
                  <a:srgbClr val="FF0000"/>
                </a:solidFill>
              </a:rPr>
              <a:t> branch </a:t>
            </a:r>
            <a:r>
              <a:rPr lang="en-US" altLang="zh-CN" sz="2800" dirty="0" err="1" smtClean="0">
                <a:solidFill>
                  <a:srgbClr val="FF0000"/>
                </a:solidFill>
              </a:rPr>
              <a:t>gitTraining</a:t>
            </a:r>
            <a:endParaRPr lang="en-US" altLang="zh-CN" sz="2800" dirty="0" smtClean="0">
              <a:solidFill>
                <a:srgbClr val="FF0000"/>
              </a:solidFill>
            </a:endParaRPr>
          </a:p>
          <a:p>
            <a:pPr marL="109728" indent="0">
              <a:lnSpc>
                <a:spcPct val="150000"/>
              </a:lnSpc>
              <a:buNone/>
            </a:pPr>
            <a:r>
              <a:rPr lang="en-US" altLang="zh-CN" sz="2800" dirty="0" smtClean="0"/>
              <a:t>#</a:t>
            </a:r>
            <a:r>
              <a:rPr lang="zh-CN" altLang="en-US" sz="2800" dirty="0"/>
              <a:t>创建新分支的同时</a:t>
            </a:r>
            <a:r>
              <a:rPr lang="zh-CN" altLang="en-US" sz="2800" dirty="0" smtClean="0"/>
              <a:t>切换到</a:t>
            </a:r>
            <a:r>
              <a:rPr lang="zh-CN" altLang="en-US" sz="2800" dirty="0"/>
              <a:t>一个新的分支，有一个更为简洁的命令：</a:t>
            </a:r>
            <a:r>
              <a:rPr lang="en-US" altLang="zh-CN" sz="2800" dirty="0" err="1"/>
              <a:t>git</a:t>
            </a:r>
            <a:r>
              <a:rPr lang="en-US" altLang="zh-CN" sz="2800" dirty="0"/>
              <a:t> checkout -b</a:t>
            </a:r>
            <a:r>
              <a:rPr lang="zh-CN" altLang="en-US" sz="2800" dirty="0"/>
              <a:t>，它的使用格式为： </a:t>
            </a:r>
            <a:r>
              <a:rPr lang="en-US" altLang="zh-CN" sz="2800" dirty="0" err="1"/>
              <a:t>git</a:t>
            </a:r>
            <a:r>
              <a:rPr lang="en-US" altLang="zh-CN" sz="2800" dirty="0"/>
              <a:t> checkout -b </a:t>
            </a:r>
            <a:r>
              <a:rPr lang="zh-CN" altLang="en-US" sz="2800" dirty="0"/>
              <a:t>新的</a:t>
            </a:r>
            <a:r>
              <a:rPr lang="zh-CN" altLang="en-US" sz="2800" dirty="0" smtClean="0"/>
              <a:t>分支名字</a:t>
            </a:r>
            <a:r>
              <a:rPr lang="zh-CN" altLang="en-US" sz="2800" dirty="0"/>
              <a:t>，例如：</a:t>
            </a:r>
            <a:endParaRPr lang="en-US" altLang="zh-CN" sz="2800" dirty="0"/>
          </a:p>
          <a:p>
            <a:pPr marL="109728" indent="0">
              <a:buNone/>
            </a:pPr>
            <a:r>
              <a:rPr lang="en-US" altLang="zh-CN" sz="2800" dirty="0" err="1">
                <a:solidFill>
                  <a:srgbClr val="FF0000"/>
                </a:solidFill>
              </a:rPr>
              <a:t>git</a:t>
            </a:r>
            <a:r>
              <a:rPr lang="en-US" altLang="zh-CN" sz="2800" dirty="0">
                <a:solidFill>
                  <a:srgbClr val="FF0000"/>
                </a:solidFill>
              </a:rPr>
              <a:t> checkout -b </a:t>
            </a:r>
            <a:r>
              <a:rPr lang="en-US" altLang="zh-CN" sz="2800" dirty="0" err="1">
                <a:solidFill>
                  <a:srgbClr val="FF0000"/>
                </a:solidFill>
              </a:rPr>
              <a:t>gitTraining</a:t>
            </a:r>
            <a:endParaRPr lang="en-US" altLang="zh-CN" sz="2800" dirty="0">
              <a:solidFill>
                <a:srgbClr val="FF0000"/>
              </a:solidFill>
            </a:endParaRPr>
          </a:p>
          <a:p>
            <a:pPr marL="109728" indent="0">
              <a:lnSpc>
                <a:spcPct val="150000"/>
              </a:lnSpc>
              <a:buNone/>
            </a:pPr>
            <a:endParaRPr lang="en-US" altLang="zh-CN" sz="2800" dirty="0">
              <a:solidFill>
                <a:srgbClr val="FF0000"/>
              </a:solidFill>
            </a:endParaRPr>
          </a:p>
          <a:p>
            <a:pPr marL="109728" indent="0">
              <a:lnSpc>
                <a:spcPct val="150000"/>
              </a:lnSpc>
              <a:buNone/>
            </a:pPr>
            <a:endParaRPr lang="en-US" altLang="zh-CN" sz="2800" dirty="0" smtClean="0">
              <a:solidFill>
                <a:srgbClr val="FF0000"/>
              </a:solidFill>
            </a:endParaRPr>
          </a:p>
        </p:txBody>
      </p:sp>
      <p:sp>
        <p:nvSpPr>
          <p:cNvPr id="3" name="标题 2"/>
          <p:cNvSpPr>
            <a:spLocks noGrp="1"/>
          </p:cNvSpPr>
          <p:nvPr>
            <p:ph type="title"/>
          </p:nvPr>
        </p:nvSpPr>
        <p:spPr/>
        <p:txBody>
          <a:bodyPr>
            <a:normAutofit/>
          </a:bodyPr>
          <a:lstStyle/>
          <a:p>
            <a:r>
              <a:rPr lang="zh-CN" altLang="en-US" b="0" dirty="0" smtClean="0">
                <a:effectLst/>
              </a:rPr>
              <a:t>分支管理</a:t>
            </a:r>
            <a:r>
              <a:rPr lang="en-US" altLang="zh-CN" b="0" dirty="0" smtClean="0">
                <a:effectLst/>
              </a:rPr>
              <a:t>-</a:t>
            </a:r>
            <a:r>
              <a:rPr lang="zh-CN" altLang="en-US" b="0" dirty="0" smtClean="0">
                <a:effectLst/>
              </a:rPr>
              <a:t>（</a:t>
            </a:r>
            <a:r>
              <a:rPr lang="en-US" altLang="zh-CN" b="0" dirty="0" smtClean="0">
                <a:effectLst/>
              </a:rPr>
              <a:t>1</a:t>
            </a:r>
            <a:r>
              <a:rPr lang="zh-CN" altLang="en-US" b="0" dirty="0" smtClean="0">
                <a:effectLst/>
              </a:rPr>
              <a:t>）</a:t>
            </a:r>
            <a:r>
              <a:rPr lang="zh-CN" altLang="en-US" b="0" dirty="0">
                <a:effectLst/>
              </a:rPr>
              <a:t>创建本地</a:t>
            </a:r>
            <a:r>
              <a:rPr lang="zh-CN" altLang="en-US" b="0" dirty="0" smtClean="0">
                <a:effectLst/>
              </a:rPr>
              <a:t>分支</a:t>
            </a:r>
            <a:endParaRPr lang="zh-CN" altLang="en-US" b="0" dirty="0">
              <a:effectLst/>
            </a:endParaRPr>
          </a:p>
        </p:txBody>
      </p:sp>
      <p:sp>
        <p:nvSpPr>
          <p:cNvPr id="4" name="灯片编号占位符 3"/>
          <p:cNvSpPr>
            <a:spLocks noGrp="1"/>
          </p:cNvSpPr>
          <p:nvPr>
            <p:ph type="sldNum" sz="quarter" idx="12"/>
          </p:nvPr>
        </p:nvSpPr>
        <p:spPr/>
        <p:txBody>
          <a:bodyPr/>
          <a:lstStyle/>
          <a:p>
            <a:fld id="{0BD87961-E39D-4DAC-BBE4-2A1C1340B983}" type="slidenum">
              <a:rPr lang="zh-CN" altLang="en-US" smtClean="0"/>
              <a:t>26</a:t>
            </a:fld>
            <a:endParaRPr lang="zh-CN" altLang="en-US"/>
          </a:p>
        </p:txBody>
      </p:sp>
    </p:spTree>
    <p:extLst>
      <p:ext uri="{BB962C8B-B14F-4D97-AF65-F5344CB8AC3E}">
        <p14:creationId xmlns:p14="http://schemas.microsoft.com/office/powerpoint/2010/main" val="25277999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9" y="1481329"/>
            <a:ext cx="11237843" cy="4525963"/>
          </a:xfrm>
        </p:spPr>
        <p:txBody>
          <a:bodyPr>
            <a:normAutofit/>
          </a:bodyPr>
          <a:lstStyle/>
          <a:p>
            <a:pPr marL="109728" indent="0">
              <a:lnSpc>
                <a:spcPct val="150000"/>
              </a:lnSpc>
              <a:buNone/>
            </a:pPr>
            <a:r>
              <a:rPr lang="en-US" altLang="zh-CN" sz="2800" dirty="0" smtClean="0"/>
              <a:t>#</a:t>
            </a:r>
            <a:r>
              <a:rPr lang="zh-CN" altLang="en-US" sz="2800" dirty="0"/>
              <a:t>删除本地分支，需要用到</a:t>
            </a:r>
            <a:r>
              <a:rPr lang="en-US" altLang="zh-CN" sz="2800" dirty="0" err="1"/>
              <a:t>git</a:t>
            </a:r>
            <a:r>
              <a:rPr lang="en-US" altLang="zh-CN" sz="2800" dirty="0"/>
              <a:t> branch</a:t>
            </a:r>
            <a:r>
              <a:rPr lang="zh-CN" altLang="en-US" sz="2800" dirty="0"/>
              <a:t>命令，且需要</a:t>
            </a:r>
            <a:r>
              <a:rPr lang="en-US" altLang="zh-CN" sz="2800" dirty="0"/>
              <a:t>-D</a:t>
            </a:r>
            <a:r>
              <a:rPr lang="zh-CN" altLang="en-US" sz="2800" dirty="0"/>
              <a:t>参数，具体命令格式为</a:t>
            </a:r>
            <a:r>
              <a:rPr lang="zh-CN" altLang="en-US" sz="2800" dirty="0" smtClean="0"/>
              <a:t>：</a:t>
            </a:r>
            <a:r>
              <a:rPr lang="en-US" altLang="zh-CN" sz="2800" dirty="0" err="1" smtClean="0"/>
              <a:t>git</a:t>
            </a:r>
            <a:r>
              <a:rPr lang="en-US" altLang="zh-CN" sz="2800" dirty="0" smtClean="0"/>
              <a:t> </a:t>
            </a:r>
            <a:r>
              <a:rPr lang="en-US" altLang="zh-CN" sz="2800" dirty="0"/>
              <a:t>branch -D </a:t>
            </a:r>
            <a:r>
              <a:rPr lang="en-US" altLang="zh-CN" sz="2800" dirty="0" smtClean="0"/>
              <a:t> </a:t>
            </a:r>
            <a:r>
              <a:rPr lang="zh-CN" altLang="en-US" sz="2800" dirty="0" smtClean="0"/>
              <a:t>需要</a:t>
            </a:r>
            <a:r>
              <a:rPr lang="zh-CN" altLang="en-US" sz="2800" dirty="0"/>
              <a:t>删除的分支的名字，</a:t>
            </a:r>
            <a:r>
              <a:rPr lang="zh-CN" altLang="en-US" sz="2800" dirty="0" smtClean="0"/>
              <a:t>例如删除分支</a:t>
            </a:r>
            <a:r>
              <a:rPr lang="en-US" altLang="zh-CN" sz="2800" dirty="0" smtClean="0"/>
              <a:t>develop</a:t>
            </a:r>
            <a:r>
              <a:rPr lang="zh-CN" altLang="en-US" sz="2800" dirty="0" smtClean="0"/>
              <a:t>：</a:t>
            </a:r>
            <a:endParaRPr lang="en-US" altLang="zh-CN" sz="2800" dirty="0" smtClean="0"/>
          </a:p>
          <a:p>
            <a:pPr marL="109728" indent="0">
              <a:lnSpc>
                <a:spcPct val="150000"/>
              </a:lnSpc>
              <a:buNone/>
            </a:pPr>
            <a:r>
              <a:rPr lang="en-US" altLang="zh-CN" sz="2800" dirty="0" err="1">
                <a:solidFill>
                  <a:srgbClr val="FF0000"/>
                </a:solidFill>
              </a:rPr>
              <a:t>git</a:t>
            </a:r>
            <a:r>
              <a:rPr lang="en-US" altLang="zh-CN" sz="2800" dirty="0">
                <a:solidFill>
                  <a:srgbClr val="FF0000"/>
                </a:solidFill>
              </a:rPr>
              <a:t> branch -D </a:t>
            </a:r>
            <a:r>
              <a:rPr lang="en-US" altLang="zh-CN" sz="2800" dirty="0" smtClean="0">
                <a:solidFill>
                  <a:srgbClr val="FF0000"/>
                </a:solidFill>
              </a:rPr>
              <a:t>develop</a:t>
            </a:r>
          </a:p>
          <a:p>
            <a:pPr marL="109728" indent="0">
              <a:lnSpc>
                <a:spcPct val="150000"/>
              </a:lnSpc>
              <a:buNone/>
            </a:pPr>
            <a:endParaRPr lang="en-US" altLang="zh-CN" sz="2800" dirty="0">
              <a:solidFill>
                <a:srgbClr val="FF0000"/>
              </a:solidFill>
            </a:endParaRPr>
          </a:p>
          <a:p>
            <a:pPr marL="109728" indent="0">
              <a:lnSpc>
                <a:spcPct val="150000"/>
              </a:lnSpc>
              <a:buNone/>
            </a:pPr>
            <a:endParaRPr lang="en-US" altLang="zh-CN" sz="2800" dirty="0" smtClean="0">
              <a:solidFill>
                <a:srgbClr val="FF0000"/>
              </a:solidFill>
            </a:endParaRPr>
          </a:p>
        </p:txBody>
      </p:sp>
      <p:sp>
        <p:nvSpPr>
          <p:cNvPr id="3" name="标题 2"/>
          <p:cNvSpPr>
            <a:spLocks noGrp="1"/>
          </p:cNvSpPr>
          <p:nvPr>
            <p:ph type="title"/>
          </p:nvPr>
        </p:nvSpPr>
        <p:spPr/>
        <p:txBody>
          <a:bodyPr>
            <a:normAutofit/>
          </a:bodyPr>
          <a:lstStyle/>
          <a:p>
            <a:r>
              <a:rPr lang="zh-CN" altLang="en-US" b="0" dirty="0" smtClean="0">
                <a:effectLst/>
              </a:rPr>
              <a:t>分支管理</a:t>
            </a:r>
            <a:r>
              <a:rPr lang="en-US" altLang="zh-CN" b="0" dirty="0" smtClean="0">
                <a:effectLst/>
              </a:rPr>
              <a:t>-</a:t>
            </a:r>
            <a:r>
              <a:rPr lang="zh-CN" altLang="en-US" b="0" dirty="0" smtClean="0">
                <a:effectLst/>
              </a:rPr>
              <a:t>（</a:t>
            </a:r>
            <a:r>
              <a:rPr lang="en-US" altLang="zh-CN" b="0" dirty="0" smtClean="0">
                <a:effectLst/>
              </a:rPr>
              <a:t>2</a:t>
            </a:r>
            <a:r>
              <a:rPr lang="zh-CN" altLang="en-US" b="0" dirty="0" smtClean="0">
                <a:effectLst/>
              </a:rPr>
              <a:t>）</a:t>
            </a:r>
            <a:r>
              <a:rPr lang="zh-CN" altLang="en-US" b="0" dirty="0">
                <a:effectLst/>
              </a:rPr>
              <a:t>删除本地</a:t>
            </a:r>
            <a:r>
              <a:rPr lang="zh-CN" altLang="en-US" b="0" dirty="0" smtClean="0">
                <a:effectLst/>
              </a:rPr>
              <a:t>分支</a:t>
            </a:r>
            <a:endParaRPr lang="zh-CN" altLang="en-US" b="0" dirty="0">
              <a:effectLst/>
            </a:endParaRPr>
          </a:p>
        </p:txBody>
      </p:sp>
      <p:sp>
        <p:nvSpPr>
          <p:cNvPr id="4" name="灯片编号占位符 3"/>
          <p:cNvSpPr>
            <a:spLocks noGrp="1"/>
          </p:cNvSpPr>
          <p:nvPr>
            <p:ph type="sldNum" sz="quarter" idx="12"/>
          </p:nvPr>
        </p:nvSpPr>
        <p:spPr/>
        <p:txBody>
          <a:bodyPr/>
          <a:lstStyle/>
          <a:p>
            <a:fld id="{0BD87961-E39D-4DAC-BBE4-2A1C1340B983}" type="slidenum">
              <a:rPr lang="zh-CN" altLang="en-US" smtClean="0"/>
              <a:t>27</a:t>
            </a:fld>
            <a:endParaRPr lang="zh-CN" altLang="en-US"/>
          </a:p>
        </p:txBody>
      </p:sp>
    </p:spTree>
    <p:extLst>
      <p:ext uri="{BB962C8B-B14F-4D97-AF65-F5344CB8AC3E}">
        <p14:creationId xmlns:p14="http://schemas.microsoft.com/office/powerpoint/2010/main" val="109545470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9" y="1481329"/>
            <a:ext cx="11237843" cy="4525963"/>
          </a:xfrm>
        </p:spPr>
        <p:txBody>
          <a:bodyPr>
            <a:normAutofit lnSpcReduction="10000"/>
          </a:bodyPr>
          <a:lstStyle/>
          <a:p>
            <a:pPr marL="109728" indent="0">
              <a:lnSpc>
                <a:spcPct val="150000"/>
              </a:lnSpc>
              <a:buNone/>
            </a:pPr>
            <a:r>
              <a:rPr lang="en-US" altLang="zh-CN" sz="2800" dirty="0" smtClean="0"/>
              <a:t>#</a:t>
            </a:r>
            <a:r>
              <a:rPr lang="zh-CN" altLang="en-US" sz="2800" dirty="0"/>
              <a:t>删除分支用到的</a:t>
            </a:r>
            <a:r>
              <a:rPr lang="en-US" altLang="zh-CN" sz="2800" dirty="0" err="1"/>
              <a:t>git</a:t>
            </a:r>
            <a:r>
              <a:rPr lang="zh-CN" altLang="en-US" sz="2800" dirty="0"/>
              <a:t>命令是</a:t>
            </a:r>
            <a:r>
              <a:rPr lang="en-US" altLang="zh-CN" sz="2800" dirty="0" err="1"/>
              <a:t>git</a:t>
            </a:r>
            <a:r>
              <a:rPr lang="en-US" altLang="zh-CN" sz="2800" dirty="0"/>
              <a:t> push</a:t>
            </a:r>
            <a:r>
              <a:rPr lang="zh-CN" altLang="en-US" sz="2800" dirty="0" smtClean="0"/>
              <a:t>，有两种方法：</a:t>
            </a:r>
            <a:endParaRPr lang="en-US" altLang="zh-CN" sz="2800" dirty="0" smtClean="0"/>
          </a:p>
          <a:p>
            <a:pPr marL="109728" indent="0">
              <a:lnSpc>
                <a:spcPct val="150000"/>
              </a:lnSpc>
              <a:buNone/>
            </a:pPr>
            <a:r>
              <a:rPr lang="en-US" altLang="zh-CN" sz="2800" dirty="0" smtClean="0"/>
              <a:t>1.</a:t>
            </a:r>
            <a:r>
              <a:rPr lang="zh-CN" altLang="en-US" sz="2800" dirty="0"/>
              <a:t>通过推送空分支到远程分支，实现删除，推送空分支实现删除的方法是</a:t>
            </a:r>
            <a:r>
              <a:rPr lang="zh-CN" altLang="en-US" sz="2800" dirty="0" smtClean="0"/>
              <a:t>：</a:t>
            </a:r>
            <a:r>
              <a:rPr lang="en-US" altLang="zh-CN" sz="2800" dirty="0" err="1" smtClean="0"/>
              <a:t>git</a:t>
            </a:r>
            <a:r>
              <a:rPr lang="en-US" altLang="zh-CN" sz="2800" dirty="0" smtClean="0"/>
              <a:t> </a:t>
            </a:r>
            <a:r>
              <a:rPr lang="en-US" altLang="zh-CN" sz="2800" dirty="0"/>
              <a:t>push </a:t>
            </a:r>
            <a:r>
              <a:rPr lang="zh-CN" altLang="en-US" sz="2800" dirty="0"/>
              <a:t>远程主机名 </a:t>
            </a:r>
            <a:r>
              <a:rPr lang="en-US" altLang="zh-CN" sz="2800" dirty="0"/>
              <a:t>:</a:t>
            </a:r>
            <a:r>
              <a:rPr lang="zh-CN" altLang="en-US" sz="2800" dirty="0"/>
              <a:t>远程</a:t>
            </a:r>
            <a:r>
              <a:rPr lang="zh-CN" altLang="en-US" sz="2800" dirty="0" smtClean="0"/>
              <a:t>分支，例如</a:t>
            </a:r>
            <a:endParaRPr lang="en-US" altLang="zh-CN" sz="2800" dirty="0" smtClean="0"/>
          </a:p>
          <a:p>
            <a:pPr marL="109728" indent="0">
              <a:lnSpc>
                <a:spcPct val="150000"/>
              </a:lnSpc>
              <a:buNone/>
            </a:pPr>
            <a:r>
              <a:rPr lang="en-US" altLang="zh-CN" sz="2800" dirty="0" err="1">
                <a:solidFill>
                  <a:srgbClr val="FF0000"/>
                </a:solidFill>
              </a:rPr>
              <a:t>git</a:t>
            </a:r>
            <a:r>
              <a:rPr lang="en-US" altLang="zh-CN" sz="2800" dirty="0">
                <a:solidFill>
                  <a:srgbClr val="FF0000"/>
                </a:solidFill>
              </a:rPr>
              <a:t> push origin :</a:t>
            </a:r>
            <a:r>
              <a:rPr lang="en-US" altLang="zh-CN" sz="2800" dirty="0" smtClean="0">
                <a:solidFill>
                  <a:srgbClr val="FF0000"/>
                </a:solidFill>
              </a:rPr>
              <a:t>develop</a:t>
            </a:r>
          </a:p>
          <a:p>
            <a:pPr marL="109728" indent="0">
              <a:lnSpc>
                <a:spcPct val="150000"/>
              </a:lnSpc>
              <a:buNone/>
            </a:pPr>
            <a:r>
              <a:rPr lang="en-US" altLang="zh-CN" sz="2800" dirty="0" smtClean="0"/>
              <a:t>2.</a:t>
            </a:r>
            <a:r>
              <a:rPr lang="zh-CN" altLang="en-US" sz="2800" dirty="0"/>
              <a:t>通过</a:t>
            </a:r>
            <a:r>
              <a:rPr lang="en-US" altLang="zh-CN" sz="2800" dirty="0"/>
              <a:t>delete</a:t>
            </a:r>
            <a:r>
              <a:rPr lang="zh-CN" altLang="en-US" sz="2800" dirty="0"/>
              <a:t>参数删除远程</a:t>
            </a:r>
            <a:r>
              <a:rPr lang="zh-CN" altLang="en-US" sz="2800" dirty="0" smtClean="0"/>
              <a:t>分支。命令</a:t>
            </a:r>
            <a:r>
              <a:rPr lang="zh-CN" altLang="en-US" sz="2800" dirty="0"/>
              <a:t>格式为</a:t>
            </a:r>
            <a:r>
              <a:rPr lang="zh-CN" altLang="en-US" sz="2800" dirty="0" smtClean="0"/>
              <a:t>：</a:t>
            </a:r>
            <a:r>
              <a:rPr lang="en-US" altLang="zh-CN" sz="2800" dirty="0" err="1" smtClean="0"/>
              <a:t>git</a:t>
            </a:r>
            <a:r>
              <a:rPr lang="en-US" altLang="zh-CN" sz="2800" dirty="0" smtClean="0"/>
              <a:t> </a:t>
            </a:r>
            <a:r>
              <a:rPr lang="en-US" altLang="zh-CN" sz="2800" dirty="0"/>
              <a:t>push </a:t>
            </a:r>
            <a:r>
              <a:rPr lang="zh-CN" altLang="en-US" sz="2800" dirty="0"/>
              <a:t>远程主机名 </a:t>
            </a:r>
            <a:r>
              <a:rPr lang="en-US" altLang="zh-CN" sz="2800" dirty="0"/>
              <a:t>--delete </a:t>
            </a:r>
            <a:r>
              <a:rPr lang="zh-CN" altLang="en-US" sz="2800" dirty="0"/>
              <a:t>远程分支</a:t>
            </a:r>
            <a:r>
              <a:rPr lang="zh-CN" altLang="en-US" sz="2800" dirty="0" smtClean="0"/>
              <a:t>名，例如：</a:t>
            </a:r>
            <a:endParaRPr lang="en-US" altLang="zh-CN" sz="2800" dirty="0" smtClean="0"/>
          </a:p>
          <a:p>
            <a:pPr marL="109728" indent="0">
              <a:lnSpc>
                <a:spcPct val="150000"/>
              </a:lnSpc>
              <a:buNone/>
            </a:pPr>
            <a:r>
              <a:rPr lang="en-US" altLang="zh-CN" sz="2800" dirty="0" err="1">
                <a:solidFill>
                  <a:srgbClr val="FF0000"/>
                </a:solidFill>
              </a:rPr>
              <a:t>git</a:t>
            </a:r>
            <a:r>
              <a:rPr lang="en-US" altLang="zh-CN" sz="2800" dirty="0">
                <a:solidFill>
                  <a:srgbClr val="FF0000"/>
                </a:solidFill>
              </a:rPr>
              <a:t> push origin --delete develop</a:t>
            </a:r>
          </a:p>
          <a:p>
            <a:pPr marL="109728" indent="0">
              <a:lnSpc>
                <a:spcPct val="150000"/>
              </a:lnSpc>
              <a:buNone/>
            </a:pPr>
            <a:endParaRPr lang="en-US" altLang="zh-CN" sz="2800" dirty="0" smtClean="0">
              <a:solidFill>
                <a:srgbClr val="FF0000"/>
              </a:solidFill>
            </a:endParaRPr>
          </a:p>
        </p:txBody>
      </p:sp>
      <p:sp>
        <p:nvSpPr>
          <p:cNvPr id="3" name="标题 2"/>
          <p:cNvSpPr>
            <a:spLocks noGrp="1"/>
          </p:cNvSpPr>
          <p:nvPr>
            <p:ph type="title"/>
          </p:nvPr>
        </p:nvSpPr>
        <p:spPr/>
        <p:txBody>
          <a:bodyPr>
            <a:normAutofit/>
          </a:bodyPr>
          <a:lstStyle/>
          <a:p>
            <a:r>
              <a:rPr lang="zh-CN" altLang="en-US" b="0" dirty="0" smtClean="0">
                <a:effectLst/>
              </a:rPr>
              <a:t>分支管理</a:t>
            </a:r>
            <a:r>
              <a:rPr lang="en-US" altLang="zh-CN" b="0" dirty="0" smtClean="0">
                <a:effectLst/>
              </a:rPr>
              <a:t>-</a:t>
            </a:r>
            <a:r>
              <a:rPr lang="zh-CN" altLang="en-US" b="0" dirty="0" smtClean="0">
                <a:effectLst/>
              </a:rPr>
              <a:t>（</a:t>
            </a:r>
            <a:r>
              <a:rPr lang="en-US" altLang="zh-CN" b="0" dirty="0" smtClean="0">
                <a:effectLst/>
              </a:rPr>
              <a:t>3</a:t>
            </a:r>
            <a:r>
              <a:rPr lang="zh-CN" altLang="en-US" b="0" dirty="0" smtClean="0">
                <a:effectLst/>
              </a:rPr>
              <a:t>）</a:t>
            </a:r>
            <a:r>
              <a:rPr lang="zh-CN" altLang="en-US" b="0" dirty="0">
                <a:effectLst/>
              </a:rPr>
              <a:t>删除远程</a:t>
            </a:r>
            <a:r>
              <a:rPr lang="zh-CN" altLang="en-US" b="0" dirty="0" smtClean="0">
                <a:effectLst/>
              </a:rPr>
              <a:t>分支</a:t>
            </a:r>
            <a:endParaRPr lang="zh-CN" altLang="en-US" b="0" dirty="0">
              <a:effectLst/>
            </a:endParaRPr>
          </a:p>
        </p:txBody>
      </p:sp>
      <p:sp>
        <p:nvSpPr>
          <p:cNvPr id="4" name="灯片编号占位符 3"/>
          <p:cNvSpPr>
            <a:spLocks noGrp="1"/>
          </p:cNvSpPr>
          <p:nvPr>
            <p:ph type="sldNum" sz="quarter" idx="12"/>
          </p:nvPr>
        </p:nvSpPr>
        <p:spPr/>
        <p:txBody>
          <a:bodyPr/>
          <a:lstStyle/>
          <a:p>
            <a:fld id="{0BD87961-E39D-4DAC-BBE4-2A1C1340B983}" type="slidenum">
              <a:rPr lang="zh-CN" altLang="en-US" smtClean="0"/>
              <a:t>28</a:t>
            </a:fld>
            <a:endParaRPr lang="zh-CN" altLang="en-US"/>
          </a:p>
        </p:txBody>
      </p:sp>
    </p:spTree>
    <p:extLst>
      <p:ext uri="{BB962C8B-B14F-4D97-AF65-F5344CB8AC3E}">
        <p14:creationId xmlns:p14="http://schemas.microsoft.com/office/powerpoint/2010/main" val="249404771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9" y="1481329"/>
            <a:ext cx="11237843" cy="4525963"/>
          </a:xfrm>
        </p:spPr>
        <p:txBody>
          <a:bodyPr>
            <a:normAutofit/>
          </a:bodyPr>
          <a:lstStyle/>
          <a:p>
            <a:pPr marL="109728" indent="0">
              <a:lnSpc>
                <a:spcPct val="150000"/>
              </a:lnSpc>
              <a:buNone/>
            </a:pPr>
            <a:r>
              <a:rPr lang="en-US" altLang="zh-CN" sz="2800" dirty="0" smtClean="0"/>
              <a:t>#</a:t>
            </a:r>
            <a:r>
              <a:rPr lang="zh-CN" altLang="en-US" sz="2800" dirty="0"/>
              <a:t>分支合并需要用到</a:t>
            </a:r>
            <a:r>
              <a:rPr lang="en-US" altLang="zh-CN" sz="2800" dirty="0" err="1"/>
              <a:t>git</a:t>
            </a:r>
            <a:r>
              <a:rPr lang="en-US" altLang="zh-CN" sz="2800" dirty="0"/>
              <a:t> merge</a:t>
            </a:r>
            <a:r>
              <a:rPr lang="zh-CN" altLang="en-US" sz="2800" dirty="0"/>
              <a:t>命令，具体的命令格式为</a:t>
            </a:r>
            <a:r>
              <a:rPr lang="zh-CN" altLang="en-US" sz="2800" dirty="0" smtClean="0"/>
              <a:t>：</a:t>
            </a:r>
            <a:r>
              <a:rPr lang="en-US" altLang="zh-CN" sz="2800" dirty="0" err="1" smtClean="0"/>
              <a:t>git</a:t>
            </a:r>
            <a:r>
              <a:rPr lang="en-US" altLang="zh-CN" sz="2800" dirty="0" smtClean="0"/>
              <a:t> </a:t>
            </a:r>
            <a:r>
              <a:rPr lang="en-US" altLang="zh-CN" sz="2800" dirty="0"/>
              <a:t>merge </a:t>
            </a:r>
            <a:r>
              <a:rPr lang="zh-CN" altLang="en-US" sz="2800" dirty="0"/>
              <a:t>需要合并的分支，</a:t>
            </a:r>
            <a:r>
              <a:rPr lang="zh-CN" altLang="en-US" sz="2800" dirty="0" smtClean="0"/>
              <a:t>例如，将</a:t>
            </a:r>
            <a:r>
              <a:rPr lang="en-US" altLang="zh-CN" sz="2800" dirty="0" err="1" smtClean="0"/>
              <a:t>git</a:t>
            </a:r>
            <a:r>
              <a:rPr lang="zh-CN" altLang="en-US" sz="2800" dirty="0" smtClean="0"/>
              <a:t>分支合并到当前主分支</a:t>
            </a:r>
            <a:r>
              <a:rPr lang="en-US" altLang="zh-CN" sz="2800" dirty="0" smtClean="0"/>
              <a:t>master</a:t>
            </a:r>
            <a:r>
              <a:rPr lang="zh-CN" altLang="en-US" sz="2800" dirty="0" smtClean="0"/>
              <a:t>：</a:t>
            </a:r>
            <a:endParaRPr lang="en-US" altLang="zh-CN" sz="2800" dirty="0" smtClean="0"/>
          </a:p>
          <a:p>
            <a:pPr marL="109728" indent="0">
              <a:buNone/>
            </a:pPr>
            <a:r>
              <a:rPr lang="en-US" altLang="zh-CN" sz="2800" dirty="0" err="1">
                <a:solidFill>
                  <a:srgbClr val="FF0000"/>
                </a:solidFill>
              </a:rPr>
              <a:t>git</a:t>
            </a:r>
            <a:r>
              <a:rPr lang="en-US" altLang="zh-CN" sz="2800" dirty="0">
                <a:solidFill>
                  <a:srgbClr val="FF0000"/>
                </a:solidFill>
              </a:rPr>
              <a:t> merge </a:t>
            </a:r>
            <a:r>
              <a:rPr lang="en-US" altLang="zh-CN" sz="2800" dirty="0" err="1">
                <a:solidFill>
                  <a:srgbClr val="FF0000"/>
                </a:solidFill>
              </a:rPr>
              <a:t>git</a:t>
            </a:r>
            <a:endParaRPr lang="en-US" altLang="zh-CN" sz="2800" dirty="0">
              <a:solidFill>
                <a:srgbClr val="FF0000"/>
              </a:solidFill>
            </a:endParaRPr>
          </a:p>
          <a:p>
            <a:pPr marL="109728" indent="0">
              <a:lnSpc>
                <a:spcPct val="150000"/>
              </a:lnSpc>
              <a:buNone/>
            </a:pPr>
            <a:endParaRPr lang="en-US" altLang="zh-CN" sz="2800" dirty="0" smtClean="0">
              <a:solidFill>
                <a:srgbClr val="FF0000"/>
              </a:solidFill>
            </a:endParaRPr>
          </a:p>
        </p:txBody>
      </p:sp>
      <p:sp>
        <p:nvSpPr>
          <p:cNvPr id="3" name="标题 2"/>
          <p:cNvSpPr>
            <a:spLocks noGrp="1"/>
          </p:cNvSpPr>
          <p:nvPr>
            <p:ph type="title"/>
          </p:nvPr>
        </p:nvSpPr>
        <p:spPr/>
        <p:txBody>
          <a:bodyPr>
            <a:normAutofit/>
          </a:bodyPr>
          <a:lstStyle/>
          <a:p>
            <a:r>
              <a:rPr lang="zh-CN" altLang="en-US" b="0" dirty="0" smtClean="0">
                <a:effectLst/>
              </a:rPr>
              <a:t>分支管理</a:t>
            </a:r>
            <a:r>
              <a:rPr lang="en-US" altLang="zh-CN" b="0" dirty="0" smtClean="0">
                <a:effectLst/>
              </a:rPr>
              <a:t>-</a:t>
            </a:r>
            <a:r>
              <a:rPr lang="zh-CN" altLang="en-US" b="0" dirty="0" smtClean="0">
                <a:effectLst/>
              </a:rPr>
              <a:t>（</a:t>
            </a:r>
            <a:r>
              <a:rPr lang="en-US" altLang="zh-CN" b="0" dirty="0" smtClean="0">
                <a:effectLst/>
              </a:rPr>
              <a:t>4</a:t>
            </a:r>
            <a:r>
              <a:rPr lang="zh-CN" altLang="en-US" b="0" dirty="0" smtClean="0">
                <a:effectLst/>
              </a:rPr>
              <a:t>）</a:t>
            </a:r>
            <a:r>
              <a:rPr lang="zh-CN" altLang="en-US" b="0" dirty="0">
                <a:effectLst/>
              </a:rPr>
              <a:t>本地分支</a:t>
            </a:r>
            <a:r>
              <a:rPr lang="zh-CN" altLang="en-US" b="0" dirty="0" smtClean="0">
                <a:effectLst/>
              </a:rPr>
              <a:t>合并</a:t>
            </a:r>
            <a:endParaRPr lang="zh-CN" altLang="en-US" b="0" dirty="0">
              <a:effectLst/>
            </a:endParaRPr>
          </a:p>
        </p:txBody>
      </p:sp>
      <p:sp>
        <p:nvSpPr>
          <p:cNvPr id="4" name="灯片编号占位符 3"/>
          <p:cNvSpPr>
            <a:spLocks noGrp="1"/>
          </p:cNvSpPr>
          <p:nvPr>
            <p:ph type="sldNum" sz="quarter" idx="12"/>
          </p:nvPr>
        </p:nvSpPr>
        <p:spPr/>
        <p:txBody>
          <a:bodyPr/>
          <a:lstStyle/>
          <a:p>
            <a:fld id="{0BD87961-E39D-4DAC-BBE4-2A1C1340B983}" type="slidenum">
              <a:rPr lang="zh-CN" altLang="en-US" smtClean="0"/>
              <a:t>29</a:t>
            </a:fld>
            <a:endParaRPr lang="zh-CN" altLang="en-US"/>
          </a:p>
        </p:txBody>
      </p:sp>
    </p:spTree>
    <p:extLst>
      <p:ext uri="{BB962C8B-B14F-4D97-AF65-F5344CB8AC3E}">
        <p14:creationId xmlns:p14="http://schemas.microsoft.com/office/powerpoint/2010/main" val="58266561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9" y="1481329"/>
            <a:ext cx="11307418" cy="4859836"/>
          </a:xfrm>
        </p:spPr>
        <p:txBody>
          <a:bodyPr>
            <a:normAutofit/>
          </a:bodyPr>
          <a:lstStyle/>
          <a:p>
            <a:pPr marL="109728" indent="0">
              <a:lnSpc>
                <a:spcPct val="150000"/>
              </a:lnSpc>
              <a:buNone/>
            </a:pPr>
            <a:r>
              <a:rPr lang="en-US" altLang="zh-CN" sz="2800" dirty="0" smtClean="0"/>
              <a:t>#</a:t>
            </a:r>
            <a:r>
              <a:rPr lang="zh-CN" altLang="en-US" sz="2800" dirty="0"/>
              <a:t>版本回退可以用</a:t>
            </a:r>
            <a:r>
              <a:rPr lang="en-US" altLang="zh-CN" sz="2800" dirty="0" err="1"/>
              <a:t>git</a:t>
            </a:r>
            <a:r>
              <a:rPr lang="en-US" altLang="zh-CN" sz="2800" dirty="0"/>
              <a:t> revert</a:t>
            </a:r>
            <a:r>
              <a:rPr lang="zh-CN" altLang="en-US" sz="2800" dirty="0" smtClean="0"/>
              <a:t>命令，例如：</a:t>
            </a:r>
            <a:endParaRPr lang="en-US" altLang="zh-CN" sz="2800" dirty="0" smtClean="0"/>
          </a:p>
          <a:p>
            <a:pPr marL="109728" indent="0">
              <a:lnSpc>
                <a:spcPct val="150000"/>
              </a:lnSpc>
              <a:buNone/>
            </a:pPr>
            <a:r>
              <a:rPr lang="en-US" altLang="zh-CN" sz="2800" dirty="0" smtClean="0"/>
              <a:t>	</a:t>
            </a:r>
            <a:r>
              <a:rPr lang="en-US" altLang="zh-CN" sz="2800" dirty="0" err="1" smtClean="0">
                <a:solidFill>
                  <a:srgbClr val="FF0000"/>
                </a:solidFill>
              </a:rPr>
              <a:t>git</a:t>
            </a:r>
            <a:r>
              <a:rPr lang="en-US" altLang="zh-CN" sz="2800" dirty="0" smtClean="0">
                <a:solidFill>
                  <a:srgbClr val="FF0000"/>
                </a:solidFill>
              </a:rPr>
              <a:t> </a:t>
            </a:r>
            <a:r>
              <a:rPr lang="en-US" altLang="zh-CN" sz="2800" dirty="0">
                <a:solidFill>
                  <a:srgbClr val="FF0000"/>
                </a:solidFill>
              </a:rPr>
              <a:t>revert HEAD </a:t>
            </a:r>
            <a:r>
              <a:rPr lang="en-US" altLang="zh-CN" sz="2800" dirty="0" smtClean="0">
                <a:solidFill>
                  <a:srgbClr val="FF0000"/>
                </a:solidFill>
              </a:rPr>
              <a:t>     </a:t>
            </a:r>
            <a:r>
              <a:rPr lang="zh-CN" altLang="en-US" sz="2800" dirty="0" smtClean="0">
                <a:solidFill>
                  <a:srgbClr val="FF0000"/>
                </a:solidFill>
              </a:rPr>
              <a:t>撤销</a:t>
            </a:r>
            <a:r>
              <a:rPr lang="zh-CN" altLang="en-US" sz="2800" dirty="0">
                <a:solidFill>
                  <a:srgbClr val="FF0000"/>
                </a:solidFill>
              </a:rPr>
              <a:t>前一次 </a:t>
            </a:r>
            <a:r>
              <a:rPr lang="en-US" altLang="zh-CN" sz="2800" dirty="0">
                <a:solidFill>
                  <a:srgbClr val="FF0000"/>
                </a:solidFill>
              </a:rPr>
              <a:t>commit </a:t>
            </a:r>
            <a:endParaRPr lang="en-US" altLang="zh-CN" sz="2800" dirty="0" smtClean="0">
              <a:solidFill>
                <a:srgbClr val="FF0000"/>
              </a:solidFill>
            </a:endParaRPr>
          </a:p>
          <a:p>
            <a:pPr marL="109728" indent="0">
              <a:lnSpc>
                <a:spcPct val="150000"/>
              </a:lnSpc>
              <a:buNone/>
            </a:pPr>
            <a:r>
              <a:rPr lang="en-US" altLang="zh-CN" sz="2800" dirty="0" smtClean="0">
                <a:solidFill>
                  <a:srgbClr val="FF0000"/>
                </a:solidFill>
              </a:rPr>
              <a:t> 	</a:t>
            </a:r>
            <a:r>
              <a:rPr lang="en-US" altLang="zh-CN" sz="2800" dirty="0" err="1" smtClean="0">
                <a:solidFill>
                  <a:srgbClr val="FF0000"/>
                </a:solidFill>
              </a:rPr>
              <a:t>git</a:t>
            </a:r>
            <a:r>
              <a:rPr lang="en-US" altLang="zh-CN" sz="2800" dirty="0" smtClean="0">
                <a:solidFill>
                  <a:srgbClr val="FF0000"/>
                </a:solidFill>
              </a:rPr>
              <a:t> </a:t>
            </a:r>
            <a:r>
              <a:rPr lang="en-US" altLang="zh-CN" sz="2800" dirty="0">
                <a:solidFill>
                  <a:srgbClr val="FF0000"/>
                </a:solidFill>
              </a:rPr>
              <a:t>revert HEAD^ </a:t>
            </a:r>
            <a:r>
              <a:rPr lang="en-US" altLang="zh-CN" sz="2800" dirty="0" smtClean="0">
                <a:solidFill>
                  <a:srgbClr val="FF0000"/>
                </a:solidFill>
              </a:rPr>
              <a:t>   </a:t>
            </a:r>
            <a:r>
              <a:rPr lang="zh-CN" altLang="en-US" sz="2800" dirty="0" smtClean="0">
                <a:solidFill>
                  <a:srgbClr val="FF0000"/>
                </a:solidFill>
              </a:rPr>
              <a:t>撤销</a:t>
            </a:r>
            <a:r>
              <a:rPr lang="zh-CN" altLang="en-US" sz="2800" dirty="0">
                <a:solidFill>
                  <a:srgbClr val="FF0000"/>
                </a:solidFill>
              </a:rPr>
              <a:t>前前一次 </a:t>
            </a:r>
            <a:r>
              <a:rPr lang="en-US" altLang="zh-CN" sz="2800" dirty="0" smtClean="0">
                <a:solidFill>
                  <a:srgbClr val="FF0000"/>
                </a:solidFill>
              </a:rPr>
              <a:t>commit</a:t>
            </a:r>
          </a:p>
          <a:p>
            <a:pPr marL="109728" indent="0">
              <a:lnSpc>
                <a:spcPct val="150000"/>
              </a:lnSpc>
              <a:buNone/>
            </a:pPr>
            <a:r>
              <a:rPr lang="en-US" altLang="zh-CN" sz="2800" dirty="0"/>
              <a:t>#</a:t>
            </a:r>
            <a:r>
              <a:rPr lang="zh-CN" altLang="en-US" sz="2800" dirty="0"/>
              <a:t>版本</a:t>
            </a:r>
            <a:r>
              <a:rPr lang="zh-CN" altLang="en-US" sz="2800" dirty="0" smtClean="0"/>
              <a:t>回退还可以用</a:t>
            </a:r>
            <a:r>
              <a:rPr lang="en-US" altLang="zh-CN" sz="2800" dirty="0" err="1"/>
              <a:t>git</a:t>
            </a:r>
            <a:r>
              <a:rPr lang="en-US" altLang="zh-CN" sz="2800" dirty="0"/>
              <a:t> </a:t>
            </a:r>
            <a:r>
              <a:rPr lang="en-US" altLang="zh-CN" sz="2800" dirty="0" smtClean="0"/>
              <a:t>reset</a:t>
            </a:r>
            <a:r>
              <a:rPr lang="zh-CN" altLang="en-US" sz="2800" dirty="0" smtClean="0"/>
              <a:t>命令，；</a:t>
            </a:r>
            <a:r>
              <a:rPr lang="zh-CN" altLang="en-US" sz="2800" dirty="0"/>
              <a:t>例如：</a:t>
            </a:r>
            <a:endParaRPr lang="en-US" altLang="zh-CN" sz="2800" dirty="0"/>
          </a:p>
          <a:p>
            <a:pPr marL="109728" indent="0">
              <a:lnSpc>
                <a:spcPct val="150000"/>
              </a:lnSpc>
              <a:buNone/>
            </a:pPr>
            <a:r>
              <a:rPr lang="en-US" altLang="zh-CN" sz="2800" dirty="0"/>
              <a:t>	</a:t>
            </a:r>
            <a:r>
              <a:rPr lang="en-US" altLang="zh-CN" sz="2800" dirty="0" err="1">
                <a:solidFill>
                  <a:srgbClr val="FF0000"/>
                </a:solidFill>
              </a:rPr>
              <a:t>git</a:t>
            </a:r>
            <a:r>
              <a:rPr lang="en-US" altLang="zh-CN" sz="2800" dirty="0">
                <a:solidFill>
                  <a:srgbClr val="FF0000"/>
                </a:solidFill>
              </a:rPr>
              <a:t> </a:t>
            </a:r>
            <a:r>
              <a:rPr lang="en-US" altLang="zh-CN" sz="2800" dirty="0" smtClean="0">
                <a:solidFill>
                  <a:srgbClr val="FF0000"/>
                </a:solidFill>
              </a:rPr>
              <a:t>reset </a:t>
            </a:r>
            <a:r>
              <a:rPr lang="en-US" altLang="zh-CN" sz="2800" dirty="0">
                <a:solidFill>
                  <a:srgbClr val="FF0000"/>
                </a:solidFill>
              </a:rPr>
              <a:t>HEAD      </a:t>
            </a:r>
            <a:r>
              <a:rPr lang="zh-CN" altLang="en-US" sz="2800" dirty="0">
                <a:solidFill>
                  <a:srgbClr val="FF0000"/>
                </a:solidFill>
              </a:rPr>
              <a:t>撤销前一次 </a:t>
            </a:r>
            <a:r>
              <a:rPr lang="en-US" altLang="zh-CN" sz="2800" dirty="0">
                <a:solidFill>
                  <a:srgbClr val="FF0000"/>
                </a:solidFill>
              </a:rPr>
              <a:t>commit </a:t>
            </a:r>
          </a:p>
          <a:p>
            <a:pPr marL="109728" indent="0">
              <a:lnSpc>
                <a:spcPct val="150000"/>
              </a:lnSpc>
              <a:buNone/>
            </a:pPr>
            <a:r>
              <a:rPr lang="en-US" altLang="zh-CN" sz="2800" dirty="0" smtClean="0"/>
              <a:t>#</a:t>
            </a:r>
            <a:r>
              <a:rPr lang="en-US" altLang="zh-CN" sz="2800" dirty="0" err="1" smtClean="0"/>
              <a:t>git</a:t>
            </a:r>
            <a:r>
              <a:rPr lang="en-US" altLang="zh-CN" sz="2800" dirty="0" smtClean="0"/>
              <a:t> </a:t>
            </a:r>
            <a:r>
              <a:rPr lang="en-US" altLang="zh-CN" sz="2800" dirty="0"/>
              <a:t>revert</a:t>
            </a:r>
            <a:r>
              <a:rPr lang="zh-CN" altLang="en-US" sz="2800" dirty="0"/>
              <a:t>是用一次新的</a:t>
            </a:r>
            <a:r>
              <a:rPr lang="en-US" altLang="zh-CN" sz="2800" dirty="0"/>
              <a:t>commit</a:t>
            </a:r>
            <a:r>
              <a:rPr lang="zh-CN" altLang="en-US" sz="2800" dirty="0"/>
              <a:t>来回滚之前的</a:t>
            </a:r>
            <a:r>
              <a:rPr lang="en-US" altLang="zh-CN" sz="2800" dirty="0"/>
              <a:t>commit</a:t>
            </a:r>
            <a:r>
              <a:rPr lang="zh-CN" altLang="en-US" sz="2800" dirty="0"/>
              <a:t>，</a:t>
            </a:r>
            <a:r>
              <a:rPr lang="en-US" altLang="zh-CN" sz="2800" dirty="0" err="1"/>
              <a:t>git</a:t>
            </a:r>
            <a:r>
              <a:rPr lang="en-US" altLang="zh-CN" sz="2800" dirty="0"/>
              <a:t> reset</a:t>
            </a:r>
            <a:r>
              <a:rPr lang="zh-CN" altLang="en-US" sz="2800" dirty="0"/>
              <a:t>是直接删除指定的</a:t>
            </a:r>
            <a:r>
              <a:rPr lang="en-US" altLang="zh-CN" sz="2800" dirty="0" smtClean="0"/>
              <a:t>commit</a:t>
            </a:r>
            <a:r>
              <a:rPr lang="zh-CN" altLang="en-US" sz="2800" dirty="0" smtClean="0"/>
              <a:t>。</a:t>
            </a:r>
            <a:endParaRPr lang="en-US" altLang="zh-CN" sz="2800" dirty="0" smtClean="0">
              <a:solidFill>
                <a:srgbClr val="FF0000"/>
              </a:solidFill>
            </a:endParaRPr>
          </a:p>
        </p:txBody>
      </p:sp>
      <p:sp>
        <p:nvSpPr>
          <p:cNvPr id="3" name="标题 2"/>
          <p:cNvSpPr>
            <a:spLocks noGrp="1"/>
          </p:cNvSpPr>
          <p:nvPr>
            <p:ph type="title"/>
          </p:nvPr>
        </p:nvSpPr>
        <p:spPr/>
        <p:txBody>
          <a:bodyPr>
            <a:normAutofit/>
          </a:bodyPr>
          <a:lstStyle/>
          <a:p>
            <a:r>
              <a:rPr lang="zh-CN" altLang="en-US" b="0" dirty="0" smtClean="0">
                <a:effectLst/>
              </a:rPr>
              <a:t>日志和版本回退</a:t>
            </a:r>
            <a:r>
              <a:rPr lang="en-US" altLang="zh-CN" b="0" dirty="0" smtClean="0">
                <a:effectLst/>
              </a:rPr>
              <a:t>-</a:t>
            </a:r>
            <a:r>
              <a:rPr lang="zh-CN" altLang="en-US" b="0" dirty="0" smtClean="0">
                <a:effectLst/>
              </a:rPr>
              <a:t>（</a:t>
            </a:r>
            <a:r>
              <a:rPr lang="en-US" altLang="zh-CN" b="0" dirty="0" smtClean="0">
                <a:effectLst/>
              </a:rPr>
              <a:t>1</a:t>
            </a:r>
            <a:r>
              <a:rPr lang="zh-CN" altLang="en-US" b="0" dirty="0" smtClean="0">
                <a:effectLst/>
              </a:rPr>
              <a:t>）</a:t>
            </a:r>
            <a:r>
              <a:rPr lang="zh-CN" altLang="en-US" b="0" dirty="0">
                <a:effectLst/>
              </a:rPr>
              <a:t>回到前一次</a:t>
            </a:r>
            <a:r>
              <a:rPr lang="zh-CN" altLang="en-US" b="0" dirty="0" smtClean="0">
                <a:effectLst/>
              </a:rPr>
              <a:t>提交</a:t>
            </a:r>
            <a:endParaRPr lang="zh-CN" altLang="en-US" b="0" dirty="0">
              <a:effectLst/>
            </a:endParaRPr>
          </a:p>
        </p:txBody>
      </p:sp>
      <p:sp>
        <p:nvSpPr>
          <p:cNvPr id="4" name="灯片编号占位符 3"/>
          <p:cNvSpPr>
            <a:spLocks noGrp="1"/>
          </p:cNvSpPr>
          <p:nvPr>
            <p:ph type="sldNum" sz="quarter" idx="12"/>
          </p:nvPr>
        </p:nvSpPr>
        <p:spPr/>
        <p:txBody>
          <a:bodyPr/>
          <a:lstStyle/>
          <a:p>
            <a:fld id="{0BD87961-E39D-4DAC-BBE4-2A1C1340B983}" type="slidenum">
              <a:rPr lang="zh-CN" altLang="en-US" smtClean="0"/>
              <a:t>30</a:t>
            </a:fld>
            <a:endParaRPr lang="zh-CN" altLang="en-US"/>
          </a:p>
        </p:txBody>
      </p:sp>
    </p:spTree>
    <p:extLst>
      <p:ext uri="{BB962C8B-B14F-4D97-AF65-F5344CB8AC3E}">
        <p14:creationId xmlns:p14="http://schemas.microsoft.com/office/powerpoint/2010/main" val="360011840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9" y="1481329"/>
            <a:ext cx="11307418" cy="4859836"/>
          </a:xfrm>
        </p:spPr>
        <p:txBody>
          <a:bodyPr>
            <a:normAutofit/>
          </a:bodyPr>
          <a:lstStyle/>
          <a:p>
            <a:pPr marL="109728" indent="0">
              <a:lnSpc>
                <a:spcPct val="120000"/>
              </a:lnSpc>
              <a:buNone/>
            </a:pPr>
            <a:r>
              <a:rPr lang="en-US" altLang="zh-CN" sz="2800" dirty="0" smtClean="0"/>
              <a:t>#</a:t>
            </a:r>
            <a:r>
              <a:rPr lang="zh-CN" altLang="en-US" sz="2800" dirty="0" smtClean="0"/>
              <a:t>如果</a:t>
            </a:r>
            <a:r>
              <a:rPr lang="zh-CN" altLang="en-US" sz="2800" dirty="0"/>
              <a:t>只是工作区有了修改</a:t>
            </a:r>
            <a:r>
              <a:rPr lang="zh-CN" altLang="en-US" sz="2800" dirty="0" smtClean="0"/>
              <a:t>，可以</a:t>
            </a:r>
            <a:r>
              <a:rPr lang="zh-CN" altLang="en-US" sz="2800" dirty="0"/>
              <a:t>使用</a:t>
            </a:r>
            <a:r>
              <a:rPr lang="en-US" altLang="zh-CN" sz="2800" dirty="0" err="1"/>
              <a:t>git</a:t>
            </a:r>
            <a:r>
              <a:rPr lang="en-US" altLang="zh-CN" sz="2800" dirty="0"/>
              <a:t> checkout</a:t>
            </a:r>
            <a:r>
              <a:rPr lang="zh-CN" altLang="en-US" sz="2800" dirty="0"/>
              <a:t>进行撤销，具体如下：</a:t>
            </a:r>
            <a:r>
              <a:rPr lang="en-US" altLang="zh-CN" sz="2800" dirty="0" err="1">
                <a:solidFill>
                  <a:srgbClr val="FF0000"/>
                </a:solidFill>
              </a:rPr>
              <a:t>git</a:t>
            </a:r>
            <a:r>
              <a:rPr lang="en-US" altLang="zh-CN" sz="2800" dirty="0">
                <a:solidFill>
                  <a:srgbClr val="FF0000"/>
                </a:solidFill>
              </a:rPr>
              <a:t> </a:t>
            </a:r>
            <a:r>
              <a:rPr lang="en-US" altLang="zh-CN" sz="2800" dirty="0" err="1">
                <a:solidFill>
                  <a:srgbClr val="FF0000"/>
                </a:solidFill>
              </a:rPr>
              <a:t>chekcout</a:t>
            </a:r>
            <a:r>
              <a:rPr lang="en-US" altLang="zh-CN" sz="2800" dirty="0">
                <a:solidFill>
                  <a:srgbClr val="FF0000"/>
                </a:solidFill>
              </a:rPr>
              <a:t> -- hello</a:t>
            </a:r>
            <a:r>
              <a:rPr lang="en-US" altLang="zh-CN" sz="2800" dirty="0"/>
              <a:t> </a:t>
            </a:r>
            <a:r>
              <a:rPr lang="zh-CN" altLang="en-US" sz="2800" dirty="0"/>
              <a:t>。通过这种方式，就可将</a:t>
            </a:r>
            <a:r>
              <a:rPr lang="en-US" altLang="zh-CN" sz="2800" dirty="0"/>
              <a:t>hello</a:t>
            </a:r>
            <a:r>
              <a:rPr lang="zh-CN" altLang="en-US" sz="2800" dirty="0"/>
              <a:t>文件自上个</a:t>
            </a:r>
            <a:r>
              <a:rPr lang="en-US" altLang="zh-CN" sz="2800" dirty="0"/>
              <a:t>commit</a:t>
            </a:r>
            <a:r>
              <a:rPr lang="zh-CN" altLang="en-US" sz="2800" dirty="0"/>
              <a:t>之后，尚未</a:t>
            </a:r>
            <a:r>
              <a:rPr lang="en-US" altLang="zh-CN" sz="2800" dirty="0"/>
              <a:t>add</a:t>
            </a:r>
            <a:r>
              <a:rPr lang="zh-CN" altLang="en-US" sz="2800" dirty="0"/>
              <a:t>进暂存区的修改丢弃。</a:t>
            </a:r>
          </a:p>
          <a:p>
            <a:pPr marL="109728" indent="0">
              <a:lnSpc>
                <a:spcPct val="120000"/>
              </a:lnSpc>
              <a:buNone/>
            </a:pPr>
            <a:r>
              <a:rPr lang="en-US" altLang="zh-CN" sz="2800" dirty="0" smtClean="0"/>
              <a:t>#</a:t>
            </a:r>
            <a:r>
              <a:rPr lang="zh-CN" altLang="en-US" sz="2800" dirty="0" smtClean="0"/>
              <a:t>当</a:t>
            </a:r>
            <a:r>
              <a:rPr lang="zh-CN" altLang="en-US" sz="2800" dirty="0"/>
              <a:t>将有错误的文件</a:t>
            </a:r>
            <a:r>
              <a:rPr lang="en-US" altLang="zh-CN" sz="2800" dirty="0"/>
              <a:t>add</a:t>
            </a:r>
            <a:r>
              <a:rPr lang="zh-CN" altLang="en-US" sz="2800" dirty="0"/>
              <a:t>进暂存区后，可以使用</a:t>
            </a:r>
            <a:r>
              <a:rPr lang="en-US" altLang="zh-CN" sz="2800" dirty="0" err="1"/>
              <a:t>git</a:t>
            </a:r>
            <a:r>
              <a:rPr lang="en-US" altLang="zh-CN" sz="2800" dirty="0"/>
              <a:t> reset</a:t>
            </a:r>
            <a:r>
              <a:rPr lang="zh-CN" altLang="en-US" sz="2800" dirty="0"/>
              <a:t>丢弃修改。即： 　　</a:t>
            </a:r>
            <a:r>
              <a:rPr lang="en-US" altLang="zh-CN" sz="2800" dirty="0" err="1">
                <a:solidFill>
                  <a:srgbClr val="FF0000"/>
                </a:solidFill>
              </a:rPr>
              <a:t>git</a:t>
            </a:r>
            <a:r>
              <a:rPr lang="en-US" altLang="zh-CN" sz="2800" dirty="0">
                <a:solidFill>
                  <a:srgbClr val="FF0000"/>
                </a:solidFill>
              </a:rPr>
              <a:t> reset HEAD </a:t>
            </a:r>
            <a:r>
              <a:rPr lang="zh-CN" altLang="en-US" sz="2800" dirty="0">
                <a:solidFill>
                  <a:srgbClr val="FF0000"/>
                </a:solidFill>
              </a:rPr>
              <a:t>文件名 </a:t>
            </a:r>
            <a:r>
              <a:rPr lang="zh-CN" altLang="en-US" sz="2800" dirty="0" smtClean="0">
                <a:solidFill>
                  <a:srgbClr val="FF0000"/>
                </a:solidFill>
              </a:rPr>
              <a:t>，</a:t>
            </a:r>
            <a:r>
              <a:rPr lang="zh-CN" altLang="en-US" sz="2800" dirty="0" smtClean="0"/>
              <a:t>但</a:t>
            </a:r>
            <a:r>
              <a:rPr lang="zh-CN" altLang="en-US" sz="2800" dirty="0"/>
              <a:t>此时修改仍旧保留在工作区</a:t>
            </a:r>
            <a:r>
              <a:rPr lang="zh-CN" altLang="en-US" sz="2800" dirty="0" smtClean="0"/>
              <a:t>。</a:t>
            </a:r>
            <a:endParaRPr lang="en-US" altLang="zh-CN" sz="2800" dirty="0" smtClean="0"/>
          </a:p>
          <a:p>
            <a:pPr marL="109728" indent="0">
              <a:lnSpc>
                <a:spcPct val="120000"/>
              </a:lnSpc>
              <a:buNone/>
            </a:pPr>
            <a:r>
              <a:rPr lang="en-US" altLang="zh-CN" sz="2800" dirty="0" smtClean="0"/>
              <a:t>#</a:t>
            </a:r>
            <a:r>
              <a:rPr lang="zh-CN" altLang="en-US" sz="2800" dirty="0" smtClean="0"/>
              <a:t>如果</a:t>
            </a:r>
            <a:r>
              <a:rPr lang="zh-CN" altLang="en-US" sz="2800" dirty="0"/>
              <a:t>尚未</a:t>
            </a:r>
            <a:r>
              <a:rPr lang="en-US" altLang="zh-CN" sz="2800" dirty="0"/>
              <a:t>add</a:t>
            </a:r>
            <a:r>
              <a:rPr lang="zh-CN" altLang="en-US" sz="2800" dirty="0"/>
              <a:t>进暂存区，则可以使用</a:t>
            </a:r>
            <a:r>
              <a:rPr lang="zh-CN" altLang="en-US" sz="2800" dirty="0" smtClean="0"/>
              <a:t>：</a:t>
            </a:r>
            <a:r>
              <a:rPr lang="en-US" altLang="zh-CN" sz="2800" dirty="0" err="1" smtClean="0">
                <a:solidFill>
                  <a:srgbClr val="FF0000"/>
                </a:solidFill>
              </a:rPr>
              <a:t>git</a:t>
            </a:r>
            <a:r>
              <a:rPr lang="en-US" altLang="zh-CN" sz="2800" dirty="0" smtClean="0">
                <a:solidFill>
                  <a:srgbClr val="FF0000"/>
                </a:solidFill>
              </a:rPr>
              <a:t> </a:t>
            </a:r>
            <a:r>
              <a:rPr lang="en-US" altLang="zh-CN" sz="2800" dirty="0">
                <a:solidFill>
                  <a:srgbClr val="FF0000"/>
                </a:solidFill>
              </a:rPr>
              <a:t>reset --hard HEAD </a:t>
            </a:r>
            <a:r>
              <a:rPr lang="zh-CN" altLang="en-US" sz="2800" dirty="0"/>
              <a:t>这样就能彻底丢弃修改，即将修改从暂存区及工作区彻底删除。 </a:t>
            </a:r>
            <a:endParaRPr lang="en-US" altLang="zh-CN" sz="2800" dirty="0" smtClean="0"/>
          </a:p>
        </p:txBody>
      </p:sp>
      <p:sp>
        <p:nvSpPr>
          <p:cNvPr id="3" name="标题 2"/>
          <p:cNvSpPr>
            <a:spLocks noGrp="1"/>
          </p:cNvSpPr>
          <p:nvPr>
            <p:ph type="title"/>
          </p:nvPr>
        </p:nvSpPr>
        <p:spPr/>
        <p:txBody>
          <a:bodyPr>
            <a:normAutofit/>
          </a:bodyPr>
          <a:lstStyle/>
          <a:p>
            <a:r>
              <a:rPr lang="zh-CN" altLang="en-US" b="0" dirty="0" smtClean="0">
                <a:effectLst/>
              </a:rPr>
              <a:t>日志和版本回退</a:t>
            </a:r>
            <a:r>
              <a:rPr lang="en-US" altLang="zh-CN" b="0" dirty="0" smtClean="0">
                <a:effectLst/>
              </a:rPr>
              <a:t>-</a:t>
            </a:r>
            <a:r>
              <a:rPr lang="zh-CN" altLang="en-US" b="0" dirty="0" smtClean="0">
                <a:effectLst/>
              </a:rPr>
              <a:t>（</a:t>
            </a:r>
            <a:r>
              <a:rPr lang="en-US" altLang="zh-CN" b="0" dirty="0" smtClean="0">
                <a:effectLst/>
              </a:rPr>
              <a:t>2</a:t>
            </a:r>
            <a:r>
              <a:rPr lang="zh-CN" altLang="en-US" b="0" dirty="0" smtClean="0">
                <a:effectLst/>
              </a:rPr>
              <a:t>）撤销修改</a:t>
            </a:r>
            <a:endParaRPr lang="zh-CN" altLang="en-US" b="0" dirty="0">
              <a:effectLst/>
            </a:endParaRPr>
          </a:p>
        </p:txBody>
      </p:sp>
      <p:sp>
        <p:nvSpPr>
          <p:cNvPr id="4" name="灯片编号占位符 3"/>
          <p:cNvSpPr>
            <a:spLocks noGrp="1"/>
          </p:cNvSpPr>
          <p:nvPr>
            <p:ph type="sldNum" sz="quarter" idx="12"/>
          </p:nvPr>
        </p:nvSpPr>
        <p:spPr/>
        <p:txBody>
          <a:bodyPr/>
          <a:lstStyle/>
          <a:p>
            <a:fld id="{0BD87961-E39D-4DAC-BBE4-2A1C1340B983}" type="slidenum">
              <a:rPr lang="zh-CN" altLang="en-US" smtClean="0"/>
              <a:t>31</a:t>
            </a:fld>
            <a:endParaRPr lang="zh-CN" altLang="en-US"/>
          </a:p>
        </p:txBody>
      </p:sp>
    </p:spTree>
    <p:extLst>
      <p:ext uri="{BB962C8B-B14F-4D97-AF65-F5344CB8AC3E}">
        <p14:creationId xmlns:p14="http://schemas.microsoft.com/office/powerpoint/2010/main" val="200155914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9" y="1481329"/>
            <a:ext cx="11307418" cy="4859836"/>
          </a:xfrm>
        </p:spPr>
        <p:txBody>
          <a:bodyPr>
            <a:normAutofit/>
          </a:bodyPr>
          <a:lstStyle/>
          <a:p>
            <a:pPr marL="109728" indent="0">
              <a:buNone/>
            </a:pPr>
            <a:r>
              <a:rPr lang="en-US" altLang="zh-CN" sz="2800" dirty="0" smtClean="0"/>
              <a:t>#</a:t>
            </a:r>
            <a:r>
              <a:rPr lang="zh-CN" altLang="en-US" sz="2800" dirty="0" smtClean="0"/>
              <a:t>从</a:t>
            </a:r>
            <a:r>
              <a:rPr lang="zh-CN" altLang="en-US" sz="2800" dirty="0"/>
              <a:t>仓库中删除文件的一般过程为：</a:t>
            </a:r>
          </a:p>
          <a:p>
            <a:pPr marL="109728" indent="0">
              <a:buNone/>
            </a:pPr>
            <a:r>
              <a:rPr lang="en-US" altLang="zh-CN" sz="2800" dirty="0" smtClean="0"/>
              <a:t>	1.git </a:t>
            </a:r>
            <a:r>
              <a:rPr lang="en-US" altLang="zh-CN" sz="2800" dirty="0" err="1"/>
              <a:t>rm</a:t>
            </a:r>
            <a:r>
              <a:rPr lang="en-US" altLang="zh-CN" sz="2800" dirty="0"/>
              <a:t> &lt;--cached&gt; </a:t>
            </a:r>
            <a:r>
              <a:rPr lang="zh-CN" altLang="en-US" sz="2800" dirty="0"/>
              <a:t>文件名</a:t>
            </a:r>
          </a:p>
          <a:p>
            <a:pPr marL="109728" indent="0">
              <a:buNone/>
            </a:pPr>
            <a:r>
              <a:rPr lang="en-US" altLang="zh-CN" sz="2800" dirty="0" smtClean="0"/>
              <a:t>	2.git </a:t>
            </a:r>
            <a:r>
              <a:rPr lang="en-US" altLang="zh-CN" sz="2800" dirty="0"/>
              <a:t>commit -m "</a:t>
            </a:r>
            <a:r>
              <a:rPr lang="zh-CN" altLang="en-US" sz="2800" dirty="0"/>
              <a:t>提交</a:t>
            </a:r>
            <a:r>
              <a:rPr lang="zh-CN" altLang="en-US" sz="2800" dirty="0" smtClean="0"/>
              <a:t>信息</a:t>
            </a:r>
            <a:r>
              <a:rPr lang="en-US" altLang="zh-CN" sz="2800" dirty="0" smtClean="0"/>
              <a:t>“</a:t>
            </a:r>
          </a:p>
          <a:p>
            <a:pPr marL="109728" indent="0">
              <a:buNone/>
            </a:pPr>
            <a:r>
              <a:rPr lang="zh-CN" altLang="en-US" sz="2800" dirty="0" smtClean="0"/>
              <a:t>例如：</a:t>
            </a:r>
            <a:endParaRPr lang="en-US" altLang="zh-CN" sz="2800" dirty="0" smtClean="0"/>
          </a:p>
          <a:p>
            <a:pPr marL="109728" indent="0">
              <a:buNone/>
            </a:pPr>
            <a:r>
              <a:rPr lang="en-US" altLang="zh-CN" sz="2800" dirty="0">
                <a:solidFill>
                  <a:srgbClr val="FF0000"/>
                </a:solidFill>
              </a:rPr>
              <a:t>	</a:t>
            </a:r>
            <a:r>
              <a:rPr lang="en-US" altLang="zh-CN" sz="2800" dirty="0" err="1">
                <a:solidFill>
                  <a:srgbClr val="FF0000"/>
                </a:solidFill>
              </a:rPr>
              <a:t>git</a:t>
            </a:r>
            <a:r>
              <a:rPr lang="en-US" altLang="zh-CN" sz="2800" dirty="0">
                <a:solidFill>
                  <a:srgbClr val="FF0000"/>
                </a:solidFill>
              </a:rPr>
              <a:t> </a:t>
            </a:r>
            <a:r>
              <a:rPr lang="en-US" altLang="zh-CN" sz="2800" dirty="0" err="1">
                <a:solidFill>
                  <a:srgbClr val="FF0000"/>
                </a:solidFill>
              </a:rPr>
              <a:t>rm</a:t>
            </a:r>
            <a:r>
              <a:rPr lang="en-US" altLang="zh-CN" sz="2800" dirty="0">
                <a:solidFill>
                  <a:srgbClr val="FF0000"/>
                </a:solidFill>
              </a:rPr>
              <a:t> --cached </a:t>
            </a:r>
            <a:r>
              <a:rPr lang="en-US" altLang="zh-CN" sz="2800" dirty="0" err="1">
                <a:solidFill>
                  <a:srgbClr val="FF0000"/>
                </a:solidFill>
              </a:rPr>
              <a:t>helloGit</a:t>
            </a:r>
            <a:endParaRPr lang="en-US" altLang="zh-CN" sz="2800" dirty="0">
              <a:solidFill>
                <a:srgbClr val="FF0000"/>
              </a:solidFill>
            </a:endParaRPr>
          </a:p>
          <a:p>
            <a:pPr marL="109728" indent="0">
              <a:buNone/>
            </a:pPr>
            <a:r>
              <a:rPr lang="en-US" altLang="zh-CN" sz="2800" dirty="0" smtClean="0">
                <a:solidFill>
                  <a:srgbClr val="FF0000"/>
                </a:solidFill>
              </a:rPr>
              <a:t>	</a:t>
            </a:r>
            <a:r>
              <a:rPr lang="en-US" altLang="zh-CN" sz="2800" dirty="0" err="1" smtClean="0">
                <a:solidFill>
                  <a:srgbClr val="FF0000"/>
                </a:solidFill>
              </a:rPr>
              <a:t>git</a:t>
            </a:r>
            <a:r>
              <a:rPr lang="en-US" altLang="zh-CN" sz="2800" dirty="0" smtClean="0">
                <a:solidFill>
                  <a:srgbClr val="FF0000"/>
                </a:solidFill>
              </a:rPr>
              <a:t> </a:t>
            </a:r>
            <a:r>
              <a:rPr lang="en-US" altLang="zh-CN" sz="2800" dirty="0">
                <a:solidFill>
                  <a:srgbClr val="FF0000"/>
                </a:solidFill>
              </a:rPr>
              <a:t>commit -m "</a:t>
            </a:r>
            <a:r>
              <a:rPr lang="zh-CN" altLang="en-US" sz="2800" dirty="0">
                <a:solidFill>
                  <a:srgbClr val="FF0000"/>
                </a:solidFill>
              </a:rPr>
              <a:t>删除</a:t>
            </a:r>
            <a:r>
              <a:rPr lang="en-US" altLang="zh-CN" sz="2800" dirty="0" err="1">
                <a:solidFill>
                  <a:srgbClr val="FF0000"/>
                </a:solidFill>
              </a:rPr>
              <a:t>helloGit</a:t>
            </a:r>
            <a:r>
              <a:rPr lang="en-US" altLang="zh-CN" sz="2800" dirty="0">
                <a:solidFill>
                  <a:srgbClr val="FF0000"/>
                </a:solidFill>
              </a:rPr>
              <a:t>"</a:t>
            </a:r>
            <a:endParaRPr lang="zh-CN" altLang="en-US" sz="2800" dirty="0">
              <a:solidFill>
                <a:srgbClr val="FF0000"/>
              </a:solidFill>
            </a:endParaRPr>
          </a:p>
          <a:p>
            <a:pPr marL="109728" indent="0">
              <a:lnSpc>
                <a:spcPct val="120000"/>
              </a:lnSpc>
              <a:buNone/>
            </a:pPr>
            <a:r>
              <a:rPr lang="zh-CN" altLang="en-US" sz="2800" dirty="0" smtClean="0"/>
              <a:t> </a:t>
            </a:r>
            <a:endParaRPr lang="en-US" altLang="zh-CN" sz="2800" dirty="0" smtClean="0"/>
          </a:p>
        </p:txBody>
      </p:sp>
      <p:sp>
        <p:nvSpPr>
          <p:cNvPr id="3" name="标题 2"/>
          <p:cNvSpPr>
            <a:spLocks noGrp="1"/>
          </p:cNvSpPr>
          <p:nvPr>
            <p:ph type="title"/>
          </p:nvPr>
        </p:nvSpPr>
        <p:spPr/>
        <p:txBody>
          <a:bodyPr>
            <a:normAutofit/>
          </a:bodyPr>
          <a:lstStyle/>
          <a:p>
            <a:r>
              <a:rPr lang="zh-CN" altLang="en-US" b="0" dirty="0" smtClean="0">
                <a:effectLst/>
              </a:rPr>
              <a:t>日志和版本回退</a:t>
            </a:r>
            <a:r>
              <a:rPr lang="en-US" altLang="zh-CN" b="0" dirty="0" smtClean="0">
                <a:effectLst/>
              </a:rPr>
              <a:t>-</a:t>
            </a:r>
            <a:r>
              <a:rPr lang="zh-CN" altLang="en-US" b="0" dirty="0" smtClean="0">
                <a:effectLst/>
              </a:rPr>
              <a:t>（</a:t>
            </a:r>
            <a:r>
              <a:rPr lang="en-US" altLang="zh-CN" b="0" dirty="0" smtClean="0">
                <a:effectLst/>
              </a:rPr>
              <a:t>3</a:t>
            </a:r>
            <a:r>
              <a:rPr lang="zh-CN" altLang="en-US" b="0" dirty="0" smtClean="0">
                <a:effectLst/>
              </a:rPr>
              <a:t>）删除文件</a:t>
            </a:r>
            <a:endParaRPr lang="zh-CN" altLang="en-US" b="0" dirty="0">
              <a:effectLst/>
            </a:endParaRPr>
          </a:p>
        </p:txBody>
      </p:sp>
      <p:sp>
        <p:nvSpPr>
          <p:cNvPr id="4" name="灯片编号占位符 3"/>
          <p:cNvSpPr>
            <a:spLocks noGrp="1"/>
          </p:cNvSpPr>
          <p:nvPr>
            <p:ph type="sldNum" sz="quarter" idx="12"/>
          </p:nvPr>
        </p:nvSpPr>
        <p:spPr/>
        <p:txBody>
          <a:bodyPr/>
          <a:lstStyle/>
          <a:p>
            <a:fld id="{0BD87961-E39D-4DAC-BBE4-2A1C1340B983}" type="slidenum">
              <a:rPr lang="zh-CN" altLang="en-US" smtClean="0"/>
              <a:t>32</a:t>
            </a:fld>
            <a:endParaRPr lang="zh-CN" altLang="en-US"/>
          </a:p>
        </p:txBody>
      </p:sp>
    </p:spTree>
    <p:extLst>
      <p:ext uri="{BB962C8B-B14F-4D97-AF65-F5344CB8AC3E}">
        <p14:creationId xmlns:p14="http://schemas.microsoft.com/office/powerpoint/2010/main" val="308030524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9" y="1481329"/>
            <a:ext cx="11307418" cy="4859836"/>
          </a:xfrm>
        </p:spPr>
        <p:txBody>
          <a:bodyPr>
            <a:normAutofit/>
          </a:bodyPr>
          <a:lstStyle/>
          <a:p>
            <a:pPr marL="109728" indent="0">
              <a:lnSpc>
                <a:spcPct val="150000"/>
              </a:lnSpc>
              <a:buNone/>
            </a:pPr>
            <a:r>
              <a:rPr lang="en-US" altLang="zh-CN" sz="2800" dirty="0" smtClean="0"/>
              <a:t>#</a:t>
            </a:r>
            <a:r>
              <a:rPr lang="zh-CN" altLang="en-US" sz="2800" dirty="0" smtClean="0"/>
              <a:t>创建</a:t>
            </a:r>
            <a:r>
              <a:rPr lang="zh-CN" altLang="en-US" sz="2800" dirty="0"/>
              <a:t>标签的命令格式为</a:t>
            </a:r>
            <a:r>
              <a:rPr lang="zh-CN" altLang="en-US" sz="2800" dirty="0" smtClean="0"/>
              <a:t>：</a:t>
            </a:r>
            <a:r>
              <a:rPr lang="en-US" altLang="zh-CN" sz="2800" dirty="0" err="1" smtClean="0"/>
              <a:t>git</a:t>
            </a:r>
            <a:r>
              <a:rPr lang="en-US" altLang="zh-CN" sz="2800" dirty="0" smtClean="0"/>
              <a:t> </a:t>
            </a:r>
            <a:r>
              <a:rPr lang="en-US" altLang="zh-CN" sz="2800" dirty="0"/>
              <a:t>tag </a:t>
            </a:r>
            <a:r>
              <a:rPr lang="zh-CN" altLang="en-US" sz="2800" dirty="0"/>
              <a:t>标签名 </a:t>
            </a:r>
            <a:r>
              <a:rPr lang="en-US" altLang="zh-CN" sz="2800" dirty="0" err="1" smtClean="0"/>
              <a:t>commitID</a:t>
            </a:r>
            <a:r>
              <a:rPr lang="zh-CN" altLang="en-US" sz="2800" dirty="0" smtClean="0"/>
              <a:t>，例如：</a:t>
            </a:r>
            <a:endParaRPr lang="en-US" altLang="zh-CN" sz="2800" dirty="0" smtClean="0"/>
          </a:p>
          <a:p>
            <a:pPr marL="109728" indent="0">
              <a:lnSpc>
                <a:spcPct val="150000"/>
              </a:lnSpc>
              <a:buNone/>
            </a:pPr>
            <a:r>
              <a:rPr lang="en-US" altLang="zh-CN" sz="2800" dirty="0">
                <a:solidFill>
                  <a:srgbClr val="FF0000"/>
                </a:solidFill>
              </a:rPr>
              <a:t>	</a:t>
            </a:r>
            <a:r>
              <a:rPr lang="en-US" altLang="zh-CN" sz="2800" dirty="0" err="1">
                <a:solidFill>
                  <a:srgbClr val="FF0000"/>
                </a:solidFill>
              </a:rPr>
              <a:t>git</a:t>
            </a:r>
            <a:r>
              <a:rPr lang="en-US" altLang="zh-CN" sz="2800" dirty="0">
                <a:solidFill>
                  <a:srgbClr val="FF0000"/>
                </a:solidFill>
              </a:rPr>
              <a:t> tag </a:t>
            </a:r>
            <a:r>
              <a:rPr lang="en-US" altLang="zh-CN" sz="2800" dirty="0" smtClean="0">
                <a:solidFill>
                  <a:srgbClr val="FF0000"/>
                </a:solidFill>
              </a:rPr>
              <a:t>v1.0</a:t>
            </a:r>
          </a:p>
        </p:txBody>
      </p:sp>
      <p:sp>
        <p:nvSpPr>
          <p:cNvPr id="3" name="标题 2"/>
          <p:cNvSpPr>
            <a:spLocks noGrp="1"/>
          </p:cNvSpPr>
          <p:nvPr>
            <p:ph type="title"/>
          </p:nvPr>
        </p:nvSpPr>
        <p:spPr/>
        <p:txBody>
          <a:bodyPr>
            <a:normAutofit/>
          </a:bodyPr>
          <a:lstStyle/>
          <a:p>
            <a:r>
              <a:rPr lang="zh-CN" altLang="en-US" b="0" dirty="0" smtClean="0">
                <a:effectLst/>
              </a:rPr>
              <a:t>标签</a:t>
            </a:r>
            <a:r>
              <a:rPr lang="en-US" altLang="zh-CN" b="0" dirty="0" smtClean="0">
                <a:effectLst/>
              </a:rPr>
              <a:t>-</a:t>
            </a:r>
            <a:r>
              <a:rPr lang="zh-CN" altLang="en-US" b="0" dirty="0" smtClean="0">
                <a:effectLst/>
              </a:rPr>
              <a:t>（</a:t>
            </a:r>
            <a:r>
              <a:rPr lang="en-US" altLang="zh-CN" b="0" dirty="0" smtClean="0">
                <a:effectLst/>
              </a:rPr>
              <a:t>1</a:t>
            </a:r>
            <a:r>
              <a:rPr lang="zh-CN" altLang="en-US" b="0" dirty="0" smtClean="0">
                <a:effectLst/>
              </a:rPr>
              <a:t>）创建标签</a:t>
            </a:r>
            <a:endParaRPr lang="zh-CN" altLang="en-US" b="0" dirty="0">
              <a:effectLst/>
            </a:endParaRPr>
          </a:p>
        </p:txBody>
      </p:sp>
      <p:sp>
        <p:nvSpPr>
          <p:cNvPr id="4" name="灯片编号占位符 3"/>
          <p:cNvSpPr>
            <a:spLocks noGrp="1"/>
          </p:cNvSpPr>
          <p:nvPr>
            <p:ph type="sldNum" sz="quarter" idx="12"/>
          </p:nvPr>
        </p:nvSpPr>
        <p:spPr/>
        <p:txBody>
          <a:bodyPr/>
          <a:lstStyle/>
          <a:p>
            <a:fld id="{0BD87961-E39D-4DAC-BBE4-2A1C1340B983}" type="slidenum">
              <a:rPr lang="zh-CN" altLang="en-US" smtClean="0"/>
              <a:t>33</a:t>
            </a:fld>
            <a:endParaRPr lang="zh-CN" altLang="en-US"/>
          </a:p>
        </p:txBody>
      </p:sp>
    </p:spTree>
    <p:extLst>
      <p:ext uri="{BB962C8B-B14F-4D97-AF65-F5344CB8AC3E}">
        <p14:creationId xmlns:p14="http://schemas.microsoft.com/office/powerpoint/2010/main" val="385243882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9" y="1481329"/>
            <a:ext cx="11307418" cy="4859836"/>
          </a:xfrm>
        </p:spPr>
        <p:txBody>
          <a:bodyPr>
            <a:normAutofit/>
          </a:bodyPr>
          <a:lstStyle/>
          <a:p>
            <a:pPr marL="109728" indent="0">
              <a:lnSpc>
                <a:spcPct val="150000"/>
              </a:lnSpc>
              <a:buNone/>
            </a:pPr>
            <a:r>
              <a:rPr lang="en-US" altLang="zh-CN" sz="2800" dirty="0" smtClean="0"/>
              <a:t>#</a:t>
            </a:r>
            <a:r>
              <a:rPr lang="zh-CN" altLang="en-US" sz="2800" dirty="0"/>
              <a:t>推送指定标签到远程仓库的</a:t>
            </a:r>
            <a:r>
              <a:rPr lang="en-US" altLang="zh-CN" sz="2800" dirty="0" err="1"/>
              <a:t>Git</a:t>
            </a:r>
            <a:r>
              <a:rPr lang="zh-CN" altLang="en-US" sz="2800" dirty="0"/>
              <a:t>命令如下</a:t>
            </a:r>
            <a:r>
              <a:rPr lang="zh-CN" altLang="en-US" sz="2800" dirty="0" smtClean="0"/>
              <a:t>：</a:t>
            </a:r>
            <a:r>
              <a:rPr lang="en-US" altLang="zh-CN" sz="2800" dirty="0" err="1" smtClean="0"/>
              <a:t>git</a:t>
            </a:r>
            <a:r>
              <a:rPr lang="en-US" altLang="zh-CN" sz="2800" dirty="0" smtClean="0"/>
              <a:t> </a:t>
            </a:r>
            <a:r>
              <a:rPr lang="en-US" altLang="zh-CN" sz="2800" dirty="0"/>
              <a:t>push </a:t>
            </a:r>
            <a:r>
              <a:rPr lang="zh-CN" altLang="en-US" sz="2800" dirty="0"/>
              <a:t>远程主机名 </a:t>
            </a:r>
            <a:r>
              <a:rPr lang="en-US" altLang="zh-CN" sz="2800" dirty="0"/>
              <a:t>tag</a:t>
            </a:r>
            <a:r>
              <a:rPr lang="zh-CN" altLang="en-US" sz="2800" dirty="0" smtClean="0"/>
              <a:t>名，其中远程</a:t>
            </a:r>
            <a:r>
              <a:rPr lang="zh-CN" altLang="en-US" sz="2800" dirty="0"/>
              <a:t>主机名为远程</a:t>
            </a:r>
            <a:r>
              <a:rPr lang="en-US" altLang="zh-CN" sz="2800" dirty="0" err="1"/>
              <a:t>Git</a:t>
            </a:r>
            <a:r>
              <a:rPr lang="zh-CN" altLang="en-US" sz="2800" dirty="0"/>
              <a:t>版本库对应的主机名，</a:t>
            </a:r>
            <a:r>
              <a:rPr lang="en-US" altLang="zh-CN" sz="2800" dirty="0"/>
              <a:t>tag</a:t>
            </a:r>
            <a:r>
              <a:rPr lang="zh-CN" altLang="en-US" sz="2800" dirty="0"/>
              <a:t>名为准备推送的标签名</a:t>
            </a:r>
            <a:r>
              <a:rPr lang="zh-CN" altLang="en-US" sz="2800" dirty="0" smtClean="0"/>
              <a:t>。例如：</a:t>
            </a:r>
            <a:endParaRPr lang="en-US" altLang="zh-CN" sz="2800" dirty="0" smtClean="0"/>
          </a:p>
          <a:p>
            <a:pPr marL="109728" indent="0">
              <a:lnSpc>
                <a:spcPct val="150000"/>
              </a:lnSpc>
              <a:buNone/>
            </a:pPr>
            <a:r>
              <a:rPr lang="en-US" altLang="zh-CN" sz="2800" dirty="0"/>
              <a:t>	</a:t>
            </a:r>
            <a:r>
              <a:rPr lang="en-US" altLang="zh-CN" sz="2800" dirty="0" err="1" smtClean="0">
                <a:solidFill>
                  <a:srgbClr val="FF0000"/>
                </a:solidFill>
              </a:rPr>
              <a:t>git</a:t>
            </a:r>
            <a:r>
              <a:rPr lang="en-US" altLang="zh-CN" sz="2800" dirty="0" smtClean="0">
                <a:solidFill>
                  <a:srgbClr val="FF0000"/>
                </a:solidFill>
              </a:rPr>
              <a:t> </a:t>
            </a:r>
            <a:r>
              <a:rPr lang="en-US" altLang="zh-CN" sz="2800" dirty="0">
                <a:solidFill>
                  <a:srgbClr val="FF0000"/>
                </a:solidFill>
              </a:rPr>
              <a:t>push origin v1.0</a:t>
            </a:r>
            <a:endParaRPr lang="zh-CN" altLang="en-US" sz="2800" dirty="0">
              <a:solidFill>
                <a:srgbClr val="FF0000"/>
              </a:solidFill>
              <a:effectLst/>
            </a:endParaRPr>
          </a:p>
        </p:txBody>
      </p:sp>
      <p:sp>
        <p:nvSpPr>
          <p:cNvPr id="3" name="标题 2"/>
          <p:cNvSpPr>
            <a:spLocks noGrp="1"/>
          </p:cNvSpPr>
          <p:nvPr>
            <p:ph type="title"/>
          </p:nvPr>
        </p:nvSpPr>
        <p:spPr/>
        <p:txBody>
          <a:bodyPr>
            <a:normAutofit/>
          </a:bodyPr>
          <a:lstStyle/>
          <a:p>
            <a:r>
              <a:rPr lang="zh-CN" altLang="en-US" b="0" dirty="0" smtClean="0">
                <a:effectLst/>
              </a:rPr>
              <a:t>标签</a:t>
            </a:r>
            <a:r>
              <a:rPr lang="en-US" altLang="zh-CN" b="0" dirty="0" smtClean="0">
                <a:effectLst/>
              </a:rPr>
              <a:t>-</a:t>
            </a:r>
            <a:r>
              <a:rPr lang="zh-CN" altLang="en-US" b="0" dirty="0" smtClean="0">
                <a:effectLst/>
              </a:rPr>
              <a:t>（</a:t>
            </a:r>
            <a:r>
              <a:rPr lang="en-US" altLang="zh-CN" b="0" dirty="0" smtClean="0">
                <a:effectLst/>
              </a:rPr>
              <a:t>2</a:t>
            </a:r>
            <a:r>
              <a:rPr lang="zh-CN" altLang="en-US" b="0" dirty="0" smtClean="0">
                <a:effectLst/>
              </a:rPr>
              <a:t>）</a:t>
            </a:r>
            <a:r>
              <a:rPr lang="zh-CN" altLang="en-US" b="0" dirty="0">
                <a:effectLst/>
              </a:rPr>
              <a:t>推送指定标签</a:t>
            </a:r>
          </a:p>
        </p:txBody>
      </p:sp>
      <p:sp>
        <p:nvSpPr>
          <p:cNvPr id="4" name="灯片编号占位符 3"/>
          <p:cNvSpPr>
            <a:spLocks noGrp="1"/>
          </p:cNvSpPr>
          <p:nvPr>
            <p:ph type="sldNum" sz="quarter" idx="12"/>
          </p:nvPr>
        </p:nvSpPr>
        <p:spPr/>
        <p:txBody>
          <a:bodyPr/>
          <a:lstStyle/>
          <a:p>
            <a:fld id="{0BD87961-E39D-4DAC-BBE4-2A1C1340B983}" type="slidenum">
              <a:rPr lang="zh-CN" altLang="en-US" smtClean="0"/>
              <a:t>34</a:t>
            </a:fld>
            <a:endParaRPr lang="zh-CN" altLang="en-US"/>
          </a:p>
        </p:txBody>
      </p:sp>
    </p:spTree>
    <p:extLst>
      <p:ext uri="{BB962C8B-B14F-4D97-AF65-F5344CB8AC3E}">
        <p14:creationId xmlns:p14="http://schemas.microsoft.com/office/powerpoint/2010/main" val="76451764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9" y="1481329"/>
            <a:ext cx="11307418" cy="4859836"/>
          </a:xfrm>
        </p:spPr>
        <p:txBody>
          <a:bodyPr>
            <a:normAutofit/>
          </a:bodyPr>
          <a:lstStyle/>
          <a:p>
            <a:pPr marL="109728" indent="0">
              <a:lnSpc>
                <a:spcPct val="150000"/>
              </a:lnSpc>
              <a:buNone/>
            </a:pPr>
            <a:r>
              <a:rPr lang="en-US" altLang="zh-CN" sz="2800" dirty="0" smtClean="0"/>
              <a:t>#</a:t>
            </a:r>
            <a:r>
              <a:rPr lang="zh-CN" altLang="en-US" sz="2800" dirty="0"/>
              <a:t>推送全部标签需要用到</a:t>
            </a:r>
            <a:r>
              <a:rPr lang="zh-CN" altLang="en-US" sz="2800" dirty="0" smtClean="0"/>
              <a:t>：</a:t>
            </a:r>
            <a:r>
              <a:rPr lang="en-US" altLang="zh-CN" sz="2800" dirty="0" err="1" smtClean="0"/>
              <a:t>git</a:t>
            </a:r>
            <a:r>
              <a:rPr lang="en-US" altLang="zh-CN" sz="2800" dirty="0" smtClean="0"/>
              <a:t> </a:t>
            </a:r>
            <a:r>
              <a:rPr lang="en-US" altLang="zh-CN" sz="2800" dirty="0"/>
              <a:t>push </a:t>
            </a:r>
            <a:r>
              <a:rPr lang="zh-CN" altLang="en-US" sz="2800" dirty="0"/>
              <a:t>远程主机名 </a:t>
            </a:r>
            <a:r>
              <a:rPr lang="en-US" altLang="zh-CN" sz="2800" dirty="0" smtClean="0"/>
              <a:t>–tags</a:t>
            </a:r>
            <a:r>
              <a:rPr lang="zh-CN" altLang="en-US" sz="2800" dirty="0" smtClean="0"/>
              <a:t>，例如：</a:t>
            </a:r>
            <a:endParaRPr lang="en-US" altLang="zh-CN" sz="2800" dirty="0" smtClean="0"/>
          </a:p>
          <a:p>
            <a:pPr marL="109728" indent="0">
              <a:lnSpc>
                <a:spcPct val="150000"/>
              </a:lnSpc>
              <a:buNone/>
            </a:pPr>
            <a:r>
              <a:rPr lang="en-US" altLang="zh-CN" sz="2800" dirty="0" smtClean="0">
                <a:solidFill>
                  <a:srgbClr val="FF0000"/>
                </a:solidFill>
              </a:rPr>
              <a:t>	</a:t>
            </a:r>
            <a:r>
              <a:rPr lang="en-US" altLang="zh-CN" sz="2800" dirty="0" err="1" smtClean="0">
                <a:solidFill>
                  <a:srgbClr val="FF0000"/>
                </a:solidFill>
              </a:rPr>
              <a:t>git</a:t>
            </a:r>
            <a:r>
              <a:rPr lang="en-US" altLang="zh-CN" sz="2800" dirty="0" smtClean="0">
                <a:solidFill>
                  <a:srgbClr val="FF0000"/>
                </a:solidFill>
              </a:rPr>
              <a:t> push </a:t>
            </a:r>
            <a:r>
              <a:rPr lang="en-US" altLang="zh-CN" sz="2800" dirty="0">
                <a:solidFill>
                  <a:srgbClr val="FF0000"/>
                </a:solidFill>
              </a:rPr>
              <a:t>origin --tags</a:t>
            </a:r>
            <a:endParaRPr lang="en-US" altLang="zh-CN" sz="2800" dirty="0">
              <a:solidFill>
                <a:srgbClr val="FF0000"/>
              </a:solidFill>
              <a:effectLst/>
            </a:endParaRPr>
          </a:p>
        </p:txBody>
      </p:sp>
      <p:sp>
        <p:nvSpPr>
          <p:cNvPr id="3" name="标题 2"/>
          <p:cNvSpPr>
            <a:spLocks noGrp="1"/>
          </p:cNvSpPr>
          <p:nvPr>
            <p:ph type="title"/>
          </p:nvPr>
        </p:nvSpPr>
        <p:spPr/>
        <p:txBody>
          <a:bodyPr>
            <a:normAutofit/>
          </a:bodyPr>
          <a:lstStyle/>
          <a:p>
            <a:r>
              <a:rPr lang="zh-CN" altLang="en-US" b="0" dirty="0" smtClean="0">
                <a:effectLst/>
              </a:rPr>
              <a:t>标签</a:t>
            </a:r>
            <a:r>
              <a:rPr lang="en-US" altLang="zh-CN" b="0" dirty="0" smtClean="0">
                <a:effectLst/>
              </a:rPr>
              <a:t>-</a:t>
            </a:r>
            <a:r>
              <a:rPr lang="zh-CN" altLang="en-US" b="0" dirty="0" smtClean="0">
                <a:effectLst/>
              </a:rPr>
              <a:t>（</a:t>
            </a:r>
            <a:r>
              <a:rPr lang="en-US" altLang="zh-CN" b="0" dirty="0" smtClean="0">
                <a:effectLst/>
              </a:rPr>
              <a:t>3</a:t>
            </a:r>
            <a:r>
              <a:rPr lang="zh-CN" altLang="en-US" b="0" dirty="0" smtClean="0">
                <a:effectLst/>
              </a:rPr>
              <a:t>）</a:t>
            </a:r>
            <a:r>
              <a:rPr lang="zh-CN" altLang="en-US" b="0" dirty="0">
                <a:effectLst/>
              </a:rPr>
              <a:t>推送全部</a:t>
            </a:r>
            <a:r>
              <a:rPr lang="zh-CN" altLang="en-US" b="0" dirty="0" smtClean="0">
                <a:effectLst/>
              </a:rPr>
              <a:t>标签</a:t>
            </a:r>
            <a:endParaRPr lang="zh-CN" altLang="en-US" b="0" dirty="0">
              <a:effectLst/>
            </a:endParaRPr>
          </a:p>
        </p:txBody>
      </p:sp>
      <p:sp>
        <p:nvSpPr>
          <p:cNvPr id="4" name="灯片编号占位符 3"/>
          <p:cNvSpPr>
            <a:spLocks noGrp="1"/>
          </p:cNvSpPr>
          <p:nvPr>
            <p:ph type="sldNum" sz="quarter" idx="12"/>
          </p:nvPr>
        </p:nvSpPr>
        <p:spPr/>
        <p:txBody>
          <a:bodyPr/>
          <a:lstStyle/>
          <a:p>
            <a:fld id="{0BD87961-E39D-4DAC-BBE4-2A1C1340B983}" type="slidenum">
              <a:rPr lang="zh-CN" altLang="en-US" smtClean="0"/>
              <a:t>35</a:t>
            </a:fld>
            <a:endParaRPr lang="zh-CN" altLang="en-US"/>
          </a:p>
        </p:txBody>
      </p:sp>
    </p:spTree>
    <p:extLst>
      <p:ext uri="{BB962C8B-B14F-4D97-AF65-F5344CB8AC3E}">
        <p14:creationId xmlns:p14="http://schemas.microsoft.com/office/powerpoint/2010/main" val="93922240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8" y="1481329"/>
            <a:ext cx="11436627" cy="4859836"/>
          </a:xfrm>
        </p:spPr>
        <p:txBody>
          <a:bodyPr>
            <a:normAutofit/>
          </a:bodyPr>
          <a:lstStyle/>
          <a:p>
            <a:pPr marL="109728" indent="0">
              <a:lnSpc>
                <a:spcPct val="150000"/>
              </a:lnSpc>
              <a:buNone/>
            </a:pPr>
            <a:r>
              <a:rPr lang="en-US" altLang="zh-CN" sz="2800" dirty="0" smtClean="0"/>
              <a:t>#</a:t>
            </a:r>
            <a:r>
              <a:rPr lang="zh-CN" altLang="en-US" sz="2800" dirty="0"/>
              <a:t>删除本地标签，需要用到的命令格式为</a:t>
            </a:r>
            <a:r>
              <a:rPr lang="zh-CN" altLang="en-US" sz="2800" dirty="0" smtClean="0"/>
              <a:t>：</a:t>
            </a:r>
            <a:r>
              <a:rPr lang="en-US" altLang="zh-CN" sz="2800" dirty="0" err="1" smtClean="0"/>
              <a:t>git</a:t>
            </a:r>
            <a:r>
              <a:rPr lang="en-US" altLang="zh-CN" sz="2800" dirty="0" smtClean="0"/>
              <a:t> </a:t>
            </a:r>
            <a:r>
              <a:rPr lang="en-US" altLang="zh-CN" sz="2800" dirty="0"/>
              <a:t>tag -d </a:t>
            </a:r>
            <a:r>
              <a:rPr lang="zh-CN" altLang="en-US" sz="2800" dirty="0"/>
              <a:t>标签</a:t>
            </a:r>
            <a:r>
              <a:rPr lang="zh-CN" altLang="en-US" sz="2800" dirty="0" smtClean="0"/>
              <a:t>名，例如：</a:t>
            </a:r>
            <a:endParaRPr lang="zh-CN" altLang="en-US" sz="2800" dirty="0"/>
          </a:p>
          <a:p>
            <a:pPr marL="109728" indent="0">
              <a:lnSpc>
                <a:spcPct val="150000"/>
              </a:lnSpc>
              <a:buNone/>
            </a:pPr>
            <a:r>
              <a:rPr lang="zh-CN" altLang="en-US" sz="2800" dirty="0"/>
              <a:t>　　</a:t>
            </a:r>
            <a:r>
              <a:rPr lang="en-US" altLang="zh-CN" sz="2800" dirty="0" err="1">
                <a:solidFill>
                  <a:srgbClr val="FF0000"/>
                </a:solidFill>
              </a:rPr>
              <a:t>git</a:t>
            </a:r>
            <a:r>
              <a:rPr lang="en-US" altLang="zh-CN" sz="2800" dirty="0">
                <a:solidFill>
                  <a:srgbClr val="FF0000"/>
                </a:solidFill>
              </a:rPr>
              <a:t> tag -d v1.0</a:t>
            </a:r>
          </a:p>
          <a:p>
            <a:pPr marL="109728" indent="0">
              <a:lnSpc>
                <a:spcPct val="150000"/>
              </a:lnSpc>
              <a:buNone/>
            </a:pPr>
            <a:r>
              <a:rPr lang="en-US" altLang="zh-CN" sz="2800" dirty="0" smtClean="0"/>
              <a:t>#</a:t>
            </a:r>
            <a:r>
              <a:rPr lang="zh-CN" altLang="en-US" sz="2800" dirty="0"/>
              <a:t>删除远程</a:t>
            </a:r>
            <a:r>
              <a:rPr lang="zh-CN" altLang="en-US" sz="2800" dirty="0" smtClean="0"/>
              <a:t>标签，可以使用：</a:t>
            </a:r>
            <a:r>
              <a:rPr lang="en-US" altLang="zh-CN" sz="2800" dirty="0" err="1" smtClean="0"/>
              <a:t>git</a:t>
            </a:r>
            <a:r>
              <a:rPr lang="en-US" altLang="zh-CN" sz="2800" dirty="0" smtClean="0"/>
              <a:t> </a:t>
            </a:r>
            <a:r>
              <a:rPr lang="en-US" altLang="zh-CN" sz="2800" dirty="0"/>
              <a:t>push origin --delete tag </a:t>
            </a:r>
            <a:r>
              <a:rPr lang="zh-CN" altLang="en-US" sz="2800" dirty="0"/>
              <a:t>标签</a:t>
            </a:r>
            <a:r>
              <a:rPr lang="zh-CN" altLang="en-US" sz="2800" dirty="0" smtClean="0"/>
              <a:t>名，或者使用：</a:t>
            </a:r>
            <a:r>
              <a:rPr lang="en-US" altLang="zh-CN" sz="2800" dirty="0" err="1" smtClean="0"/>
              <a:t>git</a:t>
            </a:r>
            <a:r>
              <a:rPr lang="en-US" altLang="zh-CN" sz="2800" dirty="0" smtClean="0"/>
              <a:t> push  origin   :</a:t>
            </a:r>
            <a:r>
              <a:rPr lang="en-US" altLang="zh-CN" sz="2800" dirty="0"/>
              <a:t>refs/tags/&lt;</a:t>
            </a:r>
            <a:r>
              <a:rPr lang="en-US" altLang="zh-CN" sz="2800" dirty="0" err="1"/>
              <a:t>tagname</a:t>
            </a:r>
            <a:r>
              <a:rPr lang="en-US" altLang="zh-CN" sz="2800" dirty="0" smtClean="0"/>
              <a:t>&gt;</a:t>
            </a:r>
            <a:r>
              <a:rPr lang="zh-CN" altLang="en-US" sz="2800" dirty="0" smtClean="0"/>
              <a:t>，即</a:t>
            </a:r>
            <a:r>
              <a:rPr lang="zh-CN" altLang="en-US" sz="2800" dirty="0"/>
              <a:t>推送一个</a:t>
            </a:r>
            <a:r>
              <a:rPr lang="zh-CN" altLang="en-US" sz="2800" dirty="0" smtClean="0"/>
              <a:t>空</a:t>
            </a:r>
            <a:r>
              <a:rPr lang="en-US" altLang="zh-CN" sz="2800" dirty="0" smtClean="0"/>
              <a:t>tag</a:t>
            </a:r>
            <a:r>
              <a:rPr lang="zh-CN" altLang="en-US" sz="2800" dirty="0"/>
              <a:t>名到远程仓库，其中</a:t>
            </a:r>
            <a:r>
              <a:rPr lang="en-US" altLang="zh-CN" sz="2800" dirty="0"/>
              <a:t>&lt;</a:t>
            </a:r>
            <a:r>
              <a:rPr lang="en-US" altLang="zh-CN" sz="2800" dirty="0" err="1"/>
              <a:t>tagname</a:t>
            </a:r>
            <a:r>
              <a:rPr lang="en-US" altLang="zh-CN" sz="2800" dirty="0"/>
              <a:t>&gt;</a:t>
            </a:r>
            <a:r>
              <a:rPr lang="zh-CN" altLang="en-US" sz="2800" dirty="0"/>
              <a:t>指某个标签的名字</a:t>
            </a:r>
            <a:r>
              <a:rPr lang="zh-CN" altLang="en-US" sz="2800" dirty="0" smtClean="0"/>
              <a:t>。</a:t>
            </a:r>
            <a:endParaRPr lang="zh-CN" altLang="en-US" sz="2800" dirty="0"/>
          </a:p>
          <a:p>
            <a:pPr marL="109728" indent="0">
              <a:lnSpc>
                <a:spcPct val="150000"/>
              </a:lnSpc>
              <a:buNone/>
            </a:pPr>
            <a:endParaRPr lang="en-US" altLang="zh-CN" sz="2800" dirty="0">
              <a:solidFill>
                <a:srgbClr val="FF0000"/>
              </a:solidFill>
              <a:effectLst/>
            </a:endParaRPr>
          </a:p>
        </p:txBody>
      </p:sp>
      <p:sp>
        <p:nvSpPr>
          <p:cNvPr id="3" name="标题 2"/>
          <p:cNvSpPr>
            <a:spLocks noGrp="1"/>
          </p:cNvSpPr>
          <p:nvPr>
            <p:ph type="title"/>
          </p:nvPr>
        </p:nvSpPr>
        <p:spPr/>
        <p:txBody>
          <a:bodyPr>
            <a:normAutofit/>
          </a:bodyPr>
          <a:lstStyle/>
          <a:p>
            <a:r>
              <a:rPr lang="zh-CN" altLang="en-US" b="0" dirty="0" smtClean="0">
                <a:effectLst/>
              </a:rPr>
              <a:t>标签</a:t>
            </a:r>
            <a:r>
              <a:rPr lang="en-US" altLang="zh-CN" b="0" dirty="0" smtClean="0">
                <a:effectLst/>
              </a:rPr>
              <a:t>-</a:t>
            </a:r>
            <a:r>
              <a:rPr lang="zh-CN" altLang="en-US" b="0" dirty="0" smtClean="0">
                <a:effectLst/>
              </a:rPr>
              <a:t>（</a:t>
            </a:r>
            <a:r>
              <a:rPr lang="en-US" altLang="zh-CN" b="0" dirty="0" smtClean="0">
                <a:effectLst/>
              </a:rPr>
              <a:t>4</a:t>
            </a:r>
            <a:r>
              <a:rPr lang="zh-CN" altLang="en-US" b="0" dirty="0" smtClean="0">
                <a:effectLst/>
              </a:rPr>
              <a:t>）删除标签</a:t>
            </a:r>
            <a:endParaRPr lang="zh-CN" altLang="en-US" b="0" dirty="0">
              <a:effectLst/>
            </a:endParaRPr>
          </a:p>
        </p:txBody>
      </p:sp>
      <p:sp>
        <p:nvSpPr>
          <p:cNvPr id="4" name="灯片编号占位符 3"/>
          <p:cNvSpPr>
            <a:spLocks noGrp="1"/>
          </p:cNvSpPr>
          <p:nvPr>
            <p:ph type="sldNum" sz="quarter" idx="12"/>
          </p:nvPr>
        </p:nvSpPr>
        <p:spPr/>
        <p:txBody>
          <a:bodyPr/>
          <a:lstStyle/>
          <a:p>
            <a:fld id="{0BD87961-E39D-4DAC-BBE4-2A1C1340B983}" type="slidenum">
              <a:rPr lang="zh-CN" altLang="en-US" smtClean="0"/>
              <a:t>36</a:t>
            </a:fld>
            <a:endParaRPr lang="zh-CN" altLang="en-US"/>
          </a:p>
        </p:txBody>
      </p:sp>
    </p:spTree>
    <p:extLst>
      <p:ext uri="{BB962C8B-B14F-4D97-AF65-F5344CB8AC3E}">
        <p14:creationId xmlns:p14="http://schemas.microsoft.com/office/powerpoint/2010/main" val="228028859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8" y="1481329"/>
            <a:ext cx="11436627" cy="4859836"/>
          </a:xfrm>
        </p:spPr>
        <p:txBody>
          <a:bodyPr>
            <a:normAutofit/>
          </a:bodyPr>
          <a:lstStyle/>
          <a:p>
            <a:pPr marL="109728" indent="0">
              <a:lnSpc>
                <a:spcPct val="150000"/>
              </a:lnSpc>
              <a:buNone/>
            </a:pPr>
            <a:r>
              <a:rPr lang="en-US" altLang="zh-CN" sz="2800" dirty="0" smtClean="0"/>
              <a:t>#</a:t>
            </a:r>
            <a:r>
              <a:rPr lang="zh-CN" altLang="en-US" sz="2800" dirty="0" smtClean="0"/>
              <a:t>冲突包括以下两种：</a:t>
            </a:r>
            <a:endParaRPr lang="en-US" altLang="zh-CN" sz="2800" dirty="0" smtClean="0"/>
          </a:p>
          <a:p>
            <a:pPr>
              <a:lnSpc>
                <a:spcPct val="150000"/>
              </a:lnSpc>
              <a:buFont typeface="Wingdings" panose="05000000000000000000" pitchFamily="2" charset="2"/>
              <a:buChar char="l"/>
            </a:pPr>
            <a:r>
              <a:rPr lang="zh-CN" altLang="en-US" sz="2800" dirty="0"/>
              <a:t>内容冲突：针对版本库中某个文件的某项内容，不同的操作对其做了不同的修改，以致于在合并不同的操作时发生矛盾。解决方法</a:t>
            </a:r>
            <a:r>
              <a:rPr lang="zh-CN" altLang="en-US" sz="2800" dirty="0" smtClean="0"/>
              <a:t>：</a:t>
            </a:r>
            <a:r>
              <a:rPr lang="en-US" altLang="zh-CN" sz="2800" dirty="0" smtClean="0"/>
              <a:t>1.</a:t>
            </a:r>
            <a:r>
              <a:rPr lang="zh-CN" altLang="en-US" sz="2800" dirty="0" smtClean="0"/>
              <a:t>手动</a:t>
            </a:r>
            <a:r>
              <a:rPr lang="zh-CN" altLang="en-US" sz="2800" dirty="0"/>
              <a:t>编辑冲突区域</a:t>
            </a:r>
            <a:r>
              <a:rPr lang="zh-CN" altLang="en-US" sz="2800" dirty="0" smtClean="0"/>
              <a:t>；</a:t>
            </a:r>
            <a:r>
              <a:rPr lang="en-US" altLang="zh-CN" sz="2800" dirty="0" smtClean="0"/>
              <a:t>2.</a:t>
            </a:r>
            <a:r>
              <a:rPr lang="zh-CN" altLang="en-US" sz="2800" dirty="0" smtClean="0"/>
              <a:t>执行</a:t>
            </a:r>
            <a:r>
              <a:rPr lang="en-US" altLang="zh-CN" sz="2800" dirty="0" err="1"/>
              <a:t>git</a:t>
            </a:r>
            <a:r>
              <a:rPr lang="en-US" altLang="zh-CN" sz="2800" dirty="0"/>
              <a:t> add</a:t>
            </a:r>
            <a:r>
              <a:rPr lang="zh-CN" altLang="en-US" sz="2800" dirty="0"/>
              <a:t>，将编辑提交到暂存区</a:t>
            </a:r>
            <a:r>
              <a:rPr lang="zh-CN" altLang="en-US" sz="2800" dirty="0" smtClean="0"/>
              <a:t>；</a:t>
            </a:r>
            <a:r>
              <a:rPr lang="en-US" altLang="zh-CN" sz="2800" dirty="0" smtClean="0"/>
              <a:t>3.</a:t>
            </a:r>
            <a:r>
              <a:rPr lang="zh-CN" altLang="en-US" sz="2800" dirty="0" smtClean="0"/>
              <a:t>执行</a:t>
            </a:r>
            <a:r>
              <a:rPr lang="en-US" altLang="zh-CN" sz="2800" dirty="0" err="1"/>
              <a:t>git</a:t>
            </a:r>
            <a:r>
              <a:rPr lang="en-US" altLang="zh-CN" sz="2800" dirty="0"/>
              <a:t> commit</a:t>
            </a:r>
            <a:r>
              <a:rPr lang="zh-CN" altLang="en-US" sz="2800" dirty="0"/>
              <a:t>，将编辑提交到本地仓库以解决冲突。</a:t>
            </a:r>
            <a:endParaRPr lang="en-US" altLang="zh-CN" sz="2800" dirty="0" smtClean="0"/>
          </a:p>
          <a:p>
            <a:pPr>
              <a:lnSpc>
                <a:spcPct val="150000"/>
              </a:lnSpc>
              <a:buFont typeface="Wingdings" panose="05000000000000000000" pitchFamily="2" charset="2"/>
              <a:buChar char="l"/>
            </a:pPr>
            <a:r>
              <a:rPr lang="zh-CN" altLang="en-US" sz="2800" dirty="0"/>
              <a:t>树</a:t>
            </a:r>
            <a:r>
              <a:rPr lang="zh-CN" altLang="en-US" sz="2800" dirty="0" smtClean="0"/>
              <a:t>冲突：文件名</a:t>
            </a:r>
            <a:r>
              <a:rPr lang="zh-CN" altLang="en-US" sz="2800" dirty="0"/>
              <a:t>修改造成的冲突，称为树冲突</a:t>
            </a:r>
            <a:r>
              <a:rPr lang="zh-CN" altLang="en-US" sz="2800" dirty="0" smtClean="0"/>
              <a:t>。解决方法：删除冲突文件，添加正确文件并提交。</a:t>
            </a:r>
            <a:endParaRPr lang="en-US" altLang="zh-CN" sz="2800" dirty="0">
              <a:solidFill>
                <a:srgbClr val="FF0000"/>
              </a:solidFill>
              <a:effectLst/>
            </a:endParaRPr>
          </a:p>
        </p:txBody>
      </p:sp>
      <p:sp>
        <p:nvSpPr>
          <p:cNvPr id="3" name="标题 2"/>
          <p:cNvSpPr>
            <a:spLocks noGrp="1"/>
          </p:cNvSpPr>
          <p:nvPr>
            <p:ph type="title"/>
          </p:nvPr>
        </p:nvSpPr>
        <p:spPr/>
        <p:txBody>
          <a:bodyPr>
            <a:normAutofit/>
          </a:bodyPr>
          <a:lstStyle/>
          <a:p>
            <a:r>
              <a:rPr lang="zh-CN" altLang="en-US" b="0" dirty="0" smtClean="0">
                <a:effectLst/>
              </a:rPr>
              <a:t>冲突处理、忽略文件</a:t>
            </a:r>
            <a:r>
              <a:rPr lang="en-US" altLang="zh-CN" b="0" dirty="0" smtClean="0">
                <a:effectLst/>
              </a:rPr>
              <a:t>-</a:t>
            </a:r>
            <a:r>
              <a:rPr lang="zh-CN" altLang="en-US" b="0" dirty="0" smtClean="0">
                <a:effectLst/>
              </a:rPr>
              <a:t>（</a:t>
            </a:r>
            <a:r>
              <a:rPr lang="en-US" altLang="zh-CN" b="0" dirty="0" smtClean="0">
                <a:effectLst/>
              </a:rPr>
              <a:t>1</a:t>
            </a:r>
            <a:r>
              <a:rPr lang="zh-CN" altLang="en-US" b="0" dirty="0" smtClean="0">
                <a:effectLst/>
              </a:rPr>
              <a:t>）</a:t>
            </a:r>
            <a:r>
              <a:rPr lang="zh-CN" altLang="en-US" b="0" dirty="0">
                <a:effectLst/>
              </a:rPr>
              <a:t>解决冲突</a:t>
            </a:r>
          </a:p>
        </p:txBody>
      </p:sp>
      <p:sp>
        <p:nvSpPr>
          <p:cNvPr id="4" name="灯片编号占位符 3"/>
          <p:cNvSpPr>
            <a:spLocks noGrp="1"/>
          </p:cNvSpPr>
          <p:nvPr>
            <p:ph type="sldNum" sz="quarter" idx="12"/>
          </p:nvPr>
        </p:nvSpPr>
        <p:spPr/>
        <p:txBody>
          <a:bodyPr/>
          <a:lstStyle/>
          <a:p>
            <a:fld id="{0BD87961-E39D-4DAC-BBE4-2A1C1340B983}" type="slidenum">
              <a:rPr lang="zh-CN" altLang="en-US" smtClean="0"/>
              <a:t>37</a:t>
            </a:fld>
            <a:endParaRPr lang="zh-CN" altLang="en-US"/>
          </a:p>
        </p:txBody>
      </p:sp>
    </p:spTree>
    <p:extLst>
      <p:ext uri="{BB962C8B-B14F-4D97-AF65-F5344CB8AC3E}">
        <p14:creationId xmlns:p14="http://schemas.microsoft.com/office/powerpoint/2010/main" val="305014596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8" y="1481329"/>
            <a:ext cx="11436627" cy="4859836"/>
          </a:xfrm>
        </p:spPr>
        <p:txBody>
          <a:bodyPr>
            <a:normAutofit/>
          </a:bodyPr>
          <a:lstStyle/>
          <a:p>
            <a:pPr>
              <a:lnSpc>
                <a:spcPct val="150000"/>
              </a:lnSpc>
              <a:buFont typeface="Wingdings" panose="05000000000000000000" pitchFamily="2" charset="2"/>
              <a:buChar char="l"/>
            </a:pPr>
            <a:r>
              <a:rPr lang="zh-CN" altLang="en-US" sz="2800" dirty="0" smtClean="0"/>
              <a:t>强制</a:t>
            </a:r>
            <a:r>
              <a:rPr lang="zh-CN" altLang="en-US" sz="2800" dirty="0"/>
              <a:t>推送 如果远程的某个分支的内容需要被覆盖，这个</a:t>
            </a:r>
            <a:r>
              <a:rPr lang="zh-CN" altLang="en-US" sz="2800" dirty="0" smtClean="0"/>
              <a:t>时候需要进行</a:t>
            </a:r>
            <a:r>
              <a:rPr lang="zh-CN" altLang="en-US" sz="2800" dirty="0"/>
              <a:t>强制推送，使用本地内容去覆盖该分支。</a:t>
            </a:r>
          </a:p>
          <a:p>
            <a:pPr>
              <a:lnSpc>
                <a:spcPct val="150000"/>
              </a:lnSpc>
              <a:buFont typeface="Wingdings" panose="05000000000000000000" pitchFamily="2" charset="2"/>
              <a:buChar char="l"/>
            </a:pPr>
            <a:r>
              <a:rPr lang="zh-CN" altLang="en-US" sz="2800" dirty="0" smtClean="0"/>
              <a:t>强制</a:t>
            </a:r>
            <a:r>
              <a:rPr lang="zh-CN" altLang="en-US" sz="2800" dirty="0"/>
              <a:t>合并 如果本地分支的内容需要被远程内容覆盖，这个</a:t>
            </a:r>
            <a:r>
              <a:rPr lang="zh-CN" altLang="en-US" sz="2800" dirty="0" smtClean="0"/>
              <a:t>时候需要</a:t>
            </a:r>
            <a:r>
              <a:rPr lang="zh-CN" altLang="en-US" sz="2800" dirty="0"/>
              <a:t>强制合并远程分支内容到本地。</a:t>
            </a:r>
          </a:p>
          <a:p>
            <a:pPr>
              <a:lnSpc>
                <a:spcPct val="150000"/>
              </a:lnSpc>
              <a:buFont typeface="Wingdings" panose="05000000000000000000" pitchFamily="2" charset="2"/>
              <a:buChar char="l"/>
            </a:pPr>
            <a:r>
              <a:rPr lang="zh-CN" altLang="en-US" sz="2800" dirty="0" smtClean="0"/>
              <a:t>强制</a:t>
            </a:r>
            <a:r>
              <a:rPr lang="zh-CN" altLang="en-US" sz="2800" dirty="0"/>
              <a:t>删除 </a:t>
            </a:r>
            <a:r>
              <a:rPr lang="zh-CN" altLang="en-US" sz="2800" dirty="0" smtClean="0"/>
              <a:t>如果需要</a:t>
            </a:r>
            <a:r>
              <a:rPr lang="zh-CN" altLang="en-US" sz="2800" dirty="0"/>
              <a:t>强制删除版本库、暂存区或者工作区的内容时，就需要强制删除。</a:t>
            </a:r>
            <a:r>
              <a:rPr lang="zh-CN" altLang="en-US" sz="2800" dirty="0" smtClean="0"/>
              <a:t>比如之前</a:t>
            </a:r>
            <a:r>
              <a:rPr lang="zh-CN" altLang="en-US" sz="2800" dirty="0"/>
              <a:t>介绍的</a:t>
            </a:r>
            <a:r>
              <a:rPr lang="en-US" altLang="zh-CN" sz="2800" dirty="0"/>
              <a:t>checkout</a:t>
            </a:r>
            <a:r>
              <a:rPr lang="zh-CN" altLang="en-US" sz="2800" dirty="0"/>
              <a:t>，就可以使用</a:t>
            </a:r>
            <a:r>
              <a:rPr lang="en-US" altLang="zh-CN" sz="2800" dirty="0"/>
              <a:t>-f</a:t>
            </a:r>
            <a:r>
              <a:rPr lang="zh-CN" altLang="en-US" sz="2800" dirty="0"/>
              <a:t>参数，强制丢弃本地修改。</a:t>
            </a:r>
            <a:endParaRPr lang="en-US" altLang="zh-CN" sz="2800" dirty="0">
              <a:solidFill>
                <a:srgbClr val="FF0000"/>
              </a:solidFill>
              <a:effectLst/>
            </a:endParaRPr>
          </a:p>
        </p:txBody>
      </p:sp>
      <p:sp>
        <p:nvSpPr>
          <p:cNvPr id="3" name="标题 2"/>
          <p:cNvSpPr>
            <a:spLocks noGrp="1"/>
          </p:cNvSpPr>
          <p:nvPr>
            <p:ph type="title"/>
          </p:nvPr>
        </p:nvSpPr>
        <p:spPr/>
        <p:txBody>
          <a:bodyPr>
            <a:normAutofit/>
          </a:bodyPr>
          <a:lstStyle/>
          <a:p>
            <a:r>
              <a:rPr lang="zh-CN" altLang="en-US" b="0" dirty="0" smtClean="0">
                <a:effectLst/>
              </a:rPr>
              <a:t>冲突处理、忽略文件</a:t>
            </a:r>
            <a:r>
              <a:rPr lang="en-US" altLang="zh-CN" b="0" dirty="0" smtClean="0">
                <a:effectLst/>
              </a:rPr>
              <a:t>-</a:t>
            </a:r>
            <a:r>
              <a:rPr lang="zh-CN" altLang="en-US" b="0" dirty="0" smtClean="0">
                <a:effectLst/>
              </a:rPr>
              <a:t>（</a:t>
            </a:r>
            <a:r>
              <a:rPr lang="en-US" altLang="zh-CN" b="0" dirty="0" smtClean="0">
                <a:effectLst/>
              </a:rPr>
              <a:t>2</a:t>
            </a:r>
            <a:r>
              <a:rPr lang="zh-CN" altLang="en-US" b="0" dirty="0" smtClean="0">
                <a:effectLst/>
              </a:rPr>
              <a:t>）</a:t>
            </a:r>
            <a:r>
              <a:rPr lang="zh-CN" altLang="en-US" b="0" dirty="0">
                <a:effectLst/>
              </a:rPr>
              <a:t>强制操作</a:t>
            </a:r>
          </a:p>
        </p:txBody>
      </p:sp>
      <p:sp>
        <p:nvSpPr>
          <p:cNvPr id="4" name="灯片编号占位符 3"/>
          <p:cNvSpPr>
            <a:spLocks noGrp="1"/>
          </p:cNvSpPr>
          <p:nvPr>
            <p:ph type="sldNum" sz="quarter" idx="12"/>
          </p:nvPr>
        </p:nvSpPr>
        <p:spPr/>
        <p:txBody>
          <a:bodyPr/>
          <a:lstStyle/>
          <a:p>
            <a:fld id="{0BD87961-E39D-4DAC-BBE4-2A1C1340B983}" type="slidenum">
              <a:rPr lang="zh-CN" altLang="en-US" smtClean="0"/>
              <a:t>38</a:t>
            </a:fld>
            <a:endParaRPr lang="zh-CN" altLang="en-US"/>
          </a:p>
        </p:txBody>
      </p:sp>
    </p:spTree>
    <p:extLst>
      <p:ext uri="{BB962C8B-B14F-4D97-AF65-F5344CB8AC3E}">
        <p14:creationId xmlns:p14="http://schemas.microsoft.com/office/powerpoint/2010/main" val="179608204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8" y="1481329"/>
            <a:ext cx="11436627" cy="4859836"/>
          </a:xfrm>
        </p:spPr>
        <p:txBody>
          <a:bodyPr>
            <a:normAutofit/>
          </a:bodyPr>
          <a:lstStyle/>
          <a:p>
            <a:pPr>
              <a:lnSpc>
                <a:spcPct val="150000"/>
              </a:lnSpc>
              <a:buFont typeface="Wingdings" panose="05000000000000000000" pitchFamily="2" charset="2"/>
              <a:buChar char="l"/>
            </a:pPr>
            <a:r>
              <a:rPr lang="zh-CN" altLang="en-US" sz="2800" dirty="0"/>
              <a:t>如何忽略</a:t>
            </a:r>
            <a:r>
              <a:rPr lang="zh-CN" altLang="en-US" sz="2800" dirty="0" smtClean="0"/>
              <a:t>文件：在</a:t>
            </a:r>
            <a:r>
              <a:rPr lang="en-US" altLang="zh-CN" sz="2800" dirty="0" err="1"/>
              <a:t>Git</a:t>
            </a:r>
            <a:r>
              <a:rPr lang="zh-CN" altLang="en-US" sz="2800" dirty="0"/>
              <a:t>工作区的根目录下，创建一个特殊的</a:t>
            </a:r>
            <a:r>
              <a:rPr lang="en-US" altLang="zh-CN" sz="2800" dirty="0"/>
              <a:t>.</a:t>
            </a:r>
            <a:r>
              <a:rPr lang="en-US" altLang="zh-CN" sz="2800" dirty="0" err="1"/>
              <a:t>gitignore</a:t>
            </a:r>
            <a:r>
              <a:rPr lang="zh-CN" altLang="en-US" sz="2800" dirty="0"/>
              <a:t>文件，把要忽略的文件名或者文件名的通配符填进去，然后将</a:t>
            </a:r>
            <a:r>
              <a:rPr lang="en-US" altLang="zh-CN" sz="2800" dirty="0"/>
              <a:t>.</a:t>
            </a:r>
            <a:r>
              <a:rPr lang="en-US" altLang="zh-CN" sz="2800" dirty="0" err="1"/>
              <a:t>gitignore</a:t>
            </a:r>
            <a:r>
              <a:rPr lang="zh-CN" altLang="en-US" sz="2800" dirty="0"/>
              <a:t>提交到本地仓库，这样</a:t>
            </a:r>
            <a:r>
              <a:rPr lang="en-US" altLang="zh-CN" sz="2800" dirty="0" err="1"/>
              <a:t>Git</a:t>
            </a:r>
            <a:r>
              <a:rPr lang="zh-CN" altLang="en-US" sz="2800" dirty="0"/>
              <a:t>就会</a:t>
            </a:r>
            <a:r>
              <a:rPr lang="zh-CN" altLang="en-US" sz="2800" dirty="0" smtClean="0"/>
              <a:t>在用户添加</a:t>
            </a:r>
            <a:r>
              <a:rPr lang="zh-CN" altLang="en-US" sz="2800" dirty="0"/>
              <a:t>或者提交时，自动忽略这些文件</a:t>
            </a:r>
            <a:r>
              <a:rPr lang="zh-CN" altLang="en-US" sz="2800" dirty="0" smtClean="0"/>
              <a:t>。</a:t>
            </a:r>
            <a:endParaRPr lang="zh-CN" altLang="en-US" sz="2800" dirty="0"/>
          </a:p>
          <a:p>
            <a:pPr>
              <a:lnSpc>
                <a:spcPct val="150000"/>
              </a:lnSpc>
              <a:buFont typeface="Wingdings" panose="05000000000000000000" pitchFamily="2" charset="2"/>
              <a:buChar char="l"/>
            </a:pPr>
            <a:r>
              <a:rPr lang="zh-CN" altLang="en-US" sz="2800" dirty="0"/>
              <a:t>自定义忽略</a:t>
            </a:r>
            <a:r>
              <a:rPr lang="zh-CN" altLang="en-US" sz="2800" dirty="0" smtClean="0"/>
              <a:t>文件：如果需要</a:t>
            </a:r>
            <a:r>
              <a:rPr lang="zh-CN" altLang="en-US" sz="2800" dirty="0"/>
              <a:t>自己定义忽略哪些文件，就需要将其添加到</a:t>
            </a:r>
            <a:r>
              <a:rPr lang="en-US" altLang="zh-CN" sz="2800" dirty="0"/>
              <a:t>.</a:t>
            </a:r>
            <a:r>
              <a:rPr lang="en-US" altLang="zh-CN" sz="2800" dirty="0" err="1"/>
              <a:t>gitignore</a:t>
            </a:r>
            <a:r>
              <a:rPr lang="zh-CN" altLang="en-US" sz="2800" dirty="0"/>
              <a:t>文件中去</a:t>
            </a:r>
            <a:r>
              <a:rPr lang="zh-CN" altLang="en-US" sz="2800" dirty="0" smtClean="0"/>
              <a:t>。可以</a:t>
            </a:r>
            <a:r>
              <a:rPr lang="zh-CN" altLang="en-US" sz="2800" dirty="0"/>
              <a:t>使用文件的全称，或者使用正则匹配的通配符。</a:t>
            </a:r>
            <a:endParaRPr lang="en-US" altLang="zh-CN" sz="2800" dirty="0">
              <a:solidFill>
                <a:srgbClr val="FF0000"/>
              </a:solidFill>
              <a:effectLst/>
            </a:endParaRPr>
          </a:p>
        </p:txBody>
      </p:sp>
      <p:sp>
        <p:nvSpPr>
          <p:cNvPr id="3" name="标题 2"/>
          <p:cNvSpPr>
            <a:spLocks noGrp="1"/>
          </p:cNvSpPr>
          <p:nvPr>
            <p:ph type="title"/>
          </p:nvPr>
        </p:nvSpPr>
        <p:spPr/>
        <p:txBody>
          <a:bodyPr>
            <a:normAutofit/>
          </a:bodyPr>
          <a:lstStyle/>
          <a:p>
            <a:r>
              <a:rPr lang="zh-CN" altLang="en-US" b="0" dirty="0" smtClean="0">
                <a:effectLst/>
              </a:rPr>
              <a:t>冲突处理、忽略文件</a:t>
            </a:r>
            <a:r>
              <a:rPr lang="en-US" altLang="zh-CN" b="0" dirty="0" smtClean="0">
                <a:effectLst/>
              </a:rPr>
              <a:t>-</a:t>
            </a:r>
            <a:r>
              <a:rPr lang="zh-CN" altLang="en-US" b="0" dirty="0" smtClean="0">
                <a:effectLst/>
              </a:rPr>
              <a:t>（</a:t>
            </a:r>
            <a:r>
              <a:rPr lang="en-US" altLang="zh-CN" b="0" dirty="0" smtClean="0">
                <a:effectLst/>
              </a:rPr>
              <a:t>3</a:t>
            </a:r>
            <a:r>
              <a:rPr lang="zh-CN" altLang="en-US" b="0" dirty="0" smtClean="0">
                <a:effectLst/>
              </a:rPr>
              <a:t>）</a:t>
            </a:r>
            <a:r>
              <a:rPr lang="zh-CN" altLang="en-US" b="0" dirty="0">
                <a:effectLst/>
              </a:rPr>
              <a:t>忽略文件</a:t>
            </a:r>
          </a:p>
        </p:txBody>
      </p:sp>
      <p:sp>
        <p:nvSpPr>
          <p:cNvPr id="4" name="灯片编号占位符 3"/>
          <p:cNvSpPr>
            <a:spLocks noGrp="1"/>
          </p:cNvSpPr>
          <p:nvPr>
            <p:ph type="sldNum" sz="quarter" idx="12"/>
          </p:nvPr>
        </p:nvSpPr>
        <p:spPr/>
        <p:txBody>
          <a:bodyPr/>
          <a:lstStyle/>
          <a:p>
            <a:fld id="{0BD87961-E39D-4DAC-BBE4-2A1C1340B983}" type="slidenum">
              <a:rPr lang="zh-CN" altLang="en-US" smtClean="0"/>
              <a:t>39</a:t>
            </a:fld>
            <a:endParaRPr lang="zh-CN" altLang="en-US"/>
          </a:p>
        </p:txBody>
      </p:sp>
    </p:spTree>
    <p:extLst>
      <p:ext uri="{BB962C8B-B14F-4D97-AF65-F5344CB8AC3E}">
        <p14:creationId xmlns:p14="http://schemas.microsoft.com/office/powerpoint/2010/main" val="14616621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8" y="1481329"/>
            <a:ext cx="11436627" cy="4859836"/>
          </a:xfrm>
        </p:spPr>
        <p:txBody>
          <a:bodyPr>
            <a:normAutofit/>
          </a:bodyPr>
          <a:lstStyle/>
          <a:p>
            <a:pPr>
              <a:lnSpc>
                <a:spcPct val="150000"/>
              </a:lnSpc>
              <a:buFont typeface="Wingdings" panose="05000000000000000000" pitchFamily="2" charset="2"/>
              <a:buChar char="l"/>
            </a:pPr>
            <a:r>
              <a:rPr lang="zh-CN" altLang="en-US" sz="3200" dirty="0"/>
              <a:t>合并远程分支的一般步骤是：</a:t>
            </a:r>
          </a:p>
          <a:p>
            <a:pPr lvl="1">
              <a:lnSpc>
                <a:spcPct val="150000"/>
              </a:lnSpc>
              <a:buFont typeface="Wingdings" panose="05000000000000000000" pitchFamily="2" charset="2"/>
              <a:buChar char="Ø"/>
            </a:pPr>
            <a:r>
              <a:rPr lang="zh-CN" altLang="en-US" sz="2800" dirty="0" smtClean="0"/>
              <a:t>第一</a:t>
            </a:r>
            <a:r>
              <a:rPr lang="zh-CN" altLang="en-US" sz="2800" dirty="0"/>
              <a:t>步，分别获取远程分支内容到本地；</a:t>
            </a:r>
          </a:p>
          <a:p>
            <a:pPr lvl="1">
              <a:lnSpc>
                <a:spcPct val="150000"/>
              </a:lnSpc>
              <a:buFont typeface="Wingdings" panose="05000000000000000000" pitchFamily="2" charset="2"/>
              <a:buChar char="Ø"/>
            </a:pPr>
            <a:r>
              <a:rPr lang="zh-CN" altLang="en-US" sz="2800" dirty="0"/>
              <a:t>第二步，在本地将两个分支合并；</a:t>
            </a:r>
          </a:p>
          <a:p>
            <a:pPr lvl="1">
              <a:lnSpc>
                <a:spcPct val="150000"/>
              </a:lnSpc>
              <a:buFont typeface="Wingdings" panose="05000000000000000000" pitchFamily="2" charset="2"/>
              <a:buChar char="Ø"/>
            </a:pPr>
            <a:r>
              <a:rPr lang="zh-CN" altLang="en-US" sz="2800" dirty="0"/>
              <a:t>第三步，将合并后的本地分支推送到远程分支，完成合并。</a:t>
            </a:r>
            <a:endParaRPr lang="en-US" altLang="zh-CN" sz="2800" dirty="0">
              <a:solidFill>
                <a:srgbClr val="FF0000"/>
              </a:solidFill>
              <a:effectLst/>
            </a:endParaRPr>
          </a:p>
        </p:txBody>
      </p:sp>
      <p:sp>
        <p:nvSpPr>
          <p:cNvPr id="3" name="标题 2"/>
          <p:cNvSpPr>
            <a:spLocks noGrp="1"/>
          </p:cNvSpPr>
          <p:nvPr>
            <p:ph type="title"/>
          </p:nvPr>
        </p:nvSpPr>
        <p:spPr/>
        <p:txBody>
          <a:bodyPr>
            <a:normAutofit fontScale="90000"/>
          </a:bodyPr>
          <a:lstStyle/>
          <a:p>
            <a:r>
              <a:rPr lang="zh-CN" altLang="en-US" b="0" dirty="0">
                <a:effectLst/>
              </a:rPr>
              <a:t>远程分支、</a:t>
            </a:r>
            <a:r>
              <a:rPr lang="en-US" altLang="zh-CN" b="0" dirty="0">
                <a:effectLst/>
              </a:rPr>
              <a:t>rebase</a:t>
            </a:r>
            <a:r>
              <a:rPr lang="zh-CN" altLang="en-US" b="0" dirty="0">
                <a:effectLst/>
              </a:rPr>
              <a:t>、 </a:t>
            </a:r>
            <a:r>
              <a:rPr lang="zh-CN" altLang="en-US" b="0" dirty="0" smtClean="0">
                <a:effectLst/>
              </a:rPr>
              <a:t>储藏</a:t>
            </a:r>
            <a:r>
              <a:rPr lang="en-US" altLang="zh-CN" b="0" dirty="0" smtClean="0">
                <a:effectLst/>
              </a:rPr>
              <a:t>-</a:t>
            </a:r>
            <a:r>
              <a:rPr lang="zh-CN" altLang="en-US" b="0" dirty="0" smtClean="0">
                <a:effectLst/>
              </a:rPr>
              <a:t>（</a:t>
            </a:r>
            <a:r>
              <a:rPr lang="en-US" altLang="zh-CN" b="0" dirty="0" smtClean="0">
                <a:effectLst/>
              </a:rPr>
              <a:t>1</a:t>
            </a:r>
            <a:r>
              <a:rPr lang="zh-CN" altLang="en-US" b="0" dirty="0" smtClean="0">
                <a:effectLst/>
              </a:rPr>
              <a:t>）合并原创分支</a:t>
            </a:r>
            <a:endParaRPr lang="zh-CN" altLang="en-US" b="0" dirty="0">
              <a:effectLst/>
            </a:endParaRPr>
          </a:p>
        </p:txBody>
      </p:sp>
      <p:sp>
        <p:nvSpPr>
          <p:cNvPr id="4" name="灯片编号占位符 3"/>
          <p:cNvSpPr>
            <a:spLocks noGrp="1"/>
          </p:cNvSpPr>
          <p:nvPr>
            <p:ph type="sldNum" sz="quarter" idx="12"/>
          </p:nvPr>
        </p:nvSpPr>
        <p:spPr/>
        <p:txBody>
          <a:bodyPr/>
          <a:lstStyle/>
          <a:p>
            <a:fld id="{0BD87961-E39D-4DAC-BBE4-2A1C1340B983}" type="slidenum">
              <a:rPr lang="zh-CN" altLang="en-US" smtClean="0"/>
              <a:t>40</a:t>
            </a:fld>
            <a:endParaRPr lang="zh-CN" altLang="en-US"/>
          </a:p>
        </p:txBody>
      </p:sp>
    </p:spTree>
    <p:extLst>
      <p:ext uri="{BB962C8B-B14F-4D97-AF65-F5344CB8AC3E}">
        <p14:creationId xmlns:p14="http://schemas.microsoft.com/office/powerpoint/2010/main" val="378265100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8" y="1481329"/>
            <a:ext cx="11436627" cy="4859836"/>
          </a:xfrm>
        </p:spPr>
        <p:txBody>
          <a:bodyPr>
            <a:normAutofit fontScale="77500" lnSpcReduction="20000"/>
          </a:bodyPr>
          <a:lstStyle/>
          <a:p>
            <a:pPr marL="109728" indent="0">
              <a:lnSpc>
                <a:spcPct val="150000"/>
              </a:lnSpc>
              <a:buNone/>
            </a:pPr>
            <a:r>
              <a:rPr lang="en-US" altLang="zh-CN" sz="3200" dirty="0" smtClean="0"/>
              <a:t>#rebase</a:t>
            </a:r>
            <a:r>
              <a:rPr lang="zh-CN" altLang="en-US" sz="3200" dirty="0"/>
              <a:t>的基本操作是将某个分支的修改到指定分支，其命令格式为</a:t>
            </a:r>
            <a:r>
              <a:rPr lang="zh-CN" altLang="en-US" sz="3200" dirty="0" smtClean="0"/>
              <a:t>：</a:t>
            </a:r>
            <a:r>
              <a:rPr lang="en-US" altLang="zh-CN" sz="3200" dirty="0" err="1" smtClean="0"/>
              <a:t>git</a:t>
            </a:r>
            <a:r>
              <a:rPr lang="en-US" altLang="zh-CN" sz="3200" dirty="0" smtClean="0"/>
              <a:t> </a:t>
            </a:r>
            <a:r>
              <a:rPr lang="en-US" altLang="zh-CN" sz="3200" dirty="0"/>
              <a:t>rebase </a:t>
            </a:r>
            <a:r>
              <a:rPr lang="zh-CN" altLang="en-US" sz="3200" dirty="0"/>
              <a:t>基分支 源</a:t>
            </a:r>
            <a:r>
              <a:rPr lang="zh-CN" altLang="en-US" sz="3200" dirty="0" smtClean="0"/>
              <a:t>分支，其中</a:t>
            </a:r>
            <a:r>
              <a:rPr lang="zh-CN" altLang="en-US" sz="3200" dirty="0"/>
              <a:t>‘基分支’是我们的新的‘基’，而‘源分支’就是需要进行变基操作的分支。这样就能实现将源分支变基到基分支</a:t>
            </a:r>
            <a:r>
              <a:rPr lang="zh-CN" altLang="en-US" sz="3200" dirty="0" smtClean="0"/>
              <a:t>。例如：</a:t>
            </a:r>
            <a:endParaRPr lang="zh-CN" altLang="en-US" sz="3200" dirty="0"/>
          </a:p>
          <a:p>
            <a:pPr marL="109728" indent="0">
              <a:lnSpc>
                <a:spcPct val="150000"/>
              </a:lnSpc>
              <a:buNone/>
            </a:pPr>
            <a:r>
              <a:rPr lang="en-US" altLang="zh-CN" sz="3200" dirty="0" smtClean="0">
                <a:solidFill>
                  <a:srgbClr val="FF0000"/>
                </a:solidFill>
              </a:rPr>
              <a:t>	</a:t>
            </a:r>
            <a:r>
              <a:rPr lang="en-US" altLang="zh-CN" sz="3200" dirty="0" err="1" smtClean="0">
                <a:solidFill>
                  <a:srgbClr val="FF0000"/>
                </a:solidFill>
              </a:rPr>
              <a:t>git</a:t>
            </a:r>
            <a:r>
              <a:rPr lang="en-US" altLang="zh-CN" sz="3200" dirty="0" smtClean="0">
                <a:solidFill>
                  <a:srgbClr val="FF0000"/>
                </a:solidFill>
              </a:rPr>
              <a:t> </a:t>
            </a:r>
            <a:r>
              <a:rPr lang="en-US" altLang="zh-CN" sz="3200" dirty="0">
                <a:solidFill>
                  <a:srgbClr val="FF0000"/>
                </a:solidFill>
              </a:rPr>
              <a:t>rebase master develop</a:t>
            </a:r>
          </a:p>
          <a:p>
            <a:pPr marL="109728" indent="0">
              <a:lnSpc>
                <a:spcPct val="150000"/>
              </a:lnSpc>
              <a:buNone/>
            </a:pPr>
            <a:r>
              <a:rPr lang="en-US" altLang="zh-CN" sz="3200" dirty="0" smtClean="0"/>
              <a:t>#</a:t>
            </a:r>
            <a:r>
              <a:rPr lang="zh-CN" altLang="en-US" sz="3200" dirty="0" smtClean="0"/>
              <a:t>以上语句就能实现将</a:t>
            </a:r>
            <a:r>
              <a:rPr lang="en-US" altLang="zh-CN" sz="3200" dirty="0" smtClean="0"/>
              <a:t>develop</a:t>
            </a:r>
            <a:r>
              <a:rPr lang="zh-CN" altLang="en-US" sz="3200" dirty="0" smtClean="0"/>
              <a:t>变基到</a:t>
            </a:r>
            <a:r>
              <a:rPr lang="en-US" altLang="zh-CN" sz="3200" dirty="0" smtClean="0"/>
              <a:t>master</a:t>
            </a:r>
            <a:r>
              <a:rPr lang="zh-CN" altLang="en-US" sz="3200" dirty="0" smtClean="0"/>
              <a:t>分支。如果</a:t>
            </a:r>
            <a:r>
              <a:rPr lang="zh-CN" altLang="en-US" sz="3200" dirty="0"/>
              <a:t>是将当前分支变基到指定分支，则可以直接使用</a:t>
            </a:r>
            <a:r>
              <a:rPr lang="zh-CN" altLang="en-US" sz="3200" dirty="0" smtClean="0"/>
              <a:t>：</a:t>
            </a:r>
            <a:r>
              <a:rPr lang="en-US" altLang="zh-CN" sz="3200" dirty="0" err="1" smtClean="0"/>
              <a:t>git</a:t>
            </a:r>
            <a:r>
              <a:rPr lang="en-US" altLang="zh-CN" sz="3200" dirty="0" smtClean="0"/>
              <a:t> </a:t>
            </a:r>
            <a:r>
              <a:rPr lang="en-US" altLang="zh-CN" sz="3200" dirty="0"/>
              <a:t>rebase </a:t>
            </a:r>
            <a:r>
              <a:rPr lang="zh-CN" altLang="en-US" sz="3200" dirty="0"/>
              <a:t>基</a:t>
            </a:r>
            <a:r>
              <a:rPr lang="zh-CN" altLang="en-US" sz="3200" dirty="0" smtClean="0"/>
              <a:t>分支，这</a:t>
            </a:r>
            <a:r>
              <a:rPr lang="zh-CN" altLang="en-US" sz="3200" dirty="0"/>
              <a:t>一命令默认将当前分支变基到‘基分支’。如果当前处于</a:t>
            </a:r>
            <a:r>
              <a:rPr lang="en-US" altLang="zh-CN" sz="3200" dirty="0"/>
              <a:t>develop</a:t>
            </a:r>
            <a:r>
              <a:rPr lang="zh-CN" altLang="en-US" sz="3200" dirty="0"/>
              <a:t>分支，则其使用示例如下</a:t>
            </a:r>
            <a:r>
              <a:rPr lang="zh-CN" altLang="en-US" sz="3200" dirty="0" smtClean="0"/>
              <a:t>：</a:t>
            </a:r>
            <a:endParaRPr lang="zh-CN" altLang="en-US" sz="3200" dirty="0"/>
          </a:p>
          <a:p>
            <a:pPr marL="109728" indent="0">
              <a:lnSpc>
                <a:spcPct val="150000"/>
              </a:lnSpc>
              <a:buNone/>
            </a:pPr>
            <a:r>
              <a:rPr lang="en-US" altLang="zh-CN" sz="3200" dirty="0" smtClean="0">
                <a:solidFill>
                  <a:srgbClr val="FF0000"/>
                </a:solidFill>
              </a:rPr>
              <a:t>	</a:t>
            </a:r>
            <a:r>
              <a:rPr lang="en-US" altLang="zh-CN" sz="3200" dirty="0" err="1" smtClean="0">
                <a:solidFill>
                  <a:srgbClr val="FF0000"/>
                </a:solidFill>
              </a:rPr>
              <a:t>git</a:t>
            </a:r>
            <a:r>
              <a:rPr lang="en-US" altLang="zh-CN" sz="3200" dirty="0" smtClean="0">
                <a:solidFill>
                  <a:srgbClr val="FF0000"/>
                </a:solidFill>
              </a:rPr>
              <a:t> </a:t>
            </a:r>
            <a:r>
              <a:rPr lang="en-US" altLang="zh-CN" sz="3200" dirty="0">
                <a:solidFill>
                  <a:srgbClr val="FF0000"/>
                </a:solidFill>
              </a:rPr>
              <a:t>rebase </a:t>
            </a:r>
            <a:r>
              <a:rPr lang="en-US" altLang="zh-CN" sz="3200" dirty="0" smtClean="0">
                <a:solidFill>
                  <a:srgbClr val="FF0000"/>
                </a:solidFill>
              </a:rPr>
              <a:t>master</a:t>
            </a:r>
            <a:endParaRPr lang="en-US" altLang="zh-CN" sz="3200" dirty="0">
              <a:solidFill>
                <a:srgbClr val="FF0000"/>
              </a:solidFill>
            </a:endParaRPr>
          </a:p>
        </p:txBody>
      </p:sp>
      <p:sp>
        <p:nvSpPr>
          <p:cNvPr id="3" name="标题 2"/>
          <p:cNvSpPr>
            <a:spLocks noGrp="1"/>
          </p:cNvSpPr>
          <p:nvPr>
            <p:ph type="title"/>
          </p:nvPr>
        </p:nvSpPr>
        <p:spPr/>
        <p:txBody>
          <a:bodyPr>
            <a:normAutofit/>
          </a:bodyPr>
          <a:lstStyle/>
          <a:p>
            <a:r>
              <a:rPr lang="zh-CN" altLang="en-US" b="0" dirty="0">
                <a:effectLst/>
              </a:rPr>
              <a:t>远程分支、</a:t>
            </a:r>
            <a:r>
              <a:rPr lang="en-US" altLang="zh-CN" b="0" dirty="0">
                <a:effectLst/>
              </a:rPr>
              <a:t>rebase</a:t>
            </a:r>
            <a:r>
              <a:rPr lang="zh-CN" altLang="en-US" b="0" dirty="0">
                <a:effectLst/>
              </a:rPr>
              <a:t>、 </a:t>
            </a:r>
            <a:r>
              <a:rPr lang="zh-CN" altLang="en-US" b="0" dirty="0" smtClean="0">
                <a:effectLst/>
              </a:rPr>
              <a:t>储藏</a:t>
            </a:r>
            <a:r>
              <a:rPr lang="en-US" altLang="zh-CN" b="0" dirty="0" smtClean="0">
                <a:effectLst/>
              </a:rPr>
              <a:t>-</a:t>
            </a:r>
            <a:r>
              <a:rPr lang="zh-CN" altLang="en-US" b="0" dirty="0" smtClean="0">
                <a:effectLst/>
              </a:rPr>
              <a:t>（</a:t>
            </a:r>
            <a:r>
              <a:rPr lang="en-US" altLang="zh-CN" b="0" dirty="0" smtClean="0">
                <a:effectLst/>
              </a:rPr>
              <a:t>2</a:t>
            </a:r>
            <a:r>
              <a:rPr lang="zh-CN" altLang="en-US" b="0" dirty="0" smtClean="0">
                <a:effectLst/>
              </a:rPr>
              <a:t>）</a:t>
            </a:r>
            <a:r>
              <a:rPr lang="en-US" altLang="zh-CN" b="0" dirty="0" smtClean="0">
                <a:effectLst/>
              </a:rPr>
              <a:t>rebase</a:t>
            </a:r>
            <a:endParaRPr lang="zh-CN" altLang="en-US" b="0" dirty="0">
              <a:effectLst/>
            </a:endParaRPr>
          </a:p>
        </p:txBody>
      </p:sp>
      <p:sp>
        <p:nvSpPr>
          <p:cNvPr id="4" name="灯片编号占位符 3"/>
          <p:cNvSpPr>
            <a:spLocks noGrp="1"/>
          </p:cNvSpPr>
          <p:nvPr>
            <p:ph type="sldNum" sz="quarter" idx="12"/>
          </p:nvPr>
        </p:nvSpPr>
        <p:spPr/>
        <p:txBody>
          <a:bodyPr/>
          <a:lstStyle/>
          <a:p>
            <a:fld id="{0BD87961-E39D-4DAC-BBE4-2A1C1340B983}" type="slidenum">
              <a:rPr lang="zh-CN" altLang="en-US" smtClean="0"/>
              <a:t>41</a:t>
            </a:fld>
            <a:endParaRPr lang="zh-CN" altLang="en-US"/>
          </a:p>
        </p:txBody>
      </p:sp>
    </p:spTree>
    <p:extLst>
      <p:ext uri="{BB962C8B-B14F-4D97-AF65-F5344CB8AC3E}">
        <p14:creationId xmlns:p14="http://schemas.microsoft.com/office/powerpoint/2010/main" val="254779189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8" y="1481329"/>
            <a:ext cx="11436627" cy="4859836"/>
          </a:xfrm>
        </p:spPr>
        <p:txBody>
          <a:bodyPr>
            <a:normAutofit fontScale="77500" lnSpcReduction="20000"/>
          </a:bodyPr>
          <a:lstStyle/>
          <a:p>
            <a:pPr marL="109728" indent="0">
              <a:lnSpc>
                <a:spcPct val="150000"/>
              </a:lnSpc>
              <a:buNone/>
            </a:pPr>
            <a:r>
              <a:rPr lang="en-US" altLang="zh-CN" sz="3200" dirty="0" smtClean="0"/>
              <a:t>#</a:t>
            </a:r>
            <a:r>
              <a:rPr lang="zh-CN" altLang="en-US" sz="3200" dirty="0"/>
              <a:t>“储藏”可以</a:t>
            </a:r>
            <a:r>
              <a:rPr lang="zh-CN" altLang="en-US" sz="3200" dirty="0" smtClean="0"/>
              <a:t>获取工作</a:t>
            </a:r>
            <a:r>
              <a:rPr lang="zh-CN" altLang="en-US" sz="3200" dirty="0"/>
              <a:t>目录的中间状态（包括修改过的被追踪的文件和已经暂存的变更），并将其保存到一个未完结变更的堆栈中，而且随时可以重新应用。</a:t>
            </a:r>
            <a:r>
              <a:rPr lang="zh-CN" altLang="en-US" sz="3200" dirty="0" smtClean="0"/>
              <a:t>当不想</a:t>
            </a:r>
            <a:r>
              <a:rPr lang="zh-CN" altLang="en-US" sz="3200" dirty="0"/>
              <a:t>提交，也不想丢弃当前工作区中的内容，而想切换到其他分支的时候，可以使用储藏命令先暂存工作区中的内容。然后，再回到当前分支的时候，将储藏起来的内容，恢复到工作区之后，即可恢复之前的工作</a:t>
            </a:r>
            <a:r>
              <a:rPr lang="zh-CN" altLang="en-US" sz="3200" dirty="0" smtClean="0"/>
              <a:t>。</a:t>
            </a:r>
            <a:endParaRPr lang="en-US" altLang="zh-CN" sz="3200" dirty="0" smtClean="0"/>
          </a:p>
          <a:p>
            <a:pPr marL="109728" indent="0">
              <a:lnSpc>
                <a:spcPct val="150000"/>
              </a:lnSpc>
              <a:buNone/>
            </a:pPr>
            <a:r>
              <a:rPr lang="en-US" altLang="zh-CN" sz="3200" dirty="0" smtClean="0"/>
              <a:t>#</a:t>
            </a:r>
            <a:r>
              <a:rPr lang="zh-CN" altLang="en-US" sz="3200" dirty="0" smtClean="0"/>
              <a:t>储藏的保存</a:t>
            </a:r>
            <a:r>
              <a:rPr lang="zh-CN" altLang="en-US" sz="3200" dirty="0"/>
              <a:t>用到的命令是</a:t>
            </a:r>
            <a:r>
              <a:rPr lang="en-US" altLang="zh-CN" sz="3200" dirty="0" err="1"/>
              <a:t>git</a:t>
            </a:r>
            <a:r>
              <a:rPr lang="en-US" altLang="zh-CN" sz="3200" dirty="0"/>
              <a:t> stash</a:t>
            </a:r>
            <a:r>
              <a:rPr lang="zh-CN" altLang="en-US" sz="3200" dirty="0"/>
              <a:t>，只需在当前分支执行此命令，即可将当前工作区的内容保存起来</a:t>
            </a:r>
            <a:r>
              <a:rPr lang="zh-CN" altLang="en-US" sz="3200" dirty="0" smtClean="0"/>
              <a:t>。</a:t>
            </a:r>
            <a:endParaRPr lang="en-US" altLang="zh-CN" sz="3200" dirty="0" smtClean="0"/>
          </a:p>
          <a:p>
            <a:pPr marL="109728" indent="0">
              <a:lnSpc>
                <a:spcPct val="150000"/>
              </a:lnSpc>
              <a:buNone/>
            </a:pPr>
            <a:r>
              <a:rPr lang="en-US" altLang="zh-CN" sz="3200" dirty="0" smtClean="0"/>
              <a:t>#</a:t>
            </a:r>
            <a:r>
              <a:rPr lang="zh-CN" altLang="en-US" sz="2800" dirty="0" smtClean="0"/>
              <a:t>当需要</a:t>
            </a:r>
            <a:r>
              <a:rPr lang="zh-CN" altLang="en-US" sz="2800" dirty="0"/>
              <a:t>再次应用被保存的内容的时候</a:t>
            </a:r>
            <a:r>
              <a:rPr lang="zh-CN" altLang="en-US" sz="2800" dirty="0" smtClean="0"/>
              <a:t>，可执行</a:t>
            </a:r>
            <a:r>
              <a:rPr lang="en-US" altLang="zh-CN" sz="2800" dirty="0" err="1"/>
              <a:t>git</a:t>
            </a:r>
            <a:r>
              <a:rPr lang="en-US" altLang="zh-CN" sz="2800" dirty="0"/>
              <a:t> stash </a:t>
            </a:r>
            <a:r>
              <a:rPr lang="en-US" altLang="zh-CN" sz="2800" dirty="0" smtClean="0"/>
              <a:t>apply</a:t>
            </a:r>
            <a:r>
              <a:rPr lang="zh-CN" altLang="en-US" sz="2800" dirty="0" smtClean="0"/>
              <a:t>。</a:t>
            </a:r>
            <a:endParaRPr lang="en-US" altLang="zh-CN" sz="3200" dirty="0">
              <a:solidFill>
                <a:srgbClr val="FF0000"/>
              </a:solidFill>
            </a:endParaRPr>
          </a:p>
        </p:txBody>
      </p:sp>
      <p:sp>
        <p:nvSpPr>
          <p:cNvPr id="3" name="标题 2"/>
          <p:cNvSpPr>
            <a:spLocks noGrp="1"/>
          </p:cNvSpPr>
          <p:nvPr>
            <p:ph type="title"/>
          </p:nvPr>
        </p:nvSpPr>
        <p:spPr/>
        <p:txBody>
          <a:bodyPr>
            <a:normAutofit fontScale="90000"/>
          </a:bodyPr>
          <a:lstStyle/>
          <a:p>
            <a:r>
              <a:rPr lang="zh-CN" altLang="en-US" b="0" dirty="0">
                <a:effectLst/>
              </a:rPr>
              <a:t>远程分支、</a:t>
            </a:r>
            <a:r>
              <a:rPr lang="en-US" altLang="zh-CN" b="0" dirty="0">
                <a:effectLst/>
              </a:rPr>
              <a:t>rebase</a:t>
            </a:r>
            <a:r>
              <a:rPr lang="zh-CN" altLang="en-US" b="0" dirty="0">
                <a:effectLst/>
              </a:rPr>
              <a:t>、 </a:t>
            </a:r>
            <a:r>
              <a:rPr lang="zh-CN" altLang="en-US" b="0" dirty="0" smtClean="0">
                <a:effectLst/>
              </a:rPr>
              <a:t>储藏</a:t>
            </a:r>
            <a:r>
              <a:rPr lang="en-US" altLang="zh-CN" b="0" dirty="0" smtClean="0">
                <a:effectLst/>
              </a:rPr>
              <a:t>-</a:t>
            </a:r>
            <a:r>
              <a:rPr lang="zh-CN" altLang="en-US" b="0" dirty="0" smtClean="0">
                <a:effectLst/>
              </a:rPr>
              <a:t>（</a:t>
            </a:r>
            <a:r>
              <a:rPr lang="en-US" altLang="zh-CN" b="0" dirty="0" smtClean="0">
                <a:effectLst/>
              </a:rPr>
              <a:t>3</a:t>
            </a:r>
            <a:r>
              <a:rPr lang="zh-CN" altLang="en-US" b="0" dirty="0" smtClean="0">
                <a:effectLst/>
              </a:rPr>
              <a:t>）储藏之保存及恢复</a:t>
            </a:r>
            <a:endParaRPr lang="zh-CN" altLang="en-US" b="0" dirty="0">
              <a:effectLst/>
            </a:endParaRPr>
          </a:p>
        </p:txBody>
      </p:sp>
      <p:sp>
        <p:nvSpPr>
          <p:cNvPr id="4" name="灯片编号占位符 3"/>
          <p:cNvSpPr>
            <a:spLocks noGrp="1"/>
          </p:cNvSpPr>
          <p:nvPr>
            <p:ph type="sldNum" sz="quarter" idx="12"/>
          </p:nvPr>
        </p:nvSpPr>
        <p:spPr/>
        <p:txBody>
          <a:bodyPr/>
          <a:lstStyle/>
          <a:p>
            <a:fld id="{0BD87961-E39D-4DAC-BBE4-2A1C1340B983}" type="slidenum">
              <a:rPr lang="zh-CN" altLang="en-US" smtClean="0"/>
              <a:t>42</a:t>
            </a:fld>
            <a:endParaRPr lang="zh-CN" altLang="en-US"/>
          </a:p>
        </p:txBody>
      </p:sp>
    </p:spTree>
    <p:extLst>
      <p:ext uri="{BB962C8B-B14F-4D97-AF65-F5344CB8AC3E}">
        <p14:creationId xmlns:p14="http://schemas.microsoft.com/office/powerpoint/2010/main" val="313109306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600" y="513709"/>
            <a:ext cx="10972800" cy="4006920"/>
          </a:xfrm>
        </p:spPr>
        <p:txBody>
          <a:bodyPr/>
          <a:lstStyle/>
          <a:p>
            <a:r>
              <a:rPr lang="zh-CN" altLang="en-US" sz="4000" dirty="0"/>
              <a:t>文件概念及文件操作</a:t>
            </a:r>
            <a:endParaRPr lang="en-US" altLang="zh-CN" sz="4000" dirty="0"/>
          </a:p>
          <a:p>
            <a:endParaRPr lang="en-US" altLang="zh-CN" sz="4000" dirty="0"/>
          </a:p>
          <a:p>
            <a:r>
              <a:rPr lang="en-US" altLang="zh-CN" sz="4000" dirty="0" err="1" smtClean="0"/>
              <a:t>Git</a:t>
            </a:r>
            <a:r>
              <a:rPr lang="zh-CN" altLang="en-US" sz="4000" dirty="0" smtClean="0"/>
              <a:t>概念及相关操作</a:t>
            </a:r>
            <a:endParaRPr lang="en-US" altLang="zh-CN" sz="4000" dirty="0" smtClean="0"/>
          </a:p>
          <a:p>
            <a:endParaRPr lang="en-US" altLang="zh-CN" sz="4000" dirty="0" smtClean="0"/>
          </a:p>
          <a:p>
            <a:r>
              <a:rPr lang="en-US" altLang="zh-CN" sz="4000" dirty="0" err="1" smtClean="0">
                <a:solidFill>
                  <a:srgbClr val="FF0000"/>
                </a:solidFill>
              </a:rPr>
              <a:t>Gitee</a:t>
            </a:r>
            <a:r>
              <a:rPr lang="zh-CN" altLang="en-US" sz="4000" dirty="0" smtClean="0">
                <a:solidFill>
                  <a:srgbClr val="FF0000"/>
                </a:solidFill>
              </a:rPr>
              <a:t>（码云）的使用</a:t>
            </a:r>
            <a:endParaRPr lang="en-US" altLang="zh-CN" sz="4000" dirty="0" smtClean="0">
              <a:solidFill>
                <a:srgbClr val="FF0000"/>
              </a:solidFill>
            </a:endParaRPr>
          </a:p>
          <a:p>
            <a:pPr lvl="1"/>
            <a:endParaRPr lang="zh-CN" altLang="en-US" dirty="0"/>
          </a:p>
          <a:p>
            <a:endParaRPr lang="zh-CN" altLang="en-US" dirty="0"/>
          </a:p>
        </p:txBody>
      </p:sp>
      <p:sp>
        <p:nvSpPr>
          <p:cNvPr id="3" name="灯片编号占位符 2"/>
          <p:cNvSpPr>
            <a:spLocks noGrp="1"/>
          </p:cNvSpPr>
          <p:nvPr>
            <p:ph type="sldNum" sz="quarter" idx="12"/>
          </p:nvPr>
        </p:nvSpPr>
        <p:spPr/>
        <p:txBody>
          <a:bodyPr/>
          <a:lstStyle/>
          <a:p>
            <a:fld id="{0BD87961-E39D-4DAC-BBE4-2A1C1340B983}" type="slidenum">
              <a:rPr lang="zh-CN" altLang="en-US" smtClean="0"/>
              <a:t>43</a:t>
            </a:fld>
            <a:endParaRPr lang="zh-CN" altLang="en-US"/>
          </a:p>
        </p:txBody>
      </p:sp>
    </p:spTree>
    <p:extLst>
      <p:ext uri="{BB962C8B-B14F-4D97-AF65-F5344CB8AC3E}">
        <p14:creationId xmlns:p14="http://schemas.microsoft.com/office/powerpoint/2010/main" val="233603684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599" y="1481328"/>
            <a:ext cx="11477626" cy="4595621"/>
          </a:xfrm>
        </p:spPr>
        <p:txBody>
          <a:bodyPr>
            <a:normAutofit fontScale="77500" lnSpcReduction="20000"/>
          </a:bodyPr>
          <a:lstStyle/>
          <a:p>
            <a:pPr>
              <a:lnSpc>
                <a:spcPct val="150000"/>
              </a:lnSpc>
            </a:pPr>
            <a:r>
              <a:rPr lang="zh-CN" altLang="en-US" sz="3200" dirty="0"/>
              <a:t>主流</a:t>
            </a:r>
            <a:r>
              <a:rPr lang="en-US" altLang="zh-CN" sz="3200" dirty="0"/>
              <a:t>IDE</a:t>
            </a:r>
            <a:r>
              <a:rPr lang="zh-CN" altLang="en-US" sz="3200" dirty="0"/>
              <a:t>中均有</a:t>
            </a:r>
            <a:r>
              <a:rPr lang="en-US" altLang="zh-CN" sz="3200" dirty="0" err="1"/>
              <a:t>Git</a:t>
            </a:r>
            <a:r>
              <a:rPr lang="zh-CN" altLang="en-US" sz="3200" dirty="0"/>
              <a:t>的集成</a:t>
            </a:r>
            <a:endParaRPr lang="en-US" altLang="zh-CN" sz="3200" dirty="0"/>
          </a:p>
          <a:p>
            <a:pPr>
              <a:lnSpc>
                <a:spcPct val="150000"/>
              </a:lnSpc>
            </a:pPr>
            <a:r>
              <a:rPr lang="zh-CN" altLang="en-US" sz="3200" dirty="0" smtClean="0"/>
              <a:t>跨</a:t>
            </a:r>
            <a:r>
              <a:rPr lang="zh-CN" altLang="en-US" sz="3200" dirty="0"/>
              <a:t>平台的</a:t>
            </a:r>
            <a:r>
              <a:rPr lang="en-US" altLang="zh-CN" sz="3200" dirty="0" err="1" smtClean="0"/>
              <a:t>SoureTree</a:t>
            </a:r>
            <a:endParaRPr lang="en-US" altLang="zh-CN" sz="3200" dirty="0" smtClean="0"/>
          </a:p>
          <a:p>
            <a:pPr lvl="1">
              <a:lnSpc>
                <a:spcPct val="150000"/>
              </a:lnSpc>
            </a:pPr>
            <a:r>
              <a:rPr lang="zh-CN" altLang="en-US" sz="2800" dirty="0" smtClean="0"/>
              <a:t>安装</a:t>
            </a:r>
            <a:r>
              <a:rPr lang="en-US" altLang="zh-CN" sz="2800" dirty="0" err="1" smtClean="0"/>
              <a:t>SourceTree</a:t>
            </a:r>
            <a:r>
              <a:rPr lang="zh-CN" altLang="en-US" sz="2800" dirty="0" smtClean="0"/>
              <a:t>（向导中选择安装内嵌的</a:t>
            </a:r>
            <a:r>
              <a:rPr lang="en-US" altLang="zh-CN" sz="2800" dirty="0" err="1" smtClean="0"/>
              <a:t>Git</a:t>
            </a:r>
            <a:r>
              <a:rPr lang="zh-CN" altLang="en-US" sz="2800" dirty="0" smtClean="0"/>
              <a:t>）。</a:t>
            </a:r>
            <a:endParaRPr lang="en-US" altLang="zh-CN" sz="2800" dirty="0" smtClean="0"/>
          </a:p>
          <a:p>
            <a:pPr lvl="1">
              <a:lnSpc>
                <a:spcPct val="150000"/>
              </a:lnSpc>
            </a:pPr>
            <a:r>
              <a:rPr lang="zh-CN" altLang="en-US" sz="2900" dirty="0" smtClean="0"/>
              <a:t>基本操作：</a:t>
            </a:r>
            <a:endParaRPr lang="en-US" altLang="zh-CN" sz="2900" dirty="0" smtClean="0"/>
          </a:p>
          <a:p>
            <a:pPr lvl="2">
              <a:lnSpc>
                <a:spcPct val="150000"/>
              </a:lnSpc>
            </a:pPr>
            <a:r>
              <a:rPr lang="zh-CN" altLang="en-US" sz="2700" dirty="0" smtClean="0"/>
              <a:t>建立</a:t>
            </a:r>
            <a:r>
              <a:rPr lang="zh-CN" altLang="en-US" sz="2700" dirty="0"/>
              <a:t>本地目录（例如</a:t>
            </a:r>
            <a:r>
              <a:rPr lang="en-US" altLang="zh-CN" sz="2700" dirty="0"/>
              <a:t>D:\Work</a:t>
            </a:r>
            <a:r>
              <a:rPr lang="zh-CN" altLang="en-US" sz="2700" dirty="0"/>
              <a:t>）。</a:t>
            </a:r>
            <a:endParaRPr lang="en-US" altLang="zh-CN" sz="2700" dirty="0"/>
          </a:p>
          <a:p>
            <a:pPr lvl="2">
              <a:lnSpc>
                <a:spcPct val="150000"/>
              </a:lnSpc>
            </a:pPr>
            <a:r>
              <a:rPr lang="zh-CN" altLang="en-US" sz="2700" dirty="0"/>
              <a:t>将码云上的远程仓库克隆到本地目录（</a:t>
            </a:r>
            <a:r>
              <a:rPr lang="en-US" altLang="zh-CN" sz="2700" dirty="0"/>
              <a:t>Clone</a:t>
            </a:r>
            <a:r>
              <a:rPr lang="zh-CN" altLang="en-US" sz="2700" dirty="0"/>
              <a:t>操作，需要用到码云注册时的账号密码）。</a:t>
            </a:r>
          </a:p>
          <a:p>
            <a:pPr lvl="2">
              <a:lnSpc>
                <a:spcPct val="150000"/>
              </a:lnSpc>
            </a:pPr>
            <a:r>
              <a:rPr lang="zh-CN" altLang="en-US" sz="2700" dirty="0"/>
              <a:t>本地文件的添加或修改（</a:t>
            </a:r>
            <a:r>
              <a:rPr lang="en-US" altLang="zh-CN" sz="2700" dirty="0"/>
              <a:t>Add</a:t>
            </a:r>
            <a:r>
              <a:rPr lang="zh-CN" altLang="en-US" sz="2700" dirty="0"/>
              <a:t>、</a:t>
            </a:r>
            <a:r>
              <a:rPr lang="en-US" altLang="zh-CN" sz="2700" dirty="0"/>
              <a:t>Commit</a:t>
            </a:r>
            <a:r>
              <a:rPr lang="zh-CN" altLang="en-US" sz="2700" dirty="0"/>
              <a:t>操作）。</a:t>
            </a:r>
            <a:endParaRPr lang="en-US" altLang="zh-CN" sz="2700" dirty="0"/>
          </a:p>
          <a:p>
            <a:pPr lvl="2">
              <a:lnSpc>
                <a:spcPct val="150000"/>
              </a:lnSpc>
            </a:pPr>
            <a:r>
              <a:rPr lang="zh-CN" altLang="en-US" sz="2700" dirty="0"/>
              <a:t>推送到远程仓库（</a:t>
            </a:r>
            <a:r>
              <a:rPr lang="en-US" altLang="zh-CN" sz="2700" dirty="0"/>
              <a:t>Push</a:t>
            </a:r>
            <a:r>
              <a:rPr lang="zh-CN" altLang="en-US" sz="2700" dirty="0"/>
              <a:t>操作）。</a:t>
            </a:r>
          </a:p>
          <a:p>
            <a:pPr lvl="1">
              <a:lnSpc>
                <a:spcPct val="150000"/>
              </a:lnSpc>
            </a:pPr>
            <a:endParaRPr lang="zh-CN" altLang="en-US" sz="2800" dirty="0" smtClean="0"/>
          </a:p>
          <a:p>
            <a:pPr marL="109728" indent="0">
              <a:buNone/>
            </a:pPr>
            <a:endParaRPr lang="zh-CN" altLang="en-US" dirty="0"/>
          </a:p>
        </p:txBody>
      </p:sp>
      <p:sp>
        <p:nvSpPr>
          <p:cNvPr id="3" name="标题 2"/>
          <p:cNvSpPr>
            <a:spLocks noGrp="1"/>
          </p:cNvSpPr>
          <p:nvPr>
            <p:ph type="title"/>
          </p:nvPr>
        </p:nvSpPr>
        <p:spPr/>
        <p:txBody>
          <a:bodyPr/>
          <a:lstStyle/>
          <a:p>
            <a:r>
              <a:rPr lang="en-US" altLang="zh-CN" dirty="0"/>
              <a:t>GUI</a:t>
            </a:r>
            <a:r>
              <a:rPr lang="zh-CN" altLang="en-US" dirty="0"/>
              <a:t>方式使用</a:t>
            </a:r>
            <a:r>
              <a:rPr lang="en-US" altLang="zh-CN" dirty="0" err="1"/>
              <a:t>Git</a:t>
            </a:r>
            <a:endParaRPr lang="zh-CN" altLang="en-US" dirty="0"/>
          </a:p>
        </p:txBody>
      </p:sp>
      <p:sp>
        <p:nvSpPr>
          <p:cNvPr id="4" name="灯片编号占位符 3"/>
          <p:cNvSpPr>
            <a:spLocks noGrp="1"/>
          </p:cNvSpPr>
          <p:nvPr>
            <p:ph type="sldNum" sz="quarter" idx="12"/>
          </p:nvPr>
        </p:nvSpPr>
        <p:spPr/>
        <p:txBody>
          <a:bodyPr/>
          <a:lstStyle/>
          <a:p>
            <a:fld id="{0BD87961-E39D-4DAC-BBE4-2A1C1340B983}" type="slidenum">
              <a:rPr lang="zh-CN" altLang="en-US" smtClean="0"/>
              <a:t>44</a:t>
            </a:fld>
            <a:endParaRPr lang="zh-CN" altLang="en-US"/>
          </a:p>
        </p:txBody>
      </p:sp>
    </p:spTree>
    <p:extLst>
      <p:ext uri="{BB962C8B-B14F-4D97-AF65-F5344CB8AC3E}">
        <p14:creationId xmlns:p14="http://schemas.microsoft.com/office/powerpoint/2010/main" val="179337369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相关概念</a:t>
            </a:r>
            <a:endParaRPr lang="zh-CN" altLang="en-US" dirty="0"/>
          </a:p>
        </p:txBody>
      </p:sp>
      <p:sp>
        <p:nvSpPr>
          <p:cNvPr id="3" name="内容占位符 2"/>
          <p:cNvSpPr>
            <a:spLocks noGrp="1"/>
          </p:cNvSpPr>
          <p:nvPr>
            <p:ph idx="1"/>
          </p:nvPr>
        </p:nvSpPr>
        <p:spPr>
          <a:xfrm>
            <a:off x="289560" y="1271016"/>
            <a:ext cx="11561064" cy="5148072"/>
          </a:xfrm>
        </p:spPr>
        <p:txBody>
          <a:bodyPr>
            <a:normAutofit/>
          </a:bodyPr>
          <a:lstStyle/>
          <a:p>
            <a:pPr lvl="1">
              <a:lnSpc>
                <a:spcPct val="150000"/>
              </a:lnSpc>
              <a:buFont typeface="Wingdings" panose="05000000000000000000" pitchFamily="2" charset="2"/>
              <a:buChar char="l"/>
            </a:pPr>
            <a:r>
              <a:rPr lang="en-US" altLang="zh-CN" sz="2400" dirty="0" smtClean="0"/>
              <a:t> Watch</a:t>
            </a:r>
            <a:r>
              <a:rPr lang="zh-CN" altLang="en-US" sz="2400" dirty="0"/>
              <a:t>：对于别人的项目，默认自己都处于 </a:t>
            </a:r>
            <a:r>
              <a:rPr lang="en-US" altLang="zh-CN" sz="2400" dirty="0"/>
              <a:t>Not watching </a:t>
            </a:r>
            <a:r>
              <a:rPr lang="zh-CN" altLang="en-US" sz="2400" dirty="0"/>
              <a:t>的状态，</a:t>
            </a:r>
            <a:r>
              <a:rPr lang="zh-CN" altLang="en-US" sz="2400" dirty="0" smtClean="0"/>
              <a:t>当选择 </a:t>
            </a:r>
            <a:r>
              <a:rPr lang="en-US" altLang="zh-CN" sz="2400" dirty="0"/>
              <a:t>Watching</a:t>
            </a:r>
            <a:r>
              <a:rPr lang="zh-CN" altLang="en-US" sz="2400" dirty="0"/>
              <a:t>，</a:t>
            </a:r>
            <a:r>
              <a:rPr lang="zh-CN" altLang="en-US" sz="2400" dirty="0" smtClean="0"/>
              <a:t>表示以后</a:t>
            </a:r>
            <a:r>
              <a:rPr lang="zh-CN" altLang="en-US" sz="2400" dirty="0"/>
              <a:t>会关注这个项目的所有动态，这个项目以后只要发生变动，如被别人提交了 </a:t>
            </a:r>
            <a:r>
              <a:rPr lang="en-US" altLang="zh-CN" sz="2400" dirty="0"/>
              <a:t>pull request</a:t>
            </a:r>
            <a:r>
              <a:rPr lang="zh-CN" altLang="en-US" sz="2400" dirty="0"/>
              <a:t>、被别人发起了</a:t>
            </a:r>
            <a:r>
              <a:rPr lang="en-US" altLang="zh-CN" sz="2400" dirty="0"/>
              <a:t>issue</a:t>
            </a:r>
            <a:r>
              <a:rPr lang="zh-CN" altLang="en-US" sz="2400" dirty="0"/>
              <a:t>等等情况</a:t>
            </a:r>
            <a:r>
              <a:rPr lang="zh-CN" altLang="en-US" sz="2400" dirty="0" smtClean="0"/>
              <a:t>，都会</a:t>
            </a:r>
            <a:r>
              <a:rPr lang="zh-CN" altLang="en-US" sz="2400" dirty="0"/>
              <a:t>在自己的个人通知中心，收到一条通知消息，</a:t>
            </a:r>
            <a:r>
              <a:rPr lang="zh-CN" altLang="en-US" sz="2400" dirty="0" smtClean="0"/>
              <a:t>如果设置</a:t>
            </a:r>
            <a:r>
              <a:rPr lang="zh-CN" altLang="en-US" sz="2400" dirty="0"/>
              <a:t>了个人邮箱，</a:t>
            </a:r>
            <a:r>
              <a:rPr lang="zh-CN" altLang="en-US" sz="2400" dirty="0" smtClean="0"/>
              <a:t>那么邮箱</a:t>
            </a:r>
            <a:r>
              <a:rPr lang="zh-CN" altLang="en-US" sz="2400" dirty="0"/>
              <a:t>也可能收到相应的邮件。</a:t>
            </a:r>
            <a:endParaRPr lang="en-US" altLang="zh-CN" sz="2400" dirty="0"/>
          </a:p>
          <a:p>
            <a:pPr lvl="1">
              <a:lnSpc>
                <a:spcPct val="150000"/>
              </a:lnSpc>
              <a:buFont typeface="Wingdings" panose="05000000000000000000" pitchFamily="2" charset="2"/>
              <a:buChar char="l"/>
            </a:pPr>
            <a:r>
              <a:rPr lang="en-US" altLang="zh-CN" sz="2400" dirty="0" smtClean="0"/>
              <a:t> Star</a:t>
            </a:r>
            <a:r>
              <a:rPr lang="zh-CN" altLang="en-US" sz="2400" dirty="0" smtClean="0"/>
              <a:t>：</a:t>
            </a:r>
            <a:r>
              <a:rPr lang="zh-CN" altLang="en-US" sz="2400" dirty="0">
                <a:solidFill>
                  <a:schemeClr val="tx1"/>
                </a:solidFill>
              </a:rPr>
              <a:t>解释</a:t>
            </a:r>
            <a:r>
              <a:rPr lang="zh-CN" altLang="en-US" sz="2400" dirty="0"/>
              <a:t>为</a:t>
            </a:r>
            <a:r>
              <a:rPr lang="zh-CN" altLang="en-US" sz="2400" dirty="0" smtClean="0"/>
              <a:t>“关注”</a:t>
            </a:r>
            <a:r>
              <a:rPr lang="zh-CN" altLang="en-US" sz="2400" dirty="0"/>
              <a:t>或者</a:t>
            </a:r>
            <a:r>
              <a:rPr lang="zh-CN" altLang="en-US" sz="2400" dirty="0" smtClean="0"/>
              <a:t>“点赞”</a:t>
            </a:r>
            <a:r>
              <a:rPr lang="zh-CN" altLang="en-US" sz="2400" dirty="0" smtClean="0">
                <a:solidFill>
                  <a:schemeClr val="tx1"/>
                </a:solidFill>
              </a:rPr>
              <a:t>更</a:t>
            </a:r>
            <a:r>
              <a:rPr lang="zh-CN" altLang="en-US" sz="2400" dirty="0">
                <a:solidFill>
                  <a:schemeClr val="tx1"/>
                </a:solidFill>
              </a:rPr>
              <a:t>合适，</a:t>
            </a:r>
            <a:r>
              <a:rPr lang="zh-CN" altLang="en-US" sz="2400" dirty="0" smtClean="0">
                <a:solidFill>
                  <a:schemeClr val="tx1"/>
                </a:solidFill>
              </a:rPr>
              <a:t>当点击 </a:t>
            </a:r>
            <a:r>
              <a:rPr lang="en-US" altLang="zh-CN" sz="2400" dirty="0">
                <a:solidFill>
                  <a:schemeClr val="tx1"/>
                </a:solidFill>
              </a:rPr>
              <a:t>star</a:t>
            </a:r>
            <a:r>
              <a:rPr lang="zh-CN" altLang="en-US" sz="2400" dirty="0">
                <a:solidFill>
                  <a:schemeClr val="tx1"/>
                </a:solidFill>
              </a:rPr>
              <a:t>，</a:t>
            </a:r>
            <a:r>
              <a:rPr lang="zh-CN" altLang="en-US" sz="2400" dirty="0" smtClean="0">
                <a:solidFill>
                  <a:schemeClr val="tx1"/>
                </a:solidFill>
              </a:rPr>
              <a:t>表示喜欢</a:t>
            </a:r>
            <a:r>
              <a:rPr lang="zh-CN" altLang="en-US" sz="2400" dirty="0">
                <a:solidFill>
                  <a:schemeClr val="tx1"/>
                </a:solidFill>
              </a:rPr>
              <a:t>这个项目</a:t>
            </a:r>
            <a:r>
              <a:rPr lang="zh-CN" altLang="en-US" sz="2400" dirty="0" smtClean="0">
                <a:solidFill>
                  <a:schemeClr val="tx1"/>
                </a:solidFill>
              </a:rPr>
              <a:t>或者理解</a:t>
            </a:r>
            <a:r>
              <a:rPr lang="zh-CN" altLang="en-US" sz="2400" dirty="0">
                <a:solidFill>
                  <a:schemeClr val="tx1"/>
                </a:solidFill>
              </a:rPr>
              <a:t>成朋友圈的点</a:t>
            </a:r>
            <a:r>
              <a:rPr lang="zh-CN" altLang="en-US" sz="2400" dirty="0" smtClean="0">
                <a:solidFill>
                  <a:schemeClr val="tx1"/>
                </a:solidFill>
              </a:rPr>
              <a:t>赞，</a:t>
            </a:r>
            <a:r>
              <a:rPr lang="zh-CN" altLang="en-US" sz="2400" dirty="0">
                <a:solidFill>
                  <a:schemeClr val="tx1"/>
                </a:solidFill>
              </a:rPr>
              <a:t>表示对这个项目的支持</a:t>
            </a:r>
            <a:r>
              <a:rPr lang="zh-CN" altLang="en-US" sz="2400" dirty="0" smtClean="0">
                <a:solidFill>
                  <a:schemeClr val="tx1"/>
                </a:solidFill>
              </a:rPr>
              <a:t>。</a:t>
            </a:r>
            <a:endParaRPr lang="en-US" altLang="zh-CN" sz="2400" dirty="0"/>
          </a:p>
          <a:p>
            <a:pPr lvl="1">
              <a:lnSpc>
                <a:spcPct val="150000"/>
              </a:lnSpc>
              <a:buFont typeface="Wingdings" panose="05000000000000000000" pitchFamily="2" charset="2"/>
              <a:buChar char="l"/>
            </a:pPr>
            <a:r>
              <a:rPr lang="en-US" altLang="zh-CN" sz="2400" dirty="0" smtClean="0"/>
              <a:t> Fork</a:t>
            </a:r>
            <a:r>
              <a:rPr lang="zh-CN" altLang="en-US" sz="2400" dirty="0" smtClean="0"/>
              <a:t>：</a:t>
            </a:r>
            <a:r>
              <a:rPr lang="zh-CN" altLang="en-US" sz="2400" dirty="0">
                <a:solidFill>
                  <a:schemeClr val="tx1"/>
                </a:solidFill>
              </a:rPr>
              <a:t>当选择 </a:t>
            </a:r>
            <a:r>
              <a:rPr lang="en-US" altLang="zh-CN" sz="2400" dirty="0">
                <a:solidFill>
                  <a:schemeClr val="tx1"/>
                </a:solidFill>
              </a:rPr>
              <a:t>fork</a:t>
            </a:r>
            <a:r>
              <a:rPr lang="zh-CN" altLang="en-US" sz="2400" dirty="0">
                <a:solidFill>
                  <a:schemeClr val="tx1"/>
                </a:solidFill>
              </a:rPr>
              <a:t>，</a:t>
            </a:r>
            <a:r>
              <a:rPr lang="zh-CN" altLang="en-US" sz="2400" dirty="0" smtClean="0">
                <a:solidFill>
                  <a:schemeClr val="tx1"/>
                </a:solidFill>
              </a:rPr>
              <a:t>相当于拥有一</a:t>
            </a:r>
            <a:r>
              <a:rPr lang="zh-CN" altLang="en-US" sz="2400" dirty="0">
                <a:solidFill>
                  <a:schemeClr val="tx1"/>
                </a:solidFill>
              </a:rPr>
              <a:t>份原项目的拷贝，当然这个拷贝只是针对当时的项目文件，如果后续原项目文件发生改变</a:t>
            </a:r>
            <a:r>
              <a:rPr lang="zh-CN" altLang="en-US" sz="2400" dirty="0" smtClean="0">
                <a:solidFill>
                  <a:schemeClr val="tx1"/>
                </a:solidFill>
              </a:rPr>
              <a:t>，必须</a:t>
            </a:r>
            <a:r>
              <a:rPr lang="zh-CN" altLang="en-US" sz="2400" dirty="0">
                <a:solidFill>
                  <a:schemeClr val="tx1"/>
                </a:solidFill>
              </a:rPr>
              <a:t>通过其他的方式去同步。</a:t>
            </a:r>
            <a:endParaRPr lang="en-US" altLang="zh-CN" sz="2400" dirty="0"/>
          </a:p>
          <a:p>
            <a:endParaRPr lang="zh-CN" altLang="en-US" dirty="0"/>
          </a:p>
        </p:txBody>
      </p:sp>
      <p:sp>
        <p:nvSpPr>
          <p:cNvPr id="4" name="灯片编号占位符 3"/>
          <p:cNvSpPr>
            <a:spLocks noGrp="1"/>
          </p:cNvSpPr>
          <p:nvPr>
            <p:ph type="sldNum" sz="quarter" idx="12"/>
          </p:nvPr>
        </p:nvSpPr>
        <p:spPr/>
        <p:txBody>
          <a:bodyPr/>
          <a:lstStyle/>
          <a:p>
            <a:fld id="{0BD87961-E39D-4DAC-BBE4-2A1C1340B983}" type="slidenum">
              <a:rPr lang="zh-CN" altLang="en-US" smtClean="0"/>
              <a:t>45</a:t>
            </a:fld>
            <a:endParaRPr lang="zh-CN" altLang="en-US"/>
          </a:p>
        </p:txBody>
      </p:sp>
    </p:spTree>
    <p:extLst>
      <p:ext uri="{BB962C8B-B14F-4D97-AF65-F5344CB8AC3E}">
        <p14:creationId xmlns:p14="http://schemas.microsoft.com/office/powerpoint/2010/main" val="427054285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95250" y="66676"/>
            <a:ext cx="11991975" cy="5781674"/>
          </a:xfrm>
        </p:spPr>
        <p:txBody>
          <a:bodyPr>
            <a:normAutofit fontScale="70000" lnSpcReduction="20000"/>
          </a:bodyPr>
          <a:lstStyle/>
          <a:p>
            <a:pPr marL="109728" indent="0">
              <a:lnSpc>
                <a:spcPct val="150000"/>
              </a:lnSpc>
              <a:buNone/>
            </a:pPr>
            <a:r>
              <a:rPr lang="zh-CN" altLang="en-US" sz="3200" dirty="0" smtClean="0">
                <a:solidFill>
                  <a:srgbClr val="002060"/>
                </a:solidFill>
              </a:rPr>
              <a:t>课后作业：</a:t>
            </a:r>
            <a:endParaRPr lang="en-US" altLang="zh-CN" sz="3200" dirty="0" smtClean="0">
              <a:solidFill>
                <a:srgbClr val="002060"/>
              </a:solidFill>
            </a:endParaRPr>
          </a:p>
          <a:p>
            <a:pPr marL="109728" indent="0">
              <a:lnSpc>
                <a:spcPct val="150000"/>
              </a:lnSpc>
              <a:buNone/>
            </a:pPr>
            <a:r>
              <a:rPr lang="en-US" altLang="zh-CN" sz="3200" dirty="0" smtClean="0">
                <a:solidFill>
                  <a:srgbClr val="002060"/>
                </a:solidFill>
              </a:rPr>
              <a:t>1.</a:t>
            </a:r>
            <a:r>
              <a:rPr lang="zh-CN" altLang="en-US" sz="3200" dirty="0" smtClean="0">
                <a:solidFill>
                  <a:srgbClr val="002060"/>
                </a:solidFill>
              </a:rPr>
              <a:t>在</a:t>
            </a:r>
            <a:r>
              <a:rPr lang="en-US" altLang="zh-CN" sz="3200" dirty="0" smtClean="0">
                <a:solidFill>
                  <a:srgbClr val="002060"/>
                </a:solidFill>
              </a:rPr>
              <a:t>12</a:t>
            </a:r>
            <a:r>
              <a:rPr lang="zh-CN" altLang="en-US" sz="3200" dirty="0" smtClean="0">
                <a:solidFill>
                  <a:srgbClr val="002060"/>
                </a:solidFill>
              </a:rPr>
              <a:t>月</a:t>
            </a:r>
            <a:r>
              <a:rPr lang="en-US" altLang="zh-CN" sz="3200" dirty="0" smtClean="0">
                <a:solidFill>
                  <a:srgbClr val="002060"/>
                </a:solidFill>
              </a:rPr>
              <a:t>8</a:t>
            </a:r>
            <a:r>
              <a:rPr lang="zh-CN" altLang="en-US" sz="3200" dirty="0" smtClean="0">
                <a:solidFill>
                  <a:srgbClr val="002060"/>
                </a:solidFill>
              </a:rPr>
              <a:t>日前完成</a:t>
            </a:r>
            <a:r>
              <a:rPr lang="en-US" altLang="zh-CN" sz="3200" dirty="0" err="1" smtClean="0">
                <a:solidFill>
                  <a:srgbClr val="002060"/>
                </a:solidFill>
              </a:rPr>
              <a:t>Educoder</a:t>
            </a:r>
            <a:r>
              <a:rPr lang="zh-CN" altLang="en-US" sz="3200" dirty="0" smtClean="0">
                <a:solidFill>
                  <a:srgbClr val="002060"/>
                </a:solidFill>
              </a:rPr>
              <a:t>上</a:t>
            </a:r>
            <a:r>
              <a:rPr lang="en-US" altLang="zh-CN" sz="3200" dirty="0" err="1" smtClean="0">
                <a:solidFill>
                  <a:srgbClr val="002060"/>
                </a:solidFill>
              </a:rPr>
              <a:t>Git</a:t>
            </a:r>
            <a:r>
              <a:rPr lang="zh-CN" altLang="en-US" sz="3200" dirty="0" smtClean="0">
                <a:solidFill>
                  <a:srgbClr val="002060"/>
                </a:solidFill>
              </a:rPr>
              <a:t>实训</a:t>
            </a:r>
            <a:endParaRPr lang="en-US" altLang="zh-CN" sz="3200" dirty="0" smtClean="0">
              <a:solidFill>
                <a:srgbClr val="002060"/>
              </a:solidFill>
            </a:endParaRPr>
          </a:p>
          <a:p>
            <a:pPr marL="109728" indent="0">
              <a:lnSpc>
                <a:spcPct val="150000"/>
              </a:lnSpc>
              <a:buNone/>
            </a:pPr>
            <a:r>
              <a:rPr lang="en-US" altLang="zh-CN" sz="3200" dirty="0" smtClean="0">
                <a:solidFill>
                  <a:srgbClr val="002060"/>
                </a:solidFill>
              </a:rPr>
              <a:t>2.</a:t>
            </a:r>
            <a:r>
              <a:rPr lang="zh-CN" altLang="en-US" sz="3200" dirty="0" smtClean="0">
                <a:solidFill>
                  <a:srgbClr val="002060"/>
                </a:solidFill>
              </a:rPr>
              <a:t>学生</a:t>
            </a:r>
            <a:r>
              <a:rPr lang="zh-CN" altLang="en-US" sz="3200" dirty="0" smtClean="0">
                <a:solidFill>
                  <a:srgbClr val="002060"/>
                </a:solidFill>
              </a:rPr>
              <a:t>在</a:t>
            </a:r>
            <a:r>
              <a:rPr lang="en-US" altLang="zh-CN" sz="3200" dirty="0" err="1">
                <a:solidFill>
                  <a:srgbClr val="002060"/>
                </a:solidFill>
              </a:rPr>
              <a:t>Github</a:t>
            </a:r>
            <a:r>
              <a:rPr lang="zh-CN" altLang="en-US" sz="3200" dirty="0" smtClean="0">
                <a:solidFill>
                  <a:srgbClr val="002060"/>
                </a:solidFill>
              </a:rPr>
              <a:t>上</a:t>
            </a:r>
            <a:r>
              <a:rPr lang="zh-CN" altLang="en-US" sz="3200" dirty="0" smtClean="0">
                <a:solidFill>
                  <a:srgbClr val="002060"/>
                </a:solidFill>
              </a:rPr>
              <a:t>注册账号。地址</a:t>
            </a:r>
            <a:r>
              <a:rPr lang="zh-CN" altLang="en-US" sz="3200" dirty="0" smtClean="0">
                <a:solidFill>
                  <a:srgbClr val="002060"/>
                </a:solidFill>
              </a:rPr>
              <a:t>：</a:t>
            </a:r>
            <a:r>
              <a:rPr lang="en-US" altLang="zh-CN" sz="3200" dirty="0">
                <a:solidFill>
                  <a:srgbClr val="002060"/>
                </a:solidFill>
                <a:hlinkClick r:id="rId2"/>
              </a:rPr>
              <a:t>https://github.com</a:t>
            </a:r>
            <a:r>
              <a:rPr lang="en-US" altLang="zh-CN" sz="3200" dirty="0" smtClean="0">
                <a:solidFill>
                  <a:srgbClr val="002060"/>
                </a:solidFill>
                <a:hlinkClick r:id="rId2"/>
              </a:rPr>
              <a:t>/</a:t>
            </a:r>
            <a:endParaRPr lang="en-US" altLang="zh-CN" sz="3200" dirty="0" smtClean="0">
              <a:solidFill>
                <a:srgbClr val="002060"/>
              </a:solidFill>
            </a:endParaRPr>
          </a:p>
          <a:p>
            <a:pPr marL="109728" indent="0">
              <a:lnSpc>
                <a:spcPct val="150000"/>
              </a:lnSpc>
              <a:buNone/>
            </a:pPr>
            <a:r>
              <a:rPr lang="en-US" altLang="zh-CN" sz="3200" dirty="0" smtClean="0">
                <a:solidFill>
                  <a:srgbClr val="002060"/>
                </a:solidFill>
              </a:rPr>
              <a:t>3</a:t>
            </a:r>
            <a:r>
              <a:rPr lang="en-US" altLang="zh-CN" sz="3200" dirty="0" smtClean="0">
                <a:solidFill>
                  <a:srgbClr val="002060"/>
                </a:solidFill>
              </a:rPr>
              <a:t>.</a:t>
            </a:r>
            <a:r>
              <a:rPr lang="zh-CN" altLang="en-US" sz="3200" dirty="0" smtClean="0">
                <a:solidFill>
                  <a:srgbClr val="002060"/>
                </a:solidFill>
              </a:rPr>
              <a:t>安装</a:t>
            </a:r>
            <a:r>
              <a:rPr lang="en-US" altLang="zh-CN" sz="3200" dirty="0" err="1" smtClean="0">
                <a:solidFill>
                  <a:srgbClr val="002060"/>
                </a:solidFill>
              </a:rPr>
              <a:t>SourceTree</a:t>
            </a:r>
            <a:r>
              <a:rPr lang="zh-CN" altLang="en-US" sz="3200" dirty="0" smtClean="0">
                <a:solidFill>
                  <a:srgbClr val="002060"/>
                </a:solidFill>
              </a:rPr>
              <a:t>并熟悉</a:t>
            </a:r>
            <a:r>
              <a:rPr lang="en-US" altLang="zh-CN" sz="3200" dirty="0" err="1" smtClean="0">
                <a:solidFill>
                  <a:srgbClr val="002060"/>
                </a:solidFill>
              </a:rPr>
              <a:t>SourceTree</a:t>
            </a:r>
            <a:r>
              <a:rPr lang="zh-CN" altLang="en-US" sz="3200" dirty="0" smtClean="0">
                <a:solidFill>
                  <a:srgbClr val="002060"/>
                </a:solidFill>
              </a:rPr>
              <a:t>的使用</a:t>
            </a:r>
            <a:endParaRPr lang="en-US" altLang="zh-CN" sz="3200" dirty="0" smtClean="0">
              <a:solidFill>
                <a:srgbClr val="002060"/>
              </a:solidFill>
            </a:endParaRPr>
          </a:p>
          <a:p>
            <a:pPr marL="109728" indent="0">
              <a:lnSpc>
                <a:spcPct val="150000"/>
              </a:lnSpc>
              <a:buNone/>
            </a:pPr>
            <a:r>
              <a:rPr lang="en-US" altLang="zh-CN" sz="3200" dirty="0" smtClean="0">
                <a:solidFill>
                  <a:srgbClr val="002060"/>
                </a:solidFill>
              </a:rPr>
              <a:t>4.</a:t>
            </a:r>
            <a:r>
              <a:rPr lang="zh-CN" altLang="en-US" sz="3200" dirty="0" smtClean="0">
                <a:solidFill>
                  <a:srgbClr val="002060"/>
                </a:solidFill>
              </a:rPr>
              <a:t>将网页作业利用</a:t>
            </a:r>
            <a:r>
              <a:rPr lang="en-US" altLang="zh-CN" sz="3200" dirty="0" smtClean="0">
                <a:solidFill>
                  <a:srgbClr val="002060"/>
                </a:solidFill>
              </a:rPr>
              <a:t>Pages</a:t>
            </a:r>
            <a:r>
              <a:rPr lang="zh-CN" altLang="en-US" sz="3200" dirty="0" smtClean="0">
                <a:solidFill>
                  <a:srgbClr val="002060"/>
                </a:solidFill>
              </a:rPr>
              <a:t>服务发布到网上</a:t>
            </a:r>
            <a:endParaRPr lang="en-US" altLang="zh-CN" sz="3200" dirty="0" smtClean="0">
              <a:solidFill>
                <a:srgbClr val="002060"/>
              </a:solidFill>
            </a:endParaRPr>
          </a:p>
          <a:p>
            <a:pPr lvl="1">
              <a:lnSpc>
                <a:spcPct val="150000"/>
              </a:lnSpc>
            </a:pPr>
            <a:r>
              <a:rPr lang="zh-CN" altLang="en-US" sz="2900" dirty="0" smtClean="0">
                <a:solidFill>
                  <a:srgbClr val="002060"/>
                </a:solidFill>
              </a:rPr>
              <a:t>完成网页作业，将个人的网页文件夹</a:t>
            </a:r>
            <a:r>
              <a:rPr lang="zh-CN" altLang="en-US" sz="2900" dirty="0">
                <a:solidFill>
                  <a:srgbClr val="002060"/>
                </a:solidFill>
              </a:rPr>
              <a:t>放到</a:t>
            </a:r>
            <a:r>
              <a:rPr lang="en-US" altLang="zh-CN" sz="2900" dirty="0" err="1">
                <a:solidFill>
                  <a:srgbClr val="002060"/>
                </a:solidFill>
              </a:rPr>
              <a:t>Git</a:t>
            </a:r>
            <a:r>
              <a:rPr lang="zh-CN" altLang="en-US" sz="2900" dirty="0">
                <a:solidFill>
                  <a:srgbClr val="002060"/>
                </a:solidFill>
              </a:rPr>
              <a:t>本地目录中（如</a:t>
            </a:r>
            <a:r>
              <a:rPr lang="en-US" altLang="zh-CN" sz="2900" dirty="0">
                <a:solidFill>
                  <a:srgbClr val="002060"/>
                </a:solidFill>
              </a:rPr>
              <a:t>D:\</a:t>
            </a:r>
            <a:r>
              <a:rPr lang="en-US" altLang="zh-CN" sz="2900" dirty="0" smtClean="0">
                <a:solidFill>
                  <a:srgbClr val="002060"/>
                </a:solidFill>
              </a:rPr>
              <a:t>Work</a:t>
            </a:r>
            <a:r>
              <a:rPr lang="zh-CN" altLang="en-US" sz="2900" dirty="0">
                <a:solidFill>
                  <a:srgbClr val="002060"/>
                </a:solidFill>
              </a:rPr>
              <a:t>，注意</a:t>
            </a:r>
            <a:r>
              <a:rPr lang="en-US" altLang="zh-CN" sz="2900" dirty="0">
                <a:solidFill>
                  <a:srgbClr val="002060"/>
                </a:solidFill>
              </a:rPr>
              <a:t>Pages</a:t>
            </a:r>
            <a:r>
              <a:rPr lang="zh-CN" altLang="en-US" sz="2900" dirty="0">
                <a:solidFill>
                  <a:srgbClr val="002060"/>
                </a:solidFill>
              </a:rPr>
              <a:t>默认的网页名为</a:t>
            </a:r>
            <a:r>
              <a:rPr lang="en-US" altLang="zh-CN" sz="2900" dirty="0">
                <a:solidFill>
                  <a:srgbClr val="002060"/>
                </a:solidFill>
              </a:rPr>
              <a:t>index.html</a:t>
            </a:r>
            <a:r>
              <a:rPr lang="zh-CN" altLang="en-US" sz="2900" dirty="0">
                <a:solidFill>
                  <a:srgbClr val="002060"/>
                </a:solidFill>
              </a:rPr>
              <a:t>，要</a:t>
            </a:r>
            <a:r>
              <a:rPr lang="zh-CN" altLang="en-US" sz="2900" dirty="0" smtClean="0">
                <a:solidFill>
                  <a:srgbClr val="002060"/>
                </a:solidFill>
              </a:rPr>
              <a:t>保证网页文件夹目录</a:t>
            </a:r>
            <a:r>
              <a:rPr lang="zh-CN" altLang="en-US" sz="2900" dirty="0">
                <a:solidFill>
                  <a:srgbClr val="002060"/>
                </a:solidFill>
              </a:rPr>
              <a:t>下有该文件存在。）</a:t>
            </a:r>
            <a:endParaRPr lang="en-US" altLang="zh-CN" sz="2900" dirty="0">
              <a:solidFill>
                <a:srgbClr val="002060"/>
              </a:solidFill>
            </a:endParaRPr>
          </a:p>
          <a:p>
            <a:pPr lvl="1">
              <a:lnSpc>
                <a:spcPct val="150000"/>
              </a:lnSpc>
            </a:pPr>
            <a:r>
              <a:rPr lang="zh-CN" altLang="en-US" sz="2900" dirty="0" smtClean="0">
                <a:solidFill>
                  <a:srgbClr val="002060"/>
                </a:solidFill>
              </a:rPr>
              <a:t>利用</a:t>
            </a:r>
            <a:r>
              <a:rPr lang="en-US" altLang="zh-CN" sz="2900" dirty="0" err="1" smtClean="0">
                <a:solidFill>
                  <a:srgbClr val="002060"/>
                </a:solidFill>
              </a:rPr>
              <a:t>SourceTree</a:t>
            </a:r>
            <a:r>
              <a:rPr lang="zh-CN" altLang="en-US" sz="2900" dirty="0" smtClean="0">
                <a:solidFill>
                  <a:srgbClr val="002060"/>
                </a:solidFill>
              </a:rPr>
              <a:t>将网页文件夹的内容推</a:t>
            </a:r>
            <a:r>
              <a:rPr lang="zh-CN" altLang="en-US" sz="2900" dirty="0">
                <a:solidFill>
                  <a:srgbClr val="002060"/>
                </a:solidFill>
              </a:rPr>
              <a:t>送</a:t>
            </a:r>
            <a:r>
              <a:rPr lang="zh-CN" altLang="en-US" sz="2900" dirty="0" smtClean="0">
                <a:solidFill>
                  <a:srgbClr val="002060"/>
                </a:solidFill>
              </a:rPr>
              <a:t>到码云远程</a:t>
            </a:r>
            <a:r>
              <a:rPr lang="zh-CN" altLang="en-US" sz="2900" dirty="0">
                <a:solidFill>
                  <a:srgbClr val="002060"/>
                </a:solidFill>
              </a:rPr>
              <a:t>仓库</a:t>
            </a:r>
            <a:endParaRPr lang="en-US" altLang="zh-CN" sz="2900" dirty="0">
              <a:solidFill>
                <a:srgbClr val="002060"/>
              </a:solidFill>
            </a:endParaRPr>
          </a:p>
          <a:p>
            <a:pPr lvl="1">
              <a:lnSpc>
                <a:spcPct val="150000"/>
              </a:lnSpc>
            </a:pPr>
            <a:r>
              <a:rPr lang="zh-CN" altLang="en-US" sz="2900" dirty="0" smtClean="0">
                <a:solidFill>
                  <a:srgbClr val="002060"/>
                </a:solidFill>
              </a:rPr>
              <a:t>利用码云的</a:t>
            </a:r>
            <a:r>
              <a:rPr lang="en-US" altLang="zh-CN" sz="2900" dirty="0" smtClean="0">
                <a:solidFill>
                  <a:srgbClr val="002060"/>
                </a:solidFill>
              </a:rPr>
              <a:t>Pages</a:t>
            </a:r>
            <a:r>
              <a:rPr lang="zh-CN" altLang="en-US" sz="2900" dirty="0">
                <a:solidFill>
                  <a:srgbClr val="002060"/>
                </a:solidFill>
              </a:rPr>
              <a:t>服务发布网页</a:t>
            </a:r>
            <a:endParaRPr lang="en-US" altLang="zh-CN" sz="2900" dirty="0">
              <a:solidFill>
                <a:srgbClr val="002060"/>
              </a:solidFill>
            </a:endParaRPr>
          </a:p>
          <a:p>
            <a:pPr lvl="1">
              <a:lnSpc>
                <a:spcPct val="150000"/>
              </a:lnSpc>
            </a:pPr>
            <a:r>
              <a:rPr lang="zh-CN" altLang="en-US" sz="2900" dirty="0" smtClean="0">
                <a:solidFill>
                  <a:srgbClr val="002060"/>
                </a:solidFill>
              </a:rPr>
              <a:t>提交个人</a:t>
            </a:r>
            <a:r>
              <a:rPr lang="zh-CN" altLang="en-US" sz="2900" dirty="0">
                <a:solidFill>
                  <a:srgbClr val="002060"/>
                </a:solidFill>
              </a:rPr>
              <a:t>主页</a:t>
            </a:r>
            <a:r>
              <a:rPr lang="zh-CN" altLang="en-US" sz="2900" dirty="0" smtClean="0">
                <a:solidFill>
                  <a:srgbClr val="002060"/>
                </a:solidFill>
              </a:rPr>
              <a:t>地址，链接到</a:t>
            </a:r>
            <a:r>
              <a:rPr lang="zh-CN" altLang="en-US" sz="2900" dirty="0">
                <a:solidFill>
                  <a:srgbClr val="002060"/>
                </a:solidFill>
              </a:rPr>
              <a:t>班级主页中（层次结构为：个人</a:t>
            </a:r>
            <a:r>
              <a:rPr lang="en-US" altLang="zh-CN" sz="2900" dirty="0">
                <a:solidFill>
                  <a:srgbClr val="002060"/>
                </a:solidFill>
              </a:rPr>
              <a:t>-</a:t>
            </a:r>
            <a:r>
              <a:rPr lang="zh-CN" altLang="en-US" sz="2900" dirty="0">
                <a:solidFill>
                  <a:srgbClr val="002060"/>
                </a:solidFill>
              </a:rPr>
              <a:t>寝室</a:t>
            </a:r>
            <a:r>
              <a:rPr lang="en-US" altLang="zh-CN" sz="2900" dirty="0">
                <a:solidFill>
                  <a:srgbClr val="002060"/>
                </a:solidFill>
              </a:rPr>
              <a:t>-</a:t>
            </a:r>
            <a:r>
              <a:rPr lang="zh-CN" altLang="en-US" sz="2900" dirty="0">
                <a:solidFill>
                  <a:srgbClr val="002060"/>
                </a:solidFill>
              </a:rPr>
              <a:t>班级）</a:t>
            </a:r>
            <a:endParaRPr lang="en-US" altLang="zh-CN" sz="2900" dirty="0">
              <a:solidFill>
                <a:srgbClr val="002060"/>
              </a:solidFill>
            </a:endParaRPr>
          </a:p>
          <a:p>
            <a:pPr marL="109728" indent="0">
              <a:lnSpc>
                <a:spcPct val="150000"/>
              </a:lnSpc>
              <a:buNone/>
            </a:pPr>
            <a:r>
              <a:rPr lang="zh-CN" altLang="en-US" sz="3200" dirty="0" smtClean="0">
                <a:solidFill>
                  <a:srgbClr val="002060"/>
                </a:solidFill>
              </a:rPr>
              <a:t>教学项目地址：</a:t>
            </a:r>
            <a:r>
              <a:rPr lang="en-US" altLang="zh-CN" sz="3200">
                <a:solidFill>
                  <a:srgbClr val="002060"/>
                </a:solidFill>
              </a:rPr>
              <a:t>https://github.com/hustfyb/Freshman-Practical</a:t>
            </a:r>
          </a:p>
          <a:p>
            <a:pPr marL="109728" indent="0">
              <a:lnSpc>
                <a:spcPct val="150000"/>
              </a:lnSpc>
              <a:buNone/>
            </a:pPr>
            <a:r>
              <a:rPr lang="zh-CN" altLang="en-US" sz="3200" dirty="0" smtClean="0">
                <a:solidFill>
                  <a:srgbClr val="002060"/>
                </a:solidFill>
              </a:rPr>
              <a:t>教程</a:t>
            </a:r>
            <a:r>
              <a:rPr lang="zh-CN" altLang="en-US" sz="3200" dirty="0" smtClean="0">
                <a:solidFill>
                  <a:srgbClr val="002060"/>
                </a:solidFill>
              </a:rPr>
              <a:t>网址</a:t>
            </a:r>
            <a:r>
              <a:rPr lang="zh-CN" altLang="en-US" sz="3200" dirty="0" smtClean="0">
                <a:solidFill>
                  <a:srgbClr val="002060"/>
                </a:solidFill>
              </a:rPr>
              <a:t>：</a:t>
            </a:r>
            <a:r>
              <a:rPr lang="en-US" altLang="zh-CN" sz="3200" dirty="0">
                <a:solidFill>
                  <a:srgbClr val="002060"/>
                </a:solidFill>
              </a:rPr>
              <a:t>https://github.com/hustfyb/Freshman-Practical/wiki</a:t>
            </a:r>
            <a:endParaRPr lang="en-US" altLang="zh-CN" sz="3200" dirty="0" smtClean="0">
              <a:solidFill>
                <a:srgbClr val="002060"/>
              </a:solidFill>
            </a:endParaRPr>
          </a:p>
          <a:p>
            <a:pPr>
              <a:lnSpc>
                <a:spcPct val="150000"/>
              </a:lnSpc>
            </a:pPr>
            <a:endParaRPr lang="en-US" altLang="zh-CN" sz="3200" dirty="0" smtClean="0">
              <a:solidFill>
                <a:srgbClr val="002060"/>
              </a:solidFill>
            </a:endParaRPr>
          </a:p>
          <a:p>
            <a:endParaRPr lang="zh-CN" altLang="en-US" sz="3200" dirty="0">
              <a:solidFill>
                <a:srgbClr val="002060"/>
              </a:solidFill>
            </a:endParaRPr>
          </a:p>
        </p:txBody>
      </p:sp>
      <p:sp>
        <p:nvSpPr>
          <p:cNvPr id="4" name="灯片编号占位符 3"/>
          <p:cNvSpPr>
            <a:spLocks noGrp="1"/>
          </p:cNvSpPr>
          <p:nvPr>
            <p:ph type="sldNum" sz="quarter" idx="12"/>
          </p:nvPr>
        </p:nvSpPr>
        <p:spPr/>
        <p:txBody>
          <a:bodyPr/>
          <a:lstStyle/>
          <a:p>
            <a:fld id="{0BD87961-E39D-4DAC-BBE4-2A1C1340B983}" type="slidenum">
              <a:rPr lang="zh-CN" altLang="en-US" smtClean="0"/>
              <a:t>46</a:t>
            </a:fld>
            <a:endParaRPr lang="zh-CN" altLang="en-US"/>
          </a:p>
        </p:txBody>
      </p:sp>
    </p:spTree>
    <p:extLst>
      <p:ext uri="{BB962C8B-B14F-4D97-AF65-F5344CB8AC3E}">
        <p14:creationId xmlns:p14="http://schemas.microsoft.com/office/powerpoint/2010/main" val="1486728155"/>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聚合">
  <a:themeElements>
    <a:clrScheme name="聚合">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聚合">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聚合">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766</TotalTime>
  <Words>3254</Words>
  <Application>Microsoft Office PowerPoint</Application>
  <PresentationFormat>宽屏</PresentationFormat>
  <Paragraphs>337</Paragraphs>
  <Slides>46</Slides>
  <Notes>36</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46</vt:i4>
      </vt:variant>
    </vt:vector>
  </HeadingPairs>
  <TitlesOfParts>
    <vt:vector size="59" baseType="lpstr">
      <vt:lpstr>创艺简标宋</vt:lpstr>
      <vt:lpstr>等线</vt:lpstr>
      <vt:lpstr>黑体</vt:lpstr>
      <vt:lpstr>华康简宋</vt:lpstr>
      <vt:lpstr>Arial</vt:lpstr>
      <vt:lpstr>Lucida Sans Unicode</vt:lpstr>
      <vt:lpstr>Times New Roman</vt:lpstr>
      <vt:lpstr>Verdana</vt:lpstr>
      <vt:lpstr>Wingdings</vt:lpstr>
      <vt:lpstr>Wingdings 2</vt:lpstr>
      <vt:lpstr>Wingdings 3</vt:lpstr>
      <vt:lpstr>聚合</vt:lpstr>
      <vt:lpstr>Picture</vt:lpstr>
      <vt:lpstr>Git 基础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示例：（Linux环境）</vt:lpstr>
      <vt:lpstr>PowerPoint 演示文稿</vt:lpstr>
      <vt:lpstr>软件分类</vt:lpstr>
      <vt:lpstr>PowerPoint 演示文稿</vt:lpstr>
      <vt:lpstr>什么是版本控制</vt:lpstr>
      <vt:lpstr>版本控制的历史</vt:lpstr>
      <vt:lpstr>Git的基本概念</vt:lpstr>
      <vt:lpstr>工作区，暂存区，版本库</vt:lpstr>
      <vt:lpstr>本地版本库-（1）创建本地版本库</vt:lpstr>
      <vt:lpstr>本地版本库-（2）添加修改到暂存区域</vt:lpstr>
      <vt:lpstr>本地版本库-（3）提交修改到本地仓库</vt:lpstr>
      <vt:lpstr>远程版本库-（1）Clone远程版本库</vt:lpstr>
      <vt:lpstr>远程版本库-（2）添加远程版本库</vt:lpstr>
      <vt:lpstr>远程版本库-（3）推送本地内容到远程仓库</vt:lpstr>
      <vt:lpstr>远程版本库-（4）拉取远程分支到本地</vt:lpstr>
      <vt:lpstr>分支管理-（1）创建本地分支</vt:lpstr>
      <vt:lpstr>分支管理-（2）删除本地分支</vt:lpstr>
      <vt:lpstr>分支管理-（3）删除远程分支</vt:lpstr>
      <vt:lpstr>分支管理-（4）本地分支合并</vt:lpstr>
      <vt:lpstr>日志和版本回退-（1）回到前一次提交</vt:lpstr>
      <vt:lpstr>日志和版本回退-（2）撤销修改</vt:lpstr>
      <vt:lpstr>日志和版本回退-（3）删除文件</vt:lpstr>
      <vt:lpstr>标签-（1）创建标签</vt:lpstr>
      <vt:lpstr>标签-（2）推送指定标签</vt:lpstr>
      <vt:lpstr>标签-（3）推送全部标签</vt:lpstr>
      <vt:lpstr>标签-（4）删除标签</vt:lpstr>
      <vt:lpstr>冲突处理、忽略文件-（1）解决冲突</vt:lpstr>
      <vt:lpstr>冲突处理、忽略文件-（2）强制操作</vt:lpstr>
      <vt:lpstr>冲突处理、忽略文件-（3）忽略文件</vt:lpstr>
      <vt:lpstr>远程分支、rebase、 储藏-（1）合并原创分支</vt:lpstr>
      <vt:lpstr>远程分支、rebase、 储藏-（2）rebase</vt:lpstr>
      <vt:lpstr>远程分支、rebase、 储藏-（3）储藏之保存及恢复</vt:lpstr>
      <vt:lpstr>PowerPoint 演示文稿</vt:lpstr>
      <vt:lpstr>GUI方式使用Git</vt:lpstr>
      <vt:lpstr>相关概念</vt:lpstr>
      <vt:lpstr>PowerPoint 演示文稿</vt:lpstr>
    </vt:vector>
  </TitlesOfParts>
  <Company>mycomputer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李平</dc:creator>
  <cp:lastModifiedBy>804-113</cp:lastModifiedBy>
  <cp:revision>101</cp:revision>
  <dcterms:created xsi:type="dcterms:W3CDTF">2020-09-27T02:03:53Z</dcterms:created>
  <dcterms:modified xsi:type="dcterms:W3CDTF">2025-11-07T07:36:48Z</dcterms:modified>
</cp:coreProperties>
</file>