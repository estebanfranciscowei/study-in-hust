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4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308" r:id="rId3"/>
    <p:sldId id="309" r:id="rId4"/>
    <p:sldId id="310" r:id="rId5"/>
    <p:sldId id="311" r:id="rId6"/>
    <p:sldId id="257" r:id="rId7"/>
    <p:sldId id="258" r:id="rId8"/>
    <p:sldId id="259" r:id="rId9"/>
    <p:sldId id="260" r:id="rId10"/>
    <p:sldId id="261" r:id="rId11"/>
    <p:sldId id="262" r:id="rId12"/>
    <p:sldId id="266" r:id="rId13"/>
    <p:sldId id="267" r:id="rId14"/>
    <p:sldId id="268" r:id="rId15"/>
    <p:sldId id="263" r:id="rId16"/>
    <p:sldId id="264" r:id="rId17"/>
    <p:sldId id="265" r:id="rId18"/>
    <p:sldId id="270" r:id="rId19"/>
    <p:sldId id="293" r:id="rId20"/>
    <p:sldId id="271" r:id="rId21"/>
    <p:sldId id="294" r:id="rId22"/>
    <p:sldId id="272" r:id="rId23"/>
    <p:sldId id="295" r:id="rId24"/>
    <p:sldId id="273" r:id="rId25"/>
    <p:sldId id="296" r:id="rId26"/>
    <p:sldId id="274" r:id="rId27"/>
    <p:sldId id="275" r:id="rId28"/>
    <p:sldId id="312" r:id="rId29"/>
    <p:sldId id="313" r:id="rId30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晔斌范" userId="a4a687ff-0d54-4e7c-80c3-86fa34a0f1fc" providerId="ADAL" clId="{FFEC3F89-D24C-4A18-9992-4B0C8FF29509}"/>
    <pc:docChg chg="undo custSel addSld delSld modSld sldOrd">
      <pc:chgData name="晔斌范" userId="a4a687ff-0d54-4e7c-80c3-86fa34a0f1fc" providerId="ADAL" clId="{FFEC3F89-D24C-4A18-9992-4B0C8FF29509}" dt="2022-11-14T06:44:52.343" v="399" actId="20577"/>
      <pc:docMkLst>
        <pc:docMk/>
      </pc:docMkLst>
      <pc:sldChg chg="modSp">
        <pc:chgData name="晔斌范" userId="a4a687ff-0d54-4e7c-80c3-86fa34a0f1fc" providerId="ADAL" clId="{FFEC3F89-D24C-4A18-9992-4B0C8FF29509}" dt="2022-11-14T06:18:14.557" v="6" actId="27636"/>
        <pc:sldMkLst>
          <pc:docMk/>
          <pc:sldMk cId="0" sldId="265"/>
        </pc:sldMkLst>
        <pc:spChg chg="mod">
          <ac:chgData name="晔斌范" userId="a4a687ff-0d54-4e7c-80c3-86fa34a0f1fc" providerId="ADAL" clId="{FFEC3F89-D24C-4A18-9992-4B0C8FF29509}" dt="2022-11-14T06:18:14.557" v="6" actId="27636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晔斌范" userId="a4a687ff-0d54-4e7c-80c3-86fa34a0f1fc" providerId="ADAL" clId="{FFEC3F89-D24C-4A18-9992-4B0C8FF29509}" dt="2022-11-14T05:38:46.328" v="4" actId="14100"/>
        <pc:sldMkLst>
          <pc:docMk/>
          <pc:sldMk cId="0" sldId="309"/>
        </pc:sldMkLst>
        <pc:picChg chg="mod">
          <ac:chgData name="晔斌范" userId="a4a687ff-0d54-4e7c-80c3-86fa34a0f1fc" providerId="ADAL" clId="{FFEC3F89-D24C-4A18-9992-4B0C8FF29509}" dt="2022-11-14T05:38:46.328" v="4" actId="14100"/>
          <ac:picMkLst>
            <pc:docMk/>
            <pc:sldMk cId="0" sldId="309"/>
            <ac:picMk id="4" creationId="{00000000-0000-0000-0000-000000000000}"/>
          </ac:picMkLst>
        </pc:picChg>
      </pc:sldChg>
      <pc:sldChg chg="addSp delSp modSp add">
        <pc:chgData name="晔斌范" userId="a4a687ff-0d54-4e7c-80c3-86fa34a0f1fc" providerId="ADAL" clId="{FFEC3F89-D24C-4A18-9992-4B0C8FF29509}" dt="2022-11-14T06:44:52.343" v="399" actId="20577"/>
        <pc:sldMkLst>
          <pc:docMk/>
          <pc:sldMk cId="443036898" sldId="313"/>
        </pc:sldMkLst>
        <pc:spChg chg="mod">
          <ac:chgData name="晔斌范" userId="a4a687ff-0d54-4e7c-80c3-86fa34a0f1fc" providerId="ADAL" clId="{FFEC3F89-D24C-4A18-9992-4B0C8FF29509}" dt="2022-11-14T06:41:37.141" v="75" actId="20577"/>
          <ac:spMkLst>
            <pc:docMk/>
            <pc:sldMk cId="443036898" sldId="313"/>
            <ac:spMk id="2" creationId="{E7D45056-94E4-4479-909A-E7C6386B4593}"/>
          </ac:spMkLst>
        </pc:spChg>
        <pc:spChg chg="del">
          <ac:chgData name="晔斌范" userId="a4a687ff-0d54-4e7c-80c3-86fa34a0f1fc" providerId="ADAL" clId="{FFEC3F89-D24C-4A18-9992-4B0C8FF29509}" dt="2022-11-14T06:40:48.414" v="65"/>
          <ac:spMkLst>
            <pc:docMk/>
            <pc:sldMk cId="443036898" sldId="313"/>
            <ac:spMk id="3" creationId="{0FB4FF59-47CB-4FD6-B889-DD1F294E2ECB}"/>
          </ac:spMkLst>
        </pc:spChg>
        <pc:spChg chg="add mod">
          <ac:chgData name="晔斌范" userId="a4a687ff-0d54-4e7c-80c3-86fa34a0f1fc" providerId="ADAL" clId="{FFEC3F89-D24C-4A18-9992-4B0C8FF29509}" dt="2022-11-14T06:44:52.343" v="399" actId="20577"/>
          <ac:spMkLst>
            <pc:docMk/>
            <pc:sldMk cId="443036898" sldId="313"/>
            <ac:spMk id="6" creationId="{48081B7D-C4FF-4282-BF7D-25F0D0001345}"/>
          </ac:spMkLst>
        </pc:spChg>
        <pc:picChg chg="add mod">
          <ac:chgData name="晔斌范" userId="a4a687ff-0d54-4e7c-80c3-86fa34a0f1fc" providerId="ADAL" clId="{FFEC3F89-D24C-4A18-9992-4B0C8FF29509}" dt="2022-11-14T06:41:25.566" v="72" actId="1076"/>
          <ac:picMkLst>
            <pc:docMk/>
            <pc:sldMk cId="443036898" sldId="313"/>
            <ac:picMk id="5" creationId="{2390D881-B0E7-4034-B1BB-278699940D4A}"/>
          </ac:picMkLst>
        </pc:picChg>
      </pc:sldChg>
      <pc:sldChg chg="modSp add del ord">
        <pc:chgData name="晔斌范" userId="a4a687ff-0d54-4e7c-80c3-86fa34a0f1fc" providerId="ADAL" clId="{FFEC3F89-D24C-4A18-9992-4B0C8FF29509}" dt="2022-11-14T06:20:17.708" v="63" actId="2696"/>
        <pc:sldMkLst>
          <pc:docMk/>
          <pc:sldMk cId="1944858970" sldId="313"/>
        </pc:sldMkLst>
        <pc:spChg chg="mod">
          <ac:chgData name="晔斌范" userId="a4a687ff-0d54-4e7c-80c3-86fa34a0f1fc" providerId="ADAL" clId="{FFEC3F89-D24C-4A18-9992-4B0C8FF29509}" dt="2022-11-14T06:19:07.003" v="60" actId="20577"/>
          <ac:spMkLst>
            <pc:docMk/>
            <pc:sldMk cId="1944858970" sldId="313"/>
            <ac:spMk id="3" creationId="{72E4991A-EDC5-4E5B-82E0-D9B18A1D1F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741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HTML 标签原本被设计为用于定义文档内容，如下实例：</a:t>
            </a:r>
          </a:p>
          <a:p>
            <a:r>
              <a:rPr lang="zh-CN" altLang="en-US"/>
              <a:t>&lt;h1&gt;这是一个标题&lt;/h1&gt;</a:t>
            </a:r>
          </a:p>
          <a:p>
            <a:r>
              <a:rPr lang="zh-CN" altLang="en-US"/>
              <a:t>&lt;p&gt;这是一个段落.&lt;/p&gt;</a:t>
            </a:r>
          </a:p>
          <a:p>
            <a:r>
              <a:rPr lang="zh-CN" altLang="en-US"/>
              <a:t>样式表定义如何显示 HTML 元素，就像 HTML 3.2 的字体标签和颜色属性所起的作用那样。样式通常保存在外部的 .css 文件中。通过仅仅编辑一个简单的 CSS 文档，外部样式表使你有能力同时改变站点中所有页面的布局和外观。</a:t>
            </a:r>
          </a:p>
          <a:p>
            <a:r>
              <a:rPr lang="zh-CN" altLang="en-US"/>
              <a:t>为了解决这个问题，万维网联盟（W3C），这个非营利的标准化联盟，肩负起了 HTML 标准化的使命，并在 HTML 4.0 之外创造出样式（Style）。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字体系列</a:t>
            </a:r>
          </a:p>
          <a:p>
            <a:r>
              <a:rPr lang="zh-CN" altLang="en-US"/>
              <a:t>font-family 属性设置文本的字体系列。</a:t>
            </a:r>
          </a:p>
          <a:p>
            <a:r>
              <a:rPr lang="zh-CN" altLang="en-US"/>
              <a:t>font-family 属性应该设置几个字体名称作为一种"后备"机制，如果浏览器不支持第一种字体，他将尝试下一种字体。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iamisis\Desktop\崔老师的PPT\bghome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D:\TDDOWNLOAD\win8风格图标\PNG\Communications\Blue\MB_0018_note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229" y="2353360"/>
            <a:ext cx="920511" cy="92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C:\Users\iamisis\Desktop\MetroStation_2.0_XiaZaiBa\metrostation_by_yankoa-d312tty\PNG\Others\Blue\MB_0001_pin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239" y="2332723"/>
            <a:ext cx="933207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 descr="C:\Users\iamisis\Desktop\MetroStation_2.0_XiaZaiBa\metrostation_by_yankoa-d312tty\PNG\Network\Blue\MB_0036_search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445" y="2353360"/>
            <a:ext cx="917336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C:\Users\iamisis\Desktop\MetroStation_2.0_XiaZaiBa\metrostation_by_yankoa-d312tty\PNG\Suites\Blue\MB_0029_programs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782" y="2332723"/>
            <a:ext cx="931620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C:\Users\iamisis\Desktop\MetroStation_2.0_XiaZaiBa\metrostation_by_yankoa-d312tty\PNG\Media\Blue\MB_0018_viewer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402" y="2332723"/>
            <a:ext cx="931620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:\Users\iamisis\Desktop\MetroStation_2.0_XiaZaiBa\metrostation_by_yankoa-d312tty\PNG\Navigation\blue\MB_0014_world1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022" y="2343835"/>
            <a:ext cx="933207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PPECLOGO-eff-0-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233" y="4548188"/>
            <a:ext cx="83480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 descr="PPECLOGO-eff-0-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257" y="4522789"/>
            <a:ext cx="772912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 descr="PPECLOGO-eff-0-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167" y="5105401"/>
            <a:ext cx="412643" cy="249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 descr="PPECLOGO-eff-0-1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747" y="4559301"/>
            <a:ext cx="315831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7" descr="PPECLOGO-eff-0-1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678" y="5146677"/>
            <a:ext cx="155535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 descr="PPECLOGO-eff-0-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176" y="4351339"/>
            <a:ext cx="772912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9" descr="PPECLOGO-eff-5-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090" y="4749801"/>
            <a:ext cx="116333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0" descr="PPECLOGO-eff-5-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357" y="4868864"/>
            <a:ext cx="1444249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1" descr="PPECLOGO-eff-5-4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257" y="4446590"/>
            <a:ext cx="87924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2" descr="PPECLOGO-eff-0-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305" y="5013325"/>
            <a:ext cx="411056" cy="2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3" descr="PPECLOGO-eff-0-1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301" y="4219575"/>
            <a:ext cx="411056" cy="2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4" descr="PPECLOGO-eff2-1-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646" y="4508501"/>
            <a:ext cx="1336327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15" descr="PPECLOGO-eff2-1-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267" y="4459288"/>
            <a:ext cx="344399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16" descr="PPECLOGO-eff2-1-4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212" y="4824414"/>
            <a:ext cx="55389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7" descr="PPECLOGO-eff2-1-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215" y="4562475"/>
            <a:ext cx="284089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8" descr="PPECLOGO-eff2-1-3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160" y="4900614"/>
            <a:ext cx="222192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1200" y="4413600"/>
            <a:ext cx="7892583" cy="893763"/>
          </a:xfrm>
        </p:spPr>
        <p:txBody>
          <a:bodyPr/>
          <a:lstStyle>
            <a:lvl1pPr algn="l">
              <a:defRPr sz="3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47600" y="5378333"/>
            <a:ext cx="7899098" cy="530224"/>
          </a:xfrm>
        </p:spPr>
        <p:txBody>
          <a:bodyPr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 smtClean="0"/>
            </a:lvl1pPr>
          </a:lstStyle>
          <a:p>
            <a:pPr>
              <a:defRPr/>
            </a:pPr>
            <a:fld id="{87E4BE33-EC1D-4BDB-8015-45DF6AF7B3DB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aseline="0">
                <a:solidFill>
                  <a:srgbClr val="000000"/>
                </a:solidFill>
              </a:defRPr>
            </a:lvl1pPr>
            <a:lvl2pPr>
              <a:defRPr sz="2000" baseline="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/>
            </a:lvl1pPr>
          </a:lstStyle>
          <a:p>
            <a:fld id="{13D0CE79-49FB-443D-BEF8-6B709DE8FD0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/>
            </a:lvl1pPr>
          </a:lstStyle>
          <a:p>
            <a:endParaRPr lang="zh-CN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iamisis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25600" y="2767263"/>
            <a:ext cx="5961600" cy="9443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5600" y="3784613"/>
            <a:ext cx="7314064" cy="1485220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765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13D0CE79-49FB-443D-BEF8-6B709DE8FD0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5313" y="1347118"/>
            <a:ext cx="5279099" cy="4500000"/>
          </a:xfrm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1800">
                <a:solidFill>
                  <a:srgbClr val="227577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20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>
              <a:defRPr>
                <a:solidFill>
                  <a:srgbClr val="000000"/>
                </a:solidFill>
              </a:defRPr>
            </a:lvl6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14327" y="1347118"/>
            <a:ext cx="5284103" cy="4500000"/>
          </a:xfrm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1800">
                <a:solidFill>
                  <a:srgbClr val="227577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20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>
              <a:defRPr>
                <a:solidFill>
                  <a:srgbClr val="000000"/>
                </a:solidFill>
              </a:defRPr>
            </a:lvl6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13D0CE79-49FB-443D-BEF8-6B709DE8FD0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6400" y="259200"/>
            <a:ext cx="10972800" cy="576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6400" y="1392406"/>
            <a:ext cx="51580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6400" y="2336633"/>
            <a:ext cx="5158032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415775" y="1392406"/>
            <a:ext cx="51834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15775" y="2336633"/>
            <a:ext cx="5183425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E60F58-3108-4415-857A-6D0360DF626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iamisis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04800" y="2718000"/>
            <a:ext cx="5662800" cy="1432800"/>
          </a:xfrm>
        </p:spPr>
        <p:txBody>
          <a:bodyPr>
            <a:normAutofit/>
          </a:bodyPr>
          <a:lstStyle>
            <a:lvl1pPr algn="ctr">
              <a:defRPr sz="8800"/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D0CE79-49FB-443D-BEF8-6B709DE8FD0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圆角矩形 13"/>
          <p:cNvSpPr>
            <a:spLocks noChangeArrowheads="1"/>
          </p:cNvSpPr>
          <p:nvPr/>
        </p:nvSpPr>
        <p:spPr bwMode="auto">
          <a:xfrm>
            <a:off x="3823293" y="3968609"/>
            <a:ext cx="4572396" cy="369792"/>
          </a:xfrm>
          <a:prstGeom prst="roundRect">
            <a:avLst>
              <a:gd name="adj" fmla="val 50000"/>
            </a:avLst>
          </a:prstGeom>
          <a:solidFill>
            <a:schemeClr val="accent2">
              <a:alpha val="98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>
            <a:normAutofit fontScale="62500" lnSpcReduction="20000"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algn="ctr"/>
            <a:endParaRPr lang="en-US" sz="2000">
              <a:solidFill>
                <a:schemeClr val="accent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iamisis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13D0CE79-49FB-443D-BEF8-6B709DE8FD0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endParaRPr lang="zh-CN" altLang="en-US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6400" y="259200"/>
            <a:ext cx="10972800" cy="417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410379" y="987426"/>
            <a:ext cx="617218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765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pPr lvl="0"/>
            <a:r>
              <a:rPr lang="zh-CN" altLang="en-US" noProof="0" dirty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6400" y="987426"/>
            <a:ext cx="4402800" cy="4873625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D0CE79-49FB-443D-BEF8-6B709DE8FD0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iamisis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95722" y="195943"/>
            <a:ext cx="1102707" cy="6062345"/>
          </a:xfrm>
        </p:spPr>
        <p:txBody>
          <a:bodyPr vert="eaVert"/>
          <a:lstStyle>
            <a:lvl1pPr>
              <a:defRPr sz="2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442" y="195943"/>
            <a:ext cx="9660993" cy="6062345"/>
          </a:xfrm>
        </p:spPr>
        <p:txBody>
          <a:bodyPr vert="eaVert"/>
          <a:lstStyle>
            <a:lvl1pPr>
              <a:spcBef>
                <a:spcPts val="300"/>
              </a:spcBef>
              <a:spcAft>
                <a:spcPts val="300"/>
              </a:spcAft>
              <a:defRPr sz="2400">
                <a:solidFill>
                  <a:srgbClr val="000000"/>
                </a:solidFill>
              </a:defRPr>
            </a:lvl1pPr>
            <a:lvl2pPr marL="356870" indent="-285750">
              <a:buFont typeface="Arial" panose="020B0604020202020204" pitchFamily="34" charset="0"/>
              <a:buChar char="•"/>
              <a:defRPr sz="2000"/>
            </a:lvl2pPr>
            <a:lvl3pPr marL="720090">
              <a:spcBef>
                <a:spcPts val="300"/>
              </a:spcBef>
              <a:spcAft>
                <a:spcPts val="300"/>
              </a:spcAft>
              <a:defRPr sz="2000"/>
            </a:lvl3pPr>
            <a:lvl4pPr marL="1080135">
              <a:spcBef>
                <a:spcPts val="300"/>
              </a:spcBef>
              <a:spcAft>
                <a:spcPts val="300"/>
              </a:spcAft>
              <a:defRPr sz="1800"/>
            </a:lvl4pPr>
            <a:lvl5pPr marL="1440180">
              <a:spcBef>
                <a:spcPts val="300"/>
              </a:spcBef>
              <a:spcAft>
                <a:spcPts val="300"/>
              </a:spcAft>
              <a:defRPr sz="1800"/>
            </a:lvl5pPr>
            <a:lvl6pPr marL="1800225">
              <a:spcBef>
                <a:spcPts val="300"/>
              </a:spcBef>
              <a:spcAft>
                <a:spcPts val="300"/>
              </a:spcAft>
              <a:defRPr sz="1800"/>
            </a:lvl6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D0CE79-49FB-443D-BEF8-6B709DE8FD0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iamisis\Desktop\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261449" y="439616"/>
            <a:ext cx="11669102" cy="566932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iamisis\Desktop\00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5313" y="1125537"/>
            <a:ext cx="10973117" cy="4895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2"/>
            <a:r>
              <a:rPr lang="zh-CN" altLang="en-US" dirty="0"/>
              <a:t>第二级</a:t>
            </a:r>
          </a:p>
          <a:p>
            <a:pPr lvl="3"/>
            <a:r>
              <a:rPr lang="zh-CN" altLang="en-US" dirty="0"/>
              <a:t>第三级</a:t>
            </a:r>
          </a:p>
          <a:p>
            <a:pPr lvl="4"/>
            <a:r>
              <a:rPr lang="zh-CN" altLang="en-US" dirty="0"/>
              <a:t>第四级</a:t>
            </a:r>
          </a:p>
          <a:p>
            <a:pPr lvl="5"/>
            <a:r>
              <a:rPr lang="zh-CN" altLang="en-US" dirty="0"/>
              <a:t>第五级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442" y="6245225"/>
            <a:ext cx="2845647" cy="476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aseline="0" smtClean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13D0CE79-49FB-443D-BEF8-6B709DE8FD0C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6103" y="6245225"/>
            <a:ext cx="3859795" cy="476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aseline="0" smtClean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914" y="6245225"/>
            <a:ext cx="2845645" cy="476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aseline="0" smtClean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EF906490-237C-474C-BA2E-D98840BC1F8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32" name="直接连接符 10"/>
          <p:cNvSpPr>
            <a:spLocks noChangeShapeType="1"/>
          </p:cNvSpPr>
          <p:nvPr/>
        </p:nvSpPr>
        <p:spPr bwMode="auto">
          <a:xfrm flipH="1">
            <a:off x="214258" y="842491"/>
            <a:ext cx="3096405" cy="0"/>
          </a:xfrm>
          <a:prstGeom prst="line">
            <a:avLst/>
          </a:prstGeom>
          <a:noFill/>
          <a:ln w="9525">
            <a:solidFill>
              <a:srgbClr val="00B0F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 baseline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auto">
          <a:xfrm>
            <a:off x="1" y="804391"/>
            <a:ext cx="215844" cy="71437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 sz="1800" baseline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kern="1200" baseline="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Black" panose="020B0A04020102020204" pitchFamily="34" charset="0"/>
          <a:ea typeface="微软雅黑" panose="020B0503020204020204" charset="-122"/>
          <a:cs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Black" panose="020B0A04020102020204" pitchFamily="34" charset="0"/>
          <a:ea typeface="微软雅黑" panose="020B0503020204020204" charset="-122"/>
          <a:cs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Black" panose="020B0A04020102020204" pitchFamily="34" charset="0"/>
          <a:ea typeface="微软雅黑" panose="020B0503020204020204" charset="-122"/>
          <a:cs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 Black" panose="020B0A04020102020204" pitchFamily="34" charset="0"/>
          <a:ea typeface="微软雅黑" panose="020B0503020204020204" charset="-122"/>
          <a:cs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charset="-122"/>
          <a:cs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charset="-122"/>
          <a:cs typeface="宋体" panose="02010600030101010101" pitchFamily="2" charset="-122"/>
        </a:defRPr>
      </a:lvl7pPr>
      <a:lvl8pPr marL="1370965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charset="-122"/>
          <a:cs typeface="宋体" panose="02010600030101010101" pitchFamily="2" charset="-122"/>
        </a:defRPr>
      </a:lvl8pPr>
      <a:lvl9pPr marL="1828165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charset="-122"/>
          <a:cs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ts val="300"/>
        </a:spcBef>
        <a:spcAft>
          <a:spcPts val="300"/>
        </a:spcAft>
        <a:buChar char="•"/>
        <a:defRPr sz="2400" kern="1200" baseline="0">
          <a:solidFill>
            <a:srgbClr val="000000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356870" indent="-285750" algn="l" rtl="0" eaLnBrk="1" fontAlgn="base" hangingPunct="1">
        <a:lnSpc>
          <a:spcPct val="13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 "/>
        <a:defRPr sz="1800" kern="1200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720090" indent="-228600" algn="l" rtl="0" eaLnBrk="1" fontAlgn="base" hangingPunct="1">
        <a:spcBef>
          <a:spcPts val="300"/>
        </a:spcBef>
        <a:spcAft>
          <a:spcPts val="30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indent="-228600" algn="l" rtl="0" eaLnBrk="1" fontAlgn="base" hangingPunct="1">
        <a:spcBef>
          <a:spcPts val="300"/>
        </a:spcBef>
        <a:spcAft>
          <a:spcPts val="300"/>
        </a:spcAft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228600" algn="l" rtl="0" eaLnBrk="1" fontAlgn="base" hangingPunct="1">
        <a:spcBef>
          <a:spcPts val="300"/>
        </a:spcBef>
        <a:spcAft>
          <a:spcPts val="300"/>
        </a:spcAft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indent="-228600" algn="l" defTabSz="913765" rtl="0" eaLnBrk="1" latinLnBrk="0" hangingPunct="1"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image" Target="../media/image28.png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cschool.cn/css3/css3-animation.html" TargetMode="External"/><Relationship Id="rId2" Type="http://schemas.openxmlformats.org/officeDocument/2006/relationships/hyperlink" Target="http://www.cnblogs.com/2050/p/3409129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2851200" y="4413600"/>
            <a:ext cx="7892583" cy="8937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 baseline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pPr algn="ctr"/>
            <a:r>
              <a:rPr lang="da-DK" altLang="zh-CN">
                <a:latin typeface="Arial" panose="020B0604020202020204" pitchFamily="34" charset="0"/>
                <a:ea typeface="黑体" panose="02010609060101010101" pitchFamily="49" charset="-122"/>
              </a:rPr>
              <a:t>WEB 进阶(HTM5,CSS,JS)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2847600" y="5378333"/>
            <a:ext cx="7899098" cy="53022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 algn="l" rtl="0" eaLnBrk="1" fontAlgn="base" hangingPunct="1">
              <a:spcBef>
                <a:spcPts val="300"/>
              </a:spcBef>
              <a:spcAft>
                <a:spcPts val="300"/>
              </a:spcAft>
              <a:buFontTx/>
              <a:buNone/>
              <a:defRPr sz="2400" kern="1200" baseline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marL="356870" indent="-285750" algn="l" rtl="0" eaLnBrk="1" fontAlgn="base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 "/>
              <a:defRPr sz="1800" kern="1200" baseline="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2pPr>
            <a:lvl3pPr marL="720090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•"/>
              <a:defRPr sz="20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3pPr>
            <a:lvl4pPr marL="1080135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–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4pPr>
            <a:lvl5pPr marL="1440180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»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5pPr>
            <a:lvl6pPr marL="1800225" indent="-228600" algn="l" defTabSz="913765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6pPr>
            <a:lvl7pPr marL="2971165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9pPr>
          </a:lstStyle>
          <a:p>
            <a:pPr algn="ctr"/>
            <a:r>
              <a:rPr lang="da-DK" altLang="zh-CN" dirty="0">
                <a:latin typeface="Arial" panose="020B0604020202020204" pitchFamily="34" charset="0"/>
                <a:ea typeface="黑体" panose="02010609060101010101" pitchFamily="49" charset="-122"/>
              </a:rPr>
              <a:t>LOREM IPSUM DOLOR</a:t>
            </a:r>
            <a:endParaRPr 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现代</a:t>
            </a:r>
            <a:r>
              <a:rPr lang="en-US" altLang="zh-CN"/>
              <a:t>WEB</a:t>
            </a:r>
            <a:r>
              <a:rPr lang="zh-CN" altLang="en-US"/>
              <a:t>开发知识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  <a:r>
              <a:rPr lang="en-US" altLang="zh-CN" dirty="0"/>
              <a:t>Or</a:t>
            </a:r>
            <a:r>
              <a:rPr lang="zh-CN" altLang="en-US" dirty="0"/>
              <a:t>后端</a:t>
            </a:r>
            <a:r>
              <a:rPr lang="en-US" altLang="zh-CN" dirty="0"/>
              <a:t>Or</a:t>
            </a:r>
            <a:r>
              <a:rPr lang="zh-CN" altLang="en-US" dirty="0"/>
              <a:t>全栈</a:t>
            </a:r>
          </a:p>
          <a:p>
            <a:r>
              <a:rPr lang="zh-CN" altLang="en-US" dirty="0"/>
              <a:t>后端知识</a:t>
            </a:r>
          </a:p>
          <a:p>
            <a:pPr lvl="1"/>
            <a:r>
              <a:rPr lang="zh-CN" altLang="en-US" dirty="0">
                <a:sym typeface="+mn-ea"/>
              </a:rPr>
              <a:t>数据库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语言</a:t>
            </a:r>
            <a:endParaRPr lang="zh-CN" altLang="en-US" dirty="0"/>
          </a:p>
          <a:p>
            <a:r>
              <a:rPr lang="zh-CN" altLang="en-US" dirty="0"/>
              <a:t>前端知识</a:t>
            </a:r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60" y="3426460"/>
            <a:ext cx="3914775" cy="1819275"/>
          </a:xfrm>
          <a:prstGeom prst="rect">
            <a:avLst/>
          </a:prstGeom>
          <a:noFill/>
          <a:ln>
            <a:noFill/>
          </a:ln>
          <a:effectLst/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313" y="2043031"/>
            <a:ext cx="3823827" cy="2493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815" y="1371600"/>
            <a:ext cx="4285615" cy="44189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35070" y="1248410"/>
            <a:ext cx="4752975" cy="46482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9020" y="1456055"/>
            <a:ext cx="4638675" cy="411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任意多边形 45"/>
          <p:cNvSpPr/>
          <p:nvPr>
            <p:custDataLst>
              <p:tags r:id="rId2"/>
            </p:custDataLst>
          </p:nvPr>
        </p:nvSpPr>
        <p:spPr bwMode="auto">
          <a:xfrm>
            <a:off x="1701357" y="1636872"/>
            <a:ext cx="8794048" cy="3781684"/>
          </a:xfrm>
          <a:custGeom>
            <a:avLst/>
            <a:gdLst>
              <a:gd name="T0" fmla="*/ 0 w 3456384"/>
              <a:gd name="T1" fmla="*/ 3054350 h 3882329"/>
              <a:gd name="T2" fmla="*/ 8794750 w 3456384"/>
              <a:gd name="T3" fmla="*/ 3054350 h 3882329"/>
              <a:gd name="T4" fmla="*/ 0 w 3456384"/>
              <a:gd name="T5" fmla="*/ 3054350 h 3882329"/>
              <a:gd name="T6" fmla="*/ 0 w 3456384"/>
              <a:gd name="T7" fmla="*/ 0 h 3882329"/>
              <a:gd name="T8" fmla="*/ 8794750 w 3456384"/>
              <a:gd name="T9" fmla="*/ 0 h 3882329"/>
              <a:gd name="T10" fmla="*/ 0 w 3456384"/>
              <a:gd name="T11" fmla="*/ 0 h 38823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456384"/>
              <a:gd name="T19" fmla="*/ 0 h 3882329"/>
              <a:gd name="T20" fmla="*/ 3456384 w 3456384"/>
              <a:gd name="T21" fmla="*/ 3882329 h 38823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456384" h="3882329">
                <a:moveTo>
                  <a:pt x="0" y="3882329"/>
                </a:moveTo>
                <a:lnTo>
                  <a:pt x="3456384" y="3882329"/>
                </a:lnTo>
                <a:lnTo>
                  <a:pt x="0" y="3882329"/>
                </a:lnTo>
                <a:close/>
                <a:moveTo>
                  <a:pt x="0" y="0"/>
                </a:moveTo>
                <a:lnTo>
                  <a:pt x="3456384" y="0"/>
                </a:lnTo>
                <a:lnTo>
                  <a:pt x="0" y="0"/>
                </a:lnTo>
                <a:close/>
              </a:path>
            </a:pathLst>
          </a:custGeom>
          <a:noFill/>
          <a:ln w="22225" cmpd="sng">
            <a:solidFill>
              <a:srgbClr val="04AEDA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71981" rIns="0" bIns="71981" anchor="t" anchorCtr="0">
            <a:normAutofit fontScale="92500" lnSpcReduction="10000"/>
          </a:bodyPr>
          <a:lstStyle>
            <a:lvl1pPr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学习HTML新标准</a:t>
            </a:r>
          </a:p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学习 CSS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CSS被用来同时控制多重网页的样式和布局。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通过使用 CSS，所有的格式化均可从 HTML 中剥离出来，并存储于一个独立的文件中。</a:t>
            </a:r>
          </a:p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学习 JavaScript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JavaScript 可以让你的网页更加生动。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如果你只想展示内容，静态网站是很好的展示形象，如果你想与用户进行交换或者让网页更加生动那就需要使用到Javascript。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JavaScript是互联网上最流行的脚本语言，目前所有主流浏览器都支持Javascript。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4AED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D3F4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AF5F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/>
              <a:t>LOREM IPSUM DOLOR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任意多边形 45"/>
          <p:cNvSpPr/>
          <p:nvPr>
            <p:custDataLst>
              <p:tags r:id="rId2"/>
            </p:custDataLst>
          </p:nvPr>
        </p:nvSpPr>
        <p:spPr bwMode="auto">
          <a:xfrm>
            <a:off x="1701357" y="1636872"/>
            <a:ext cx="8794048" cy="3781684"/>
          </a:xfrm>
          <a:custGeom>
            <a:avLst/>
            <a:gdLst>
              <a:gd name="T0" fmla="*/ 0 w 3456384"/>
              <a:gd name="T1" fmla="*/ 3054350 h 3882329"/>
              <a:gd name="T2" fmla="*/ 8794750 w 3456384"/>
              <a:gd name="T3" fmla="*/ 3054350 h 3882329"/>
              <a:gd name="T4" fmla="*/ 0 w 3456384"/>
              <a:gd name="T5" fmla="*/ 3054350 h 3882329"/>
              <a:gd name="T6" fmla="*/ 0 w 3456384"/>
              <a:gd name="T7" fmla="*/ 0 h 3882329"/>
              <a:gd name="T8" fmla="*/ 8794750 w 3456384"/>
              <a:gd name="T9" fmla="*/ 0 h 3882329"/>
              <a:gd name="T10" fmla="*/ 0 w 3456384"/>
              <a:gd name="T11" fmla="*/ 0 h 38823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456384"/>
              <a:gd name="T19" fmla="*/ 0 h 3882329"/>
              <a:gd name="T20" fmla="*/ 3456384 w 3456384"/>
              <a:gd name="T21" fmla="*/ 3882329 h 38823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456384" h="3882329">
                <a:moveTo>
                  <a:pt x="0" y="3882329"/>
                </a:moveTo>
                <a:lnTo>
                  <a:pt x="3456384" y="3882329"/>
                </a:lnTo>
                <a:lnTo>
                  <a:pt x="0" y="3882329"/>
                </a:lnTo>
                <a:close/>
                <a:moveTo>
                  <a:pt x="0" y="0"/>
                </a:moveTo>
                <a:lnTo>
                  <a:pt x="3456384" y="0"/>
                </a:lnTo>
                <a:lnTo>
                  <a:pt x="0" y="0"/>
                </a:lnTo>
                <a:close/>
              </a:path>
            </a:pathLst>
          </a:custGeom>
          <a:noFill/>
          <a:ln w="22225" cmpd="sng">
            <a:solidFill>
              <a:srgbClr val="04AEDA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71981" rIns="0" bIns="71981" anchor="t" anchorCtr="0">
            <a:normAutofit fontScale="75000" lnSpcReduction="20000"/>
          </a:bodyPr>
          <a:lstStyle>
            <a:lvl1pPr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228600" lvl="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 简介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HTML5是HTML最新的修订版本，2014年10月由万维网联盟（W3C）完成标准制定。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HTML5的设计目的是为了在移动设备上支持多媒体。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 简单易学。</a:t>
            </a:r>
          </a:p>
          <a:p>
            <a:pPr marL="228600" lvl="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 的改进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新元素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新属性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完全支持 CSS3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Video 和 Audio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2D/3D 制图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本地存储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本地 SQL 数据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Web 应用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4AED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D3F4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AF5F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/>
              <a:t>HTML5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任意多边形 45"/>
          <p:cNvSpPr/>
          <p:nvPr>
            <p:custDataLst>
              <p:tags r:id="rId2"/>
            </p:custDataLst>
          </p:nvPr>
        </p:nvSpPr>
        <p:spPr bwMode="auto">
          <a:xfrm>
            <a:off x="1701357" y="1636872"/>
            <a:ext cx="8794048" cy="3781684"/>
          </a:xfrm>
          <a:custGeom>
            <a:avLst/>
            <a:gdLst>
              <a:gd name="T0" fmla="*/ 0 w 3456384"/>
              <a:gd name="T1" fmla="*/ 3054350 h 3882329"/>
              <a:gd name="T2" fmla="*/ 8794750 w 3456384"/>
              <a:gd name="T3" fmla="*/ 3054350 h 3882329"/>
              <a:gd name="T4" fmla="*/ 0 w 3456384"/>
              <a:gd name="T5" fmla="*/ 3054350 h 3882329"/>
              <a:gd name="T6" fmla="*/ 0 w 3456384"/>
              <a:gd name="T7" fmla="*/ 0 h 3882329"/>
              <a:gd name="T8" fmla="*/ 8794750 w 3456384"/>
              <a:gd name="T9" fmla="*/ 0 h 3882329"/>
              <a:gd name="T10" fmla="*/ 0 w 3456384"/>
              <a:gd name="T11" fmla="*/ 0 h 38823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456384"/>
              <a:gd name="T19" fmla="*/ 0 h 3882329"/>
              <a:gd name="T20" fmla="*/ 3456384 w 3456384"/>
              <a:gd name="T21" fmla="*/ 3882329 h 38823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456384" h="3882329">
                <a:moveTo>
                  <a:pt x="0" y="3882329"/>
                </a:moveTo>
                <a:lnTo>
                  <a:pt x="3456384" y="3882329"/>
                </a:lnTo>
                <a:lnTo>
                  <a:pt x="0" y="3882329"/>
                </a:lnTo>
                <a:close/>
                <a:moveTo>
                  <a:pt x="0" y="0"/>
                </a:moveTo>
                <a:lnTo>
                  <a:pt x="3456384" y="0"/>
                </a:lnTo>
                <a:lnTo>
                  <a:pt x="0" y="0"/>
                </a:lnTo>
                <a:close/>
              </a:path>
            </a:pathLst>
          </a:custGeom>
          <a:noFill/>
          <a:ln w="22225" cmpd="sng">
            <a:solidFill>
              <a:srgbClr val="04AEDA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71981" rIns="0" bIns="71981" anchor="t" anchorCtr="0">
            <a:normAutofit fontScale="85000" lnSpcReduction="20000"/>
          </a:bodyPr>
          <a:lstStyle>
            <a:lvl1pPr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 多媒体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使用 HTML5 你可以简单的在网页中播放 视频(video)与音频 (audio) 。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 &lt;video&gt;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 &lt;audio&gt;</a:t>
            </a:r>
          </a:p>
          <a:p>
            <a:pPr marL="228600" lvl="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 应用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使用 HTML5 你可以简单地开发应用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本地数据存储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访问本地文件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本地 SQL 数据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缓存引用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Javascript 工作者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XHTMLHttpRequest 2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4AED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D3F4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AF5F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/>
              <a:t>LOREM IPSUM DOLOR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任意多边形 45"/>
          <p:cNvSpPr/>
          <p:nvPr>
            <p:custDataLst>
              <p:tags r:id="rId2"/>
            </p:custDataLst>
          </p:nvPr>
        </p:nvSpPr>
        <p:spPr bwMode="auto">
          <a:xfrm>
            <a:off x="1701357" y="1636872"/>
            <a:ext cx="8794048" cy="3781684"/>
          </a:xfrm>
          <a:custGeom>
            <a:avLst/>
            <a:gdLst>
              <a:gd name="T0" fmla="*/ 0 w 3456384"/>
              <a:gd name="T1" fmla="*/ 3054350 h 3882329"/>
              <a:gd name="T2" fmla="*/ 8794750 w 3456384"/>
              <a:gd name="T3" fmla="*/ 3054350 h 3882329"/>
              <a:gd name="T4" fmla="*/ 0 w 3456384"/>
              <a:gd name="T5" fmla="*/ 3054350 h 3882329"/>
              <a:gd name="T6" fmla="*/ 0 w 3456384"/>
              <a:gd name="T7" fmla="*/ 0 h 3882329"/>
              <a:gd name="T8" fmla="*/ 8794750 w 3456384"/>
              <a:gd name="T9" fmla="*/ 0 h 3882329"/>
              <a:gd name="T10" fmla="*/ 0 w 3456384"/>
              <a:gd name="T11" fmla="*/ 0 h 38823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456384"/>
              <a:gd name="T19" fmla="*/ 0 h 3882329"/>
              <a:gd name="T20" fmla="*/ 3456384 w 3456384"/>
              <a:gd name="T21" fmla="*/ 3882329 h 38823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456384" h="3882329">
                <a:moveTo>
                  <a:pt x="0" y="3882329"/>
                </a:moveTo>
                <a:lnTo>
                  <a:pt x="3456384" y="3882329"/>
                </a:lnTo>
                <a:lnTo>
                  <a:pt x="0" y="3882329"/>
                </a:lnTo>
                <a:close/>
                <a:moveTo>
                  <a:pt x="0" y="0"/>
                </a:moveTo>
                <a:lnTo>
                  <a:pt x="3456384" y="0"/>
                </a:lnTo>
                <a:lnTo>
                  <a:pt x="0" y="0"/>
                </a:lnTo>
                <a:close/>
              </a:path>
            </a:pathLst>
          </a:custGeom>
          <a:noFill/>
          <a:ln w="22225" cmpd="sng">
            <a:solidFill>
              <a:srgbClr val="04AEDA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71981" rIns="0" bIns="71981" anchor="t" anchorCtr="0">
            <a:normAutofit fontScale="75000" lnSpcReduction="20000"/>
          </a:bodyPr>
          <a:lstStyle>
            <a:lvl1pPr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 图形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使用 HTML5 你可以简单的绘制图形: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使用 &lt;canvas&gt; 元素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使用内联 SVG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使用 CSS3 2D/3D</a:t>
            </a:r>
          </a:p>
          <a:p>
            <a:pPr marL="228600" lvl="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HTML5 使用 CSS3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新选择器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新属性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动画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2D/3D 转换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圆角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阴影效果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可下载的字体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4AED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D3F4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AF5F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/>
              <a:t>LOREM IPSUM DOLOR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任意多边形 45"/>
          <p:cNvSpPr/>
          <p:nvPr>
            <p:custDataLst>
              <p:tags r:id="rId2"/>
            </p:custDataLst>
          </p:nvPr>
        </p:nvSpPr>
        <p:spPr bwMode="auto">
          <a:xfrm>
            <a:off x="1701357" y="1636872"/>
            <a:ext cx="8794048" cy="3781684"/>
          </a:xfrm>
          <a:custGeom>
            <a:avLst/>
            <a:gdLst>
              <a:gd name="T0" fmla="*/ 0 w 3456384"/>
              <a:gd name="T1" fmla="*/ 3054350 h 3882329"/>
              <a:gd name="T2" fmla="*/ 8794750 w 3456384"/>
              <a:gd name="T3" fmla="*/ 3054350 h 3882329"/>
              <a:gd name="T4" fmla="*/ 0 w 3456384"/>
              <a:gd name="T5" fmla="*/ 3054350 h 3882329"/>
              <a:gd name="T6" fmla="*/ 0 w 3456384"/>
              <a:gd name="T7" fmla="*/ 0 h 3882329"/>
              <a:gd name="T8" fmla="*/ 8794750 w 3456384"/>
              <a:gd name="T9" fmla="*/ 0 h 3882329"/>
              <a:gd name="T10" fmla="*/ 0 w 3456384"/>
              <a:gd name="T11" fmla="*/ 0 h 38823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456384"/>
              <a:gd name="T19" fmla="*/ 0 h 3882329"/>
              <a:gd name="T20" fmla="*/ 3456384 w 3456384"/>
              <a:gd name="T21" fmla="*/ 3882329 h 38823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456384" h="3882329">
                <a:moveTo>
                  <a:pt x="0" y="3882329"/>
                </a:moveTo>
                <a:lnTo>
                  <a:pt x="3456384" y="3882329"/>
                </a:lnTo>
                <a:lnTo>
                  <a:pt x="0" y="3882329"/>
                </a:lnTo>
                <a:close/>
                <a:moveTo>
                  <a:pt x="0" y="0"/>
                </a:moveTo>
                <a:lnTo>
                  <a:pt x="3456384" y="0"/>
                </a:lnTo>
                <a:lnTo>
                  <a:pt x="0" y="0"/>
                </a:lnTo>
                <a:close/>
              </a:path>
            </a:pathLst>
          </a:custGeom>
          <a:noFill/>
          <a:ln w="22225" cmpd="sng">
            <a:solidFill>
              <a:srgbClr val="04AEDA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71981" rIns="0" bIns="71981" anchor="t" anchorCtr="0">
            <a:normAutofit/>
          </a:bodyPr>
          <a:lstStyle>
            <a:lvl1pPr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注意：以往html开发中的一些方法已经被废弃。例如：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&lt;font&gt;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&lt;frame&gt;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&lt;frameset&gt;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4AED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D3F4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AF5F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/>
              <a:t>LOREM IPSUM DOLOR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任意多边形 45"/>
          <p:cNvSpPr/>
          <p:nvPr>
            <p:custDataLst>
              <p:tags r:id="rId2"/>
            </p:custDataLst>
          </p:nvPr>
        </p:nvSpPr>
        <p:spPr bwMode="auto">
          <a:xfrm>
            <a:off x="1701357" y="1636872"/>
            <a:ext cx="8794048" cy="3781684"/>
          </a:xfrm>
          <a:custGeom>
            <a:avLst/>
            <a:gdLst>
              <a:gd name="T0" fmla="*/ 0 w 3456384"/>
              <a:gd name="T1" fmla="*/ 3054350 h 3882329"/>
              <a:gd name="T2" fmla="*/ 8794750 w 3456384"/>
              <a:gd name="T3" fmla="*/ 3054350 h 3882329"/>
              <a:gd name="T4" fmla="*/ 0 w 3456384"/>
              <a:gd name="T5" fmla="*/ 3054350 h 3882329"/>
              <a:gd name="T6" fmla="*/ 0 w 3456384"/>
              <a:gd name="T7" fmla="*/ 0 h 3882329"/>
              <a:gd name="T8" fmla="*/ 8794750 w 3456384"/>
              <a:gd name="T9" fmla="*/ 0 h 3882329"/>
              <a:gd name="T10" fmla="*/ 0 w 3456384"/>
              <a:gd name="T11" fmla="*/ 0 h 38823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456384"/>
              <a:gd name="T19" fmla="*/ 0 h 3882329"/>
              <a:gd name="T20" fmla="*/ 3456384 w 3456384"/>
              <a:gd name="T21" fmla="*/ 3882329 h 38823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456384" h="3882329">
                <a:moveTo>
                  <a:pt x="0" y="3882329"/>
                </a:moveTo>
                <a:lnTo>
                  <a:pt x="3456384" y="3882329"/>
                </a:lnTo>
                <a:lnTo>
                  <a:pt x="0" y="3882329"/>
                </a:lnTo>
                <a:close/>
                <a:moveTo>
                  <a:pt x="0" y="0"/>
                </a:moveTo>
                <a:lnTo>
                  <a:pt x="3456384" y="0"/>
                </a:lnTo>
                <a:lnTo>
                  <a:pt x="0" y="0"/>
                </a:lnTo>
                <a:close/>
              </a:path>
            </a:pathLst>
          </a:custGeom>
          <a:noFill/>
          <a:ln w="22225" cmpd="sng">
            <a:solidFill>
              <a:srgbClr val="04AEDA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71981" rIns="0" bIns="71981" anchor="t" anchorCtr="0">
            <a:normAutofit/>
          </a:bodyPr>
          <a:lstStyle>
            <a:lvl1pPr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CSS 指层叠样式表 (Cascading Style Sheets)</a:t>
            </a:r>
          </a:p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样式定义如何显示 HTML 元素</a:t>
            </a:r>
          </a:p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样式通常存储在样式表中</a:t>
            </a:r>
          </a:p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把样式添加到 HTML 4.0 中，是为了解决内容与表现分离的问题</a:t>
            </a:r>
          </a:p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外部样式表可以极大提高工作效率</a:t>
            </a:r>
          </a:p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外部样式表通常存储在 CSS 文件中</a:t>
            </a:r>
          </a:p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多个样式定义可层叠为一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4AED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D3F4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AF5F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/>
              <a:t>CSS 简介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zh-CN">
                <a:solidFill>
                  <a:srgbClr val="04AEDA"/>
                </a:solidFill>
                <a:cs typeface="+mn-ea"/>
                <a:sym typeface="+mn-ea"/>
              </a:rPr>
              <a:t>CSS 语法</a:t>
            </a:r>
            <a:r>
              <a:rPr lang="da-DK" altLang="zh-CN">
                <a:solidFill>
                  <a:srgbClr val="04AEDA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  <a:t/>
            </a:r>
            <a:br>
              <a:rPr lang="da-DK" altLang="zh-CN">
                <a:solidFill>
                  <a:srgbClr val="04AEDA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rPr>
            </a:b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1010920" y="1173480"/>
            <a:ext cx="8945880" cy="4284345"/>
          </a:xfrm>
        </p:spPr>
        <p:txBody>
          <a:bodyPr/>
          <a:lstStyle/>
          <a:p>
            <a:pPr marL="228600" indent="-2286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sym typeface="+mn-ea"/>
              </a:rPr>
              <a:t>CSS 规则由两个主要的部分构成：选择器，以及一条或多条声明:</a:t>
            </a:r>
            <a:endParaRPr lang="en-US" altLang="zh-CN" sz="1600" dirty="0" err="1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</a:pPr>
            <a:endParaRPr lang="en-US" altLang="zh-CN" sz="1400" dirty="0" err="1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</a:pPr>
            <a:endParaRPr lang="en-US" altLang="zh-CN" sz="1200" dirty="0" err="1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</a:pPr>
            <a:endParaRPr lang="en-US" altLang="zh-CN" sz="1000" dirty="0" err="1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sym typeface="+mn-ea"/>
              </a:rPr>
              <a:t>选择器通常是您需要改变样式的 HTML 元素。</a:t>
            </a:r>
            <a:endParaRPr lang="en-US" altLang="zh-CN" sz="1600" dirty="0" err="1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sym typeface="+mn-ea"/>
              </a:rPr>
              <a:t>每条声明由一个属性和一个值组成。</a:t>
            </a:r>
            <a:endParaRPr lang="en-US" altLang="zh-CN" sz="1600" dirty="0" err="1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sym typeface="+mn-ea"/>
              </a:rPr>
              <a:t>属性（property）是您希望设置的样式属性（style attribute）。每个属性有一个值。属性和值被冒号分开</a:t>
            </a:r>
            <a:endParaRPr lang="en-US" altLang="zh-CN" sz="1600" dirty="0" err="1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pPr marL="228600" indent="-22860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sym typeface="+mn-ea"/>
              </a:rPr>
              <a:t>CSS声明总是以分号(;)结束，声明组以大括号({})括起来:</a:t>
            </a:r>
            <a:endParaRPr lang="en-US" altLang="zh-CN" sz="1600" dirty="0" err="1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  <a:p>
            <a:endParaRPr lang="en-US" altLang="zh-CN" sz="1600" dirty="0" err="1">
              <a:latin typeface="Arial" panose="020B0604020202020204" pitchFamily="34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3794" name="任意多边形 8"/>
          <p:cNvSpPr/>
          <p:nvPr>
            <p:custDataLst>
              <p:tags r:id="rId2"/>
            </p:custDataLst>
          </p:nvPr>
        </p:nvSpPr>
        <p:spPr bwMode="auto">
          <a:xfrm>
            <a:off x="1744980" y="1714500"/>
            <a:ext cx="5434330" cy="1231900"/>
          </a:xfrm>
          <a:custGeom>
            <a:avLst/>
            <a:gdLst>
              <a:gd name="T0" fmla="*/ 0 w 9144000"/>
              <a:gd name="T1" fmla="*/ 0 h 3789040"/>
              <a:gd name="T2" fmla="*/ 9144000 w 9144000"/>
              <a:gd name="T3" fmla="*/ 0 h 3789040"/>
              <a:gd name="T4" fmla="*/ 9144000 w 9144000"/>
              <a:gd name="T5" fmla="*/ 3789040 h 3789040"/>
              <a:gd name="T6" fmla="*/ 8100519 w 9144000"/>
              <a:gd name="T7" fmla="*/ 3789040 h 3789040"/>
              <a:gd name="T8" fmla="*/ 6904850 w 9144000"/>
              <a:gd name="T9" fmla="*/ 2789312 h 3789040"/>
              <a:gd name="T10" fmla="*/ 2265806 w 9144000"/>
              <a:gd name="T11" fmla="*/ 2789312 h 3789040"/>
              <a:gd name="T12" fmla="*/ 1055903 w 9144000"/>
              <a:gd name="T13" fmla="*/ 3789040 h 3789040"/>
              <a:gd name="T14" fmla="*/ 0 w 9144000"/>
              <a:gd name="T15" fmla="*/ 3789040 h 3789040"/>
              <a:gd name="T16" fmla="*/ 0 w 9144000"/>
              <a:gd name="T17" fmla="*/ 0 h 3789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144000" h="3789040">
                <a:moveTo>
                  <a:pt x="0" y="0"/>
                </a:moveTo>
                <a:lnTo>
                  <a:pt x="9144000" y="0"/>
                </a:lnTo>
                <a:lnTo>
                  <a:pt x="9144000" y="3789040"/>
                </a:lnTo>
                <a:lnTo>
                  <a:pt x="8100519" y="3789040"/>
                </a:lnTo>
                <a:lnTo>
                  <a:pt x="6904850" y="2789312"/>
                </a:lnTo>
                <a:lnTo>
                  <a:pt x="2265806" y="2789312"/>
                </a:lnTo>
                <a:lnTo>
                  <a:pt x="1055903" y="3789040"/>
                </a:lnTo>
                <a:lnTo>
                  <a:pt x="0" y="378904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square" anchor="ctr">
            <a:normAutofit/>
          </a:bodyPr>
          <a:lstStyle/>
          <a:p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CSS 实例</a:t>
            </a:r>
            <a:endParaRPr lang="zh-CN" altLang="en-US"/>
          </a:p>
          <a:p>
            <a:pPr lvl="1"/>
            <a:r>
              <a:rPr lang="zh-CN" altLang="en-US"/>
              <a:t>p {color:red;text-align:center;}</a:t>
            </a:r>
          </a:p>
          <a:p>
            <a:r>
              <a:rPr lang="en-US" altLang="zh-CN"/>
              <a:t>(</a:t>
            </a:r>
            <a:r>
              <a:rPr lang="zh-CN" altLang="en-US"/>
              <a:t>演示</a:t>
            </a:r>
            <a:r>
              <a:rPr lang="en-US" altLang="zh-CN"/>
              <a:t>)</a:t>
            </a:r>
          </a:p>
          <a:p>
            <a:r>
              <a:rPr lang="en-US" altLang="zh-CN"/>
              <a:t>CSS 注释</a:t>
            </a: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11885" y="2992120"/>
            <a:ext cx="7954010" cy="22885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/*这是个注释*/</a:t>
            </a:r>
          </a:p>
          <a:p>
            <a:r>
              <a:rPr lang="zh-CN" altLang="en-US"/>
              <a:t>p</a:t>
            </a:r>
          </a:p>
          <a:p>
            <a:r>
              <a:rPr lang="zh-CN" altLang="en-US"/>
              <a:t>{</a:t>
            </a:r>
          </a:p>
          <a:p>
            <a:r>
              <a:rPr lang="zh-CN" altLang="en-US"/>
              <a:t>text-align:center;</a:t>
            </a:r>
          </a:p>
          <a:p>
            <a:r>
              <a:rPr lang="zh-CN" altLang="en-US"/>
              <a:t>/*这是另一个注释*/</a:t>
            </a:r>
          </a:p>
          <a:p>
            <a:r>
              <a:rPr lang="zh-CN" altLang="en-US"/>
              <a:t>color:black;</a:t>
            </a:r>
          </a:p>
          <a:p>
            <a:r>
              <a:rPr lang="zh-CN" altLang="en-US"/>
              <a:t>font-family:arial;</a:t>
            </a:r>
          </a:p>
          <a:p>
            <a:r>
              <a:rPr lang="zh-CN" altLang="en-US"/>
              <a:t>}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任意多边形 45"/>
          <p:cNvSpPr/>
          <p:nvPr>
            <p:custDataLst>
              <p:tags r:id="rId2"/>
            </p:custDataLst>
          </p:nvPr>
        </p:nvSpPr>
        <p:spPr bwMode="auto">
          <a:xfrm>
            <a:off x="1701357" y="1636872"/>
            <a:ext cx="8794048" cy="3781684"/>
          </a:xfrm>
          <a:custGeom>
            <a:avLst/>
            <a:gdLst>
              <a:gd name="T0" fmla="*/ 0 w 3456384"/>
              <a:gd name="T1" fmla="*/ 3054350 h 3882329"/>
              <a:gd name="T2" fmla="*/ 8794750 w 3456384"/>
              <a:gd name="T3" fmla="*/ 3054350 h 3882329"/>
              <a:gd name="T4" fmla="*/ 0 w 3456384"/>
              <a:gd name="T5" fmla="*/ 3054350 h 3882329"/>
              <a:gd name="T6" fmla="*/ 0 w 3456384"/>
              <a:gd name="T7" fmla="*/ 0 h 3882329"/>
              <a:gd name="T8" fmla="*/ 8794750 w 3456384"/>
              <a:gd name="T9" fmla="*/ 0 h 3882329"/>
              <a:gd name="T10" fmla="*/ 0 w 3456384"/>
              <a:gd name="T11" fmla="*/ 0 h 38823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456384"/>
              <a:gd name="T19" fmla="*/ 0 h 3882329"/>
              <a:gd name="T20" fmla="*/ 3456384 w 3456384"/>
              <a:gd name="T21" fmla="*/ 3882329 h 38823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456384" h="3882329">
                <a:moveTo>
                  <a:pt x="0" y="3882329"/>
                </a:moveTo>
                <a:lnTo>
                  <a:pt x="3456384" y="3882329"/>
                </a:lnTo>
                <a:lnTo>
                  <a:pt x="0" y="3882329"/>
                </a:lnTo>
                <a:close/>
                <a:moveTo>
                  <a:pt x="0" y="0"/>
                </a:moveTo>
                <a:lnTo>
                  <a:pt x="3456384" y="0"/>
                </a:lnTo>
                <a:lnTo>
                  <a:pt x="0" y="0"/>
                </a:lnTo>
                <a:close/>
              </a:path>
            </a:pathLst>
          </a:custGeom>
          <a:noFill/>
          <a:ln w="22225" cmpd="sng">
            <a:solidFill>
              <a:srgbClr val="04AEDA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71981" rIns="0" bIns="71981" anchor="t" anchorCtr="0">
            <a:normAutofit lnSpcReduction="10000"/>
          </a:bodyPr>
          <a:lstStyle>
            <a:lvl1pPr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id 选择器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id 选择器可以为标有特定 id 的 HTML 元素指定特定的样式。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HTML元素以id属性来设置id选择器,CSS 中 id 选择器以 "#" 来定义。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#para1{text-align:center;color:red;}</a:t>
            </a:r>
          </a:p>
          <a:p>
            <a:pPr marL="228600" lvl="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class 选择器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class 选择器用于描述一组元素的样式，class 选择器有别于id选择器，class可以在多个元素中使用。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.center {text-align:center;}</a:t>
            </a:r>
          </a:p>
          <a:p>
            <a:pPr marL="228600" lvl="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选择器组合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sz="1800" dirty="0" err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4AED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D3F4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AF5F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/>
              <a:t>CSS选择器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CSS 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如何插入样式表</a:t>
            </a:r>
          </a:p>
          <a:p>
            <a:pPr lvl="1"/>
            <a:r>
              <a:rPr lang="zh-CN" altLang="en-US"/>
              <a:t>外部样式表</a:t>
            </a:r>
          </a:p>
          <a:p>
            <a:pPr lvl="1"/>
            <a:r>
              <a:rPr lang="zh-CN" altLang="en-US"/>
              <a:t>内部样式表</a:t>
            </a:r>
          </a:p>
          <a:p>
            <a:pPr lvl="1"/>
            <a:r>
              <a:rPr lang="zh-CN" altLang="en-US"/>
              <a:t>内联样式</a:t>
            </a:r>
          </a:p>
          <a:p>
            <a:pPr lvl="0"/>
            <a:r>
              <a:rPr lang="zh-CN" altLang="en-US"/>
              <a:t>外部样式表</a:t>
            </a:r>
          </a:p>
          <a:p>
            <a:pPr lvl="0"/>
            <a:endParaRPr lang="zh-CN" altLang="en-US"/>
          </a:p>
          <a:p>
            <a:pPr lvl="0"/>
            <a:endParaRPr lang="zh-CN" altLang="en-US"/>
          </a:p>
          <a:p>
            <a:pPr lvl="0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77290" y="3449320"/>
            <a:ext cx="6759575" cy="9169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&lt;head&gt;</a:t>
            </a:r>
          </a:p>
          <a:p>
            <a:r>
              <a:rPr lang="zh-CN" altLang="en-US"/>
              <a:t>&lt;link rel="stylesheet" type="text/css" href="mystyle.css"&gt;</a:t>
            </a:r>
          </a:p>
          <a:p>
            <a:r>
              <a:rPr lang="zh-CN" altLang="en-US"/>
              <a:t>&lt;/head&gt;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内部样式表</a:t>
            </a: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96035" y="1793240"/>
            <a:ext cx="7485380" cy="2014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&lt;head&gt;</a:t>
            </a:r>
          </a:p>
          <a:p>
            <a:r>
              <a:rPr lang="zh-CN" altLang="en-US"/>
              <a:t>&lt;style&gt;</a:t>
            </a:r>
          </a:p>
          <a:p>
            <a:r>
              <a:rPr lang="zh-CN" altLang="en-US"/>
              <a:t>hr {color:sienna;}</a:t>
            </a:r>
          </a:p>
          <a:p>
            <a:r>
              <a:rPr lang="zh-CN" altLang="en-US"/>
              <a:t>p {margin-left:20px;}</a:t>
            </a:r>
          </a:p>
          <a:p>
            <a:r>
              <a:rPr lang="zh-CN" altLang="en-US"/>
              <a:t>body {background-image:url("images/back40.gif");}</a:t>
            </a:r>
          </a:p>
          <a:p>
            <a:r>
              <a:rPr lang="zh-CN" altLang="en-US"/>
              <a:t>&lt;/style&gt;</a:t>
            </a:r>
          </a:p>
          <a:p>
            <a:r>
              <a:rPr lang="zh-CN" altLang="en-US"/>
              <a:t>&lt;/head&gt;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内联样式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多重样式将层叠为一个</a:t>
            </a:r>
          </a:p>
          <a:p>
            <a:pPr lvl="1"/>
            <a:r>
              <a:rPr lang="zh-CN" altLang="en-US"/>
              <a:t>当同一个 HTML 元素被不止一个样式定义时，会使用哪个样式呢？</a:t>
            </a:r>
          </a:p>
          <a:p>
            <a:pPr lvl="1"/>
            <a:r>
              <a:rPr lang="zh-CN" altLang="en-US"/>
              <a:t>一般而言，所有的样式会根据下面的规则层叠于一个新的虚拟样式表中，其中数字 4 拥有最高的优先权。</a:t>
            </a:r>
          </a:p>
          <a:p>
            <a:pPr lvl="1"/>
            <a:r>
              <a:rPr lang="en-US" altLang="zh-CN"/>
              <a:t>1.</a:t>
            </a:r>
            <a:r>
              <a:rPr lang="zh-CN" altLang="en-US"/>
              <a:t>浏览器缺省设置</a:t>
            </a:r>
          </a:p>
          <a:p>
            <a:pPr lvl="1"/>
            <a:r>
              <a:rPr lang="en-US" altLang="zh-CN"/>
              <a:t>2.</a:t>
            </a:r>
            <a:r>
              <a:rPr lang="zh-CN" altLang="en-US"/>
              <a:t>外部样式表</a:t>
            </a:r>
          </a:p>
          <a:p>
            <a:pPr lvl="1"/>
            <a:r>
              <a:rPr lang="en-US" altLang="zh-CN"/>
              <a:t>3.</a:t>
            </a:r>
            <a:r>
              <a:rPr lang="zh-CN" altLang="en-US"/>
              <a:t>内部样式表（位于 &lt;head&gt; 标签内部）</a:t>
            </a:r>
          </a:p>
          <a:p>
            <a:pPr lvl="1"/>
            <a:r>
              <a:rPr lang="en-US" altLang="zh-CN"/>
              <a:t>4.</a:t>
            </a:r>
            <a:r>
              <a:rPr lang="zh-CN" altLang="en-US"/>
              <a:t>内联样式（在 HTML 元素内部）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51890" y="1761490"/>
            <a:ext cx="7399655" cy="3683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&lt;p style="color:sienna;margin-left:20px"&gt;This is a paragraph.&lt;/p&gt;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kern="1200"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da-DK" altLang="zh-CN" dirty="0">
                <a:latin typeface="Arial" panose="020B0604020202020204" pitchFamily="34" charset="0"/>
                <a:ea typeface="黑体" panose="02010609060101010101" pitchFamily="49" charset="-122"/>
              </a:rPr>
              <a:t>CSS 背景</a:t>
            </a:r>
          </a:p>
        </p:txBody>
      </p:sp>
      <p:sp>
        <p:nvSpPr>
          <p:cNvPr id="5123" name="Rectangle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5313" y="1125537"/>
            <a:ext cx="10973117" cy="48958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ts val="300"/>
              </a:spcAft>
              <a:buChar char="•"/>
              <a:defRPr sz="2400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marL="356870" indent="-285750" algn="l" rtl="0" eaLnBrk="1" fontAlgn="base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 "/>
              <a:defRPr sz="2000" kern="1200" baseline="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2pPr>
            <a:lvl3pPr marL="720090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•"/>
              <a:defRPr sz="20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3pPr>
            <a:lvl4pPr marL="1080135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–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4pPr>
            <a:lvl5pPr marL="1440180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»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5pPr>
            <a:lvl6pPr marL="1800225" indent="-228600" algn="l" defTabSz="913765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6pPr>
            <a:lvl7pPr marL="2971165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9pPr>
          </a:lstStyle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CSS 背景属性用于定义HTML元素的背景。</a:t>
            </a:r>
          </a:p>
          <a:p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123950" y="1658620"/>
          <a:ext cx="853313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7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简写属性，作用是将背景属性设置在一个声明中。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background-attachment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背景图像是否固定或者随着页面的其余部分滚动。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background-color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设置元素的背景颜色。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background-image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把图像设置为背景。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background-position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设置背景图像的起始位置。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background-repeat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设置背景图像是否及如何重复。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CSS</a:t>
            </a:r>
            <a:r>
              <a:rPr lang="zh-CN" altLang="zh-CN"/>
              <a:t>背景实例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背景图像 - 水平或垂直平铺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背景颜色 </a:t>
            </a: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61085" y="1700530"/>
            <a:ext cx="7018020" cy="1463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body</a:t>
            </a:r>
          </a:p>
          <a:p>
            <a:r>
              <a:rPr lang="zh-CN" altLang="en-US"/>
              <a:t>{</a:t>
            </a:r>
          </a:p>
          <a:p>
            <a:r>
              <a:rPr lang="zh-CN" altLang="en-US"/>
              <a:t>background-image:url('gradient2.png');</a:t>
            </a:r>
          </a:p>
          <a:p>
            <a:r>
              <a:rPr lang="zh-CN" altLang="en-US"/>
              <a:t>background-repeat:repeat-x;</a:t>
            </a:r>
          </a:p>
          <a:p>
            <a:r>
              <a:rPr lang="zh-CN" altLang="en-US"/>
              <a:t>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90295" y="3823970"/>
            <a:ext cx="696912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h1 {background-color:#6495ed;}</a:t>
            </a:r>
          </a:p>
          <a:p>
            <a:r>
              <a:rPr lang="zh-CN" altLang="en-US"/>
              <a:t>p {background-color:#e0ffff;}</a:t>
            </a:r>
          </a:p>
          <a:p>
            <a:r>
              <a:rPr lang="zh-CN" altLang="en-US"/>
              <a:t>div {background-color:#b0c4de;}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kern="1200"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da-DK" altLang="zh-CN" dirty="0">
                <a:latin typeface="Arial" panose="020B0604020202020204" pitchFamily="34" charset="0"/>
                <a:ea typeface="黑体" panose="02010609060101010101" pitchFamily="49" charset="-122"/>
              </a:rPr>
              <a:t>CSS 文本格式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1384935" y="915670"/>
          <a:ext cx="8533130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9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属性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设置文本颜色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设置文本方向。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letter-spacing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设置字符间距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line-height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设置行高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text-align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对齐元素中的文本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text-decoration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向文本添加修饰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text-indent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缩进元素中文本的首行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text-shadow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设置文本阴影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text-transform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控制元素中的字母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unicode-bidi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设置或返回文本是否被重写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vertical-align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设置元素的垂直对齐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white-space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设置元素中空白的处理方式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word-spacing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设置字间距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zh-CN" dirty="0">
                <a:sym typeface="+mn-ea"/>
              </a:rPr>
              <a:t>CSS 文本</a:t>
            </a:r>
            <a:r>
              <a:rPr lang="zh-CN" altLang="da-DK" dirty="0">
                <a:sym typeface="+mn-ea"/>
              </a:rPr>
              <a:t>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设置文本颜色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文本修饰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文本转换</a:t>
            </a:r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04900" y="1652905"/>
            <a:ext cx="880935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body {color:blue;}</a:t>
            </a:r>
          </a:p>
          <a:p>
            <a:r>
              <a:rPr lang="zh-CN" altLang="en-US"/>
              <a:t>h1 {color:#00ff00;}</a:t>
            </a:r>
          </a:p>
          <a:p>
            <a:r>
              <a:rPr lang="zh-CN" altLang="en-US"/>
              <a:t>h2 {color:rgb(255,0,0);}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88390" y="3378835"/>
            <a:ext cx="875855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h1 {text-decoration:overline;}</a:t>
            </a:r>
          </a:p>
          <a:p>
            <a:r>
              <a:rPr lang="zh-CN" altLang="en-US"/>
              <a:t>h2 {text-decoration:line-through;}</a:t>
            </a:r>
          </a:p>
          <a:p>
            <a:r>
              <a:rPr lang="zh-CN" altLang="en-US"/>
              <a:t>h3 {text-decoration:underline;}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04900" y="5121275"/>
            <a:ext cx="860806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p.uppercase {text-transform:uppercase;}</a:t>
            </a:r>
          </a:p>
          <a:p>
            <a:r>
              <a:rPr lang="zh-CN" altLang="en-US"/>
              <a:t>p.lowercase {text-transform:lowercase;}</a:t>
            </a:r>
          </a:p>
          <a:p>
            <a:r>
              <a:rPr lang="zh-CN" altLang="en-US"/>
              <a:t>p.capitalize {text-transform:capitalize;}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CSS字体属性定义字体，加粗，大小，文字样式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kern="1200"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da-DK" altLang="zh-CN" dirty="0">
                <a:latin typeface="Arial" panose="020B0604020202020204" pitchFamily="34" charset="0"/>
                <a:ea typeface="黑体" panose="02010609060101010101" pitchFamily="49" charset="-122"/>
              </a:rPr>
              <a:t>CSS 字体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1577340" y="1811020"/>
          <a:ext cx="853313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6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font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在一个声明中设置所有的字体属性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font-family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指定文本的字体系列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font-size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指定文本的字体大小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font-style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指定文本的字体样式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font-variant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以小型大写字体或者正常字体显示文本。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font-weight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指定字体的粗细。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altLang="zh-CN" dirty="0">
                <a:sym typeface="+mn-ea"/>
              </a:rPr>
              <a:t>CSS </a:t>
            </a:r>
            <a:r>
              <a:rPr lang="zh-CN" altLang="zh-CN" dirty="0">
                <a:sym typeface="+mn-ea"/>
              </a:rPr>
              <a:t>字体</a:t>
            </a:r>
            <a:r>
              <a:rPr lang="zh-CN" altLang="da-DK" dirty="0">
                <a:sym typeface="+mn-ea"/>
              </a:rPr>
              <a:t>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字体系列</a:t>
            </a:r>
          </a:p>
          <a:p>
            <a:endParaRPr lang="zh-CN" altLang="en-US"/>
          </a:p>
          <a:p>
            <a:r>
              <a:rPr lang="zh-CN" altLang="en-US"/>
              <a:t>字体样式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字体大小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04900" y="1619885"/>
            <a:ext cx="8809355" cy="365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p{font-family:"Times New Roman", Times, serif;}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88390" y="2437765"/>
            <a:ext cx="875855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p.normal {font-style:normal;}</a:t>
            </a:r>
          </a:p>
          <a:p>
            <a:r>
              <a:rPr lang="zh-CN" altLang="en-US"/>
              <a:t>p.italic {font-style:italic;}</a:t>
            </a:r>
          </a:p>
          <a:p>
            <a:r>
              <a:rPr lang="zh-CN" altLang="en-US"/>
              <a:t>p.oblique {font-style:oblique;}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88390" y="3816985"/>
            <a:ext cx="860806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h1 {font-size:40px;}</a:t>
            </a:r>
          </a:p>
          <a:p>
            <a:r>
              <a:rPr lang="zh-CN" altLang="en-US"/>
              <a:t>h2 {font-size:30px;}</a:t>
            </a:r>
          </a:p>
          <a:p>
            <a:r>
              <a:rPr lang="zh-CN" altLang="en-US"/>
              <a:t>p {font-size:14px;}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kern="1200"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da-DK" altLang="zh-CN" dirty="0">
                <a:latin typeface="Arial" panose="020B0604020202020204" pitchFamily="34" charset="0"/>
                <a:ea typeface="黑体" panose="02010609060101010101" pitchFamily="49" charset="-122"/>
              </a:rPr>
              <a:t>CSS 边框</a:t>
            </a:r>
          </a:p>
        </p:txBody>
      </p:sp>
      <p:sp>
        <p:nvSpPr>
          <p:cNvPr id="5123" name="Rectangle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5313" y="1125537"/>
            <a:ext cx="10973117" cy="48958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ts val="300"/>
              </a:spcAft>
              <a:buChar char="•"/>
              <a:defRPr sz="2400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marL="356870" indent="-285750" algn="l" rtl="0" eaLnBrk="1" fontAlgn="base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 "/>
              <a:defRPr sz="2000" kern="1200" baseline="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2pPr>
            <a:lvl3pPr marL="720090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•"/>
              <a:defRPr sz="20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3pPr>
            <a:lvl4pPr marL="1080135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–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4pPr>
            <a:lvl5pPr marL="1440180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»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5pPr>
            <a:lvl6pPr marL="1800225" indent="-228600" algn="l" defTabSz="913765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6pPr>
            <a:lvl7pPr marL="2971165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9pPr>
          </a:lstStyle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边框样式属性指定要</a:t>
            </a:r>
          </a:p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显示什么样的边界。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095" y="260350"/>
            <a:ext cx="6715125" cy="60559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CSS</a:t>
            </a:r>
            <a:r>
              <a:rPr lang="zh-CN" altLang="en-US"/>
              <a:t>边框实例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边框颜色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边框-单独设置各边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35095" y="1125220"/>
            <a:ext cx="7301865" cy="28346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p.one</a:t>
            </a:r>
          </a:p>
          <a:p>
            <a:r>
              <a:rPr lang="zh-CN" altLang="en-US"/>
              <a:t>{</a:t>
            </a:r>
          </a:p>
          <a:p>
            <a:r>
              <a:rPr lang="zh-CN" altLang="en-US"/>
              <a:t>  border-style:solid;</a:t>
            </a:r>
          </a:p>
          <a:p>
            <a:r>
              <a:rPr lang="zh-CN" altLang="en-US"/>
              <a:t>  border-color:red;</a:t>
            </a:r>
          </a:p>
          <a:p>
            <a:r>
              <a:rPr lang="zh-CN" altLang="en-US"/>
              <a:t>}</a:t>
            </a:r>
          </a:p>
          <a:p>
            <a:r>
              <a:rPr lang="zh-CN" altLang="en-US"/>
              <a:t>p.two</a:t>
            </a:r>
          </a:p>
          <a:p>
            <a:r>
              <a:rPr lang="zh-CN" altLang="en-US"/>
              <a:t>{</a:t>
            </a:r>
          </a:p>
          <a:p>
            <a:r>
              <a:rPr lang="zh-CN" altLang="en-US"/>
              <a:t>  border-style:solid;</a:t>
            </a:r>
          </a:p>
          <a:p>
            <a:r>
              <a:rPr lang="zh-CN" altLang="en-US"/>
              <a:t>  border-color:#98bf21;</a:t>
            </a:r>
          </a:p>
          <a:p>
            <a:r>
              <a:rPr lang="zh-CN" altLang="en-US"/>
              <a:t>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35095" y="4299585"/>
            <a:ext cx="7301865" cy="2011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p</a:t>
            </a:r>
          </a:p>
          <a:p>
            <a:r>
              <a:rPr lang="zh-CN" altLang="en-US"/>
              <a:t>{</a:t>
            </a:r>
          </a:p>
          <a:p>
            <a:r>
              <a:rPr lang="zh-CN" altLang="en-US"/>
              <a:t>border-top-style:dotted;</a:t>
            </a:r>
          </a:p>
          <a:p>
            <a:r>
              <a:rPr lang="zh-CN" altLang="en-US"/>
              <a:t>border-right-style:solid;</a:t>
            </a:r>
          </a:p>
          <a:p>
            <a:r>
              <a:rPr lang="zh-CN" altLang="en-US"/>
              <a:t>border-bottom-style:dotted;</a:t>
            </a:r>
          </a:p>
          <a:p>
            <a:r>
              <a:rPr lang="zh-CN" altLang="en-US"/>
              <a:t>border-left-style:solid;</a:t>
            </a:r>
          </a:p>
          <a:p>
            <a:r>
              <a:rPr lang="zh-CN" altLang="en-US"/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kern="1200"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algn="l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da-DK" altLang="zh-CN" dirty="0">
                <a:latin typeface="Arial" panose="020B0604020202020204" pitchFamily="34" charset="0"/>
                <a:ea typeface="黑体" panose="02010609060101010101" pitchFamily="49" charset="-122"/>
              </a:rPr>
              <a:t>CSS 伪类(Pseudo-classes)</a:t>
            </a:r>
          </a:p>
        </p:txBody>
      </p:sp>
      <p:sp>
        <p:nvSpPr>
          <p:cNvPr id="5123" name="Rectangle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25313" y="1125537"/>
            <a:ext cx="10973117" cy="48958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1" fontAlgn="base" hangingPunct="1">
              <a:spcBef>
                <a:spcPts val="300"/>
              </a:spcBef>
              <a:spcAft>
                <a:spcPts val="300"/>
              </a:spcAft>
              <a:buChar char="•"/>
              <a:defRPr sz="2400" kern="1200" baseline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marL="356870" indent="-285750" algn="l" rtl="0" eaLnBrk="1" fontAlgn="base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 "/>
              <a:defRPr sz="2000" kern="1200" baseline="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2pPr>
            <a:lvl3pPr marL="720090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•"/>
              <a:defRPr sz="20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3pPr>
            <a:lvl4pPr marL="1080135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–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4pPr>
            <a:lvl5pPr marL="1440180" indent="-228600" algn="l" rtl="0" eaLnBrk="1" fontAlgn="base" hangingPunct="1">
              <a:spcBef>
                <a:spcPts val="300"/>
              </a:spcBef>
              <a:spcAft>
                <a:spcPts val="300"/>
              </a:spcAft>
              <a:buChar char="»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5pPr>
            <a:lvl6pPr marL="1800225" indent="-228600" algn="l" defTabSz="913765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6pPr>
            <a:lvl7pPr marL="2971165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D3F41"/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9pPr>
          </a:lstStyle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CSS伪类是用来添加一些选择器的特殊效果。</a:t>
            </a:r>
          </a:p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anchor伪类</a:t>
            </a:r>
          </a:p>
          <a:p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1880" y="2089150"/>
            <a:ext cx="7586345" cy="11887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a:link {color:#FF0000;} /* 未访问的链接 */</a:t>
            </a:r>
          </a:p>
          <a:p>
            <a:r>
              <a:rPr lang="zh-CN" altLang="en-US"/>
              <a:t>a:visited {color:#00FF00;} /* 已访问的链接 */</a:t>
            </a:r>
          </a:p>
          <a:p>
            <a:r>
              <a:rPr lang="zh-CN" altLang="en-US"/>
              <a:t>a:hover {color:#FF00FF;} /* 鼠标划过链接 */</a:t>
            </a:r>
          </a:p>
          <a:p>
            <a:r>
              <a:rPr lang="zh-CN" altLang="en-US"/>
              <a:t>a:active {color:#0000FF;} /* 已选中的链接 */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任意多边形 45"/>
          <p:cNvSpPr/>
          <p:nvPr>
            <p:custDataLst>
              <p:tags r:id="rId2"/>
            </p:custDataLst>
          </p:nvPr>
        </p:nvSpPr>
        <p:spPr bwMode="auto">
          <a:xfrm>
            <a:off x="1701357" y="1636872"/>
            <a:ext cx="8794048" cy="3781684"/>
          </a:xfrm>
          <a:custGeom>
            <a:avLst/>
            <a:gdLst>
              <a:gd name="T0" fmla="*/ 0 w 3456384"/>
              <a:gd name="T1" fmla="*/ 3054350 h 3882329"/>
              <a:gd name="T2" fmla="*/ 8794750 w 3456384"/>
              <a:gd name="T3" fmla="*/ 3054350 h 3882329"/>
              <a:gd name="T4" fmla="*/ 0 w 3456384"/>
              <a:gd name="T5" fmla="*/ 3054350 h 3882329"/>
              <a:gd name="T6" fmla="*/ 0 w 3456384"/>
              <a:gd name="T7" fmla="*/ 0 h 3882329"/>
              <a:gd name="T8" fmla="*/ 8794750 w 3456384"/>
              <a:gd name="T9" fmla="*/ 0 h 3882329"/>
              <a:gd name="T10" fmla="*/ 0 w 3456384"/>
              <a:gd name="T11" fmla="*/ 0 h 388232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456384"/>
              <a:gd name="T19" fmla="*/ 0 h 3882329"/>
              <a:gd name="T20" fmla="*/ 3456384 w 3456384"/>
              <a:gd name="T21" fmla="*/ 3882329 h 388232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456384" h="3882329">
                <a:moveTo>
                  <a:pt x="0" y="3882329"/>
                </a:moveTo>
                <a:lnTo>
                  <a:pt x="3456384" y="3882329"/>
                </a:lnTo>
                <a:lnTo>
                  <a:pt x="0" y="3882329"/>
                </a:lnTo>
                <a:close/>
                <a:moveTo>
                  <a:pt x="0" y="0"/>
                </a:moveTo>
                <a:lnTo>
                  <a:pt x="3456384" y="0"/>
                </a:lnTo>
                <a:lnTo>
                  <a:pt x="0" y="0"/>
                </a:lnTo>
                <a:close/>
              </a:path>
            </a:pathLst>
          </a:custGeom>
          <a:noFill/>
          <a:ln w="22225" cmpd="sng">
            <a:solidFill>
              <a:srgbClr val="04AEDA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71981" rIns="0" bIns="71981" anchor="t" anchorCtr="0">
            <a:normAutofit/>
          </a:bodyPr>
          <a:lstStyle>
            <a:lvl1pPr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3D3F41"/>
                </a:solidFill>
                <a:latin typeface="Calibri" panose="020F0502020204030204" charset="0"/>
                <a:ea typeface="幼圆" panose="02010509060101010101" pitchFamily="49" charset="-122"/>
              </a:defRPr>
            </a:lvl9pPr>
          </a:lstStyle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CSS还有很多需要学习的地方，限于课程时间无法讲解。可以自行学习</a:t>
            </a:r>
          </a:p>
          <a:p>
            <a:pPr marL="22860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CSS其余比较重要的概念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CSS 盒模型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CSS Positioning(定位)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CSS Float(浮动)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CSS3</a:t>
            </a:r>
          </a:p>
          <a:p>
            <a:pPr marL="228600" lvl="0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r>
              <a:rPr lang="en-US" altLang="zh-CN" sz="1800" dirty="0" err="1">
                <a:latin typeface="Arial" panose="020B0604020202020204" pitchFamily="34" charset="0"/>
                <a:ea typeface="黑体" panose="02010609060101010101" pitchFamily="49" charset="-122"/>
              </a:rPr>
              <a:t>JS自行学习</a:t>
            </a:r>
          </a:p>
          <a:p>
            <a:pPr marL="685800" lvl="1" indent="-228600">
              <a:lnSpc>
                <a:spcPct val="150000"/>
              </a:lnSpc>
              <a:buSzTx/>
              <a:buFont typeface="Arial" panose="020B0604020202020204" pitchFamily="34" charset="0"/>
              <a:buChar char="•"/>
            </a:pPr>
            <a:endParaRPr lang="en-US" altLang="zh-CN" sz="1800" dirty="0" err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25313" y="260351"/>
            <a:ext cx="10973117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4AED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D3F4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AF5FC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baseline="0">
                <a:solidFill>
                  <a:srgbClr val="04AEDA">
                    <a:lumMod val="75000"/>
                  </a:srgbClr>
                </a:solidFill>
                <a:latin typeface="Arial" panose="020B0604020202020204" pitchFamily="34" charset="0"/>
                <a:ea typeface="黑体" panose="02010609060101010101" pitchFamily="49" charset="-122"/>
                <a:cs typeface="+mn-ea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04AEDA"/>
                </a:solidFill>
                <a:latin typeface="Arial Black" panose="020B0A040201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7pPr>
            <a:lvl8pPr marL="13709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8pPr>
            <a:lvl9pPr marL="1828165"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3D3F41"/>
                </a:solidFill>
                <a:latin typeface="Arial" panose="020B0604020202020204" pitchFamily="34" charset="0"/>
                <a:ea typeface="微软雅黑" panose="020B0503020204020204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/>
              <a:t>CSS总结</a:t>
            </a: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http://www.cnblogs.com/2050/p/3409129.html</a:t>
            </a:r>
            <a:endParaRPr lang="en-US" altLang="zh-CN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CSS</a:t>
            </a:r>
            <a:r>
              <a:rPr lang="zh-CN" altLang="en-US" dirty="0"/>
              <a:t>动画和库的简单教程</a:t>
            </a:r>
            <a:endParaRPr lang="en-US" altLang="zh-CN" dirty="0"/>
          </a:p>
          <a:p>
            <a:r>
              <a:rPr lang="en-US" altLang="zh-CN" dirty="0"/>
              <a:t>Example</a:t>
            </a:r>
          </a:p>
          <a:p>
            <a:endParaRPr lang="en-US" altLang="zh-CN" dirty="0"/>
          </a:p>
          <a:p>
            <a:r>
              <a:rPr lang="en-US" altLang="zh-CN" dirty="0">
                <a:hlinkClick r:id="rId3"/>
              </a:rPr>
              <a:t>https://www.w3cschool.cn/css3/css3-animation.html</a:t>
            </a:r>
            <a:endParaRPr lang="en-US" altLang="zh-CN" dirty="0"/>
          </a:p>
          <a:p>
            <a:r>
              <a:rPr lang="en-US" altLang="zh-CN" dirty="0" err="1"/>
              <a:t>Css</a:t>
            </a:r>
            <a:r>
              <a:rPr lang="zh-CN" altLang="en-US" dirty="0"/>
              <a:t>动画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7729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45056-94E4-4479-909A-E7C6386B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30368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5、9、13、17、22、23、26"/>
  <p:tag name="KSO_WM_TEMPLATE_CATEGORY" val="custom"/>
  <p:tag name="KSO_WM_TEMPLATE_INDEX" val="160337"/>
  <p:tag name="KSO_WM_TAG_VERSION" val="1.0"/>
  <p:tag name="KSO_WM_SLIDE_ID" val="custom160337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1*a*1"/>
  <p:tag name="KSO_WM_UNIT_CLEAR" val="1"/>
  <p:tag name="KSO_WM_UNIT_LAYERLEVEL" val="1"/>
  <p:tag name="KSO_WM_UNIT_VALUE" val="21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b"/>
  <p:tag name="KSO_WM_UNIT_INDEX" val="1"/>
  <p:tag name="KSO_WM_UNIT_ID" val="custom160337_1*b*1"/>
  <p:tag name="KSO_WM_UNIT_CLEAR" val="1"/>
  <p:tag name="KSO_WM_UNIT_LAYERLEVEL" val="1"/>
  <p:tag name="KSO_WM_UNIT_VALUE" val="30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16033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16033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16033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16033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7"/>
  <p:tag name="KSO_WM_SLIDE_INDEX" val="27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34*129"/>
  <p:tag name="KSO_WM_SLIDE_SIZE" val="692*29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7*f*1"/>
  <p:tag name="KSO_WM_UNIT_CLEAR" val="1"/>
  <p:tag name="KSO_WM_UNIT_LAYERLEVEL" val="1"/>
  <p:tag name="KSO_WM_UNIT_VALUE" val="342"/>
  <p:tag name="KSO_WM_UNIT_HIGHLIGHT" val="0"/>
  <p:tag name="KSO_WM_UNIT_COMPATIBLE" val="0"/>
  <p:tag name="KSO_WM_UNIT_PRESET_TEXT_INDEX" val="5"/>
  <p:tag name="KSO_WM_UNIT_PRESET_TEXT_LEN" val="23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7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7"/>
  <p:tag name="KSO_WM_SLIDE_INDEX" val="27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34*129"/>
  <p:tag name="KSO_WM_SLIDE_SIZE" val="692*29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7*f*1"/>
  <p:tag name="KSO_WM_UNIT_CLEAR" val="1"/>
  <p:tag name="KSO_WM_UNIT_LAYERLEVEL" val="1"/>
  <p:tag name="KSO_WM_UNIT_VALUE" val="342"/>
  <p:tag name="KSO_WM_UNIT_HIGHLIGHT" val="0"/>
  <p:tag name="KSO_WM_UNIT_COMPATIBLE" val="0"/>
  <p:tag name="KSO_WM_UNIT_PRESET_TEXT_INDEX" val="5"/>
  <p:tag name="KSO_WM_UNIT_PRESET_TEXT_LEN" val="23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7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7"/>
  <p:tag name="KSO_WM_SLIDE_INDEX" val="27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34*129"/>
  <p:tag name="KSO_WM_SLIDE_SIZE" val="692*29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7*f*1"/>
  <p:tag name="KSO_WM_UNIT_CLEAR" val="1"/>
  <p:tag name="KSO_WM_UNIT_LAYERLEVEL" val="1"/>
  <p:tag name="KSO_WM_UNIT_VALUE" val="342"/>
  <p:tag name="KSO_WM_UNIT_HIGHLIGHT" val="0"/>
  <p:tag name="KSO_WM_UNIT_COMPATIBLE" val="0"/>
  <p:tag name="KSO_WM_UNIT_PRESET_TEXT_INDEX" val="5"/>
  <p:tag name="KSO_WM_UNIT_PRESET_TEXT_LEN" val="23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7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7"/>
  <p:tag name="KSO_WM_SLIDE_INDEX" val="27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34*129"/>
  <p:tag name="KSO_WM_SLIDE_SIZE" val="692*29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7*f*1"/>
  <p:tag name="KSO_WM_UNIT_CLEAR" val="1"/>
  <p:tag name="KSO_WM_UNIT_LAYERLEVEL" val="1"/>
  <p:tag name="KSO_WM_UNIT_VALUE" val="342"/>
  <p:tag name="KSO_WM_UNIT_HIGHLIGHT" val="0"/>
  <p:tag name="KSO_WM_UNIT_COMPATIBLE" val="0"/>
  <p:tag name="KSO_WM_UNIT_PRESET_TEXT_INDEX" val="5"/>
  <p:tag name="KSO_WM_UNIT_PRESET_TEXT_LEN" val="23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7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7"/>
  <p:tag name="KSO_WM_SLIDE_INDEX" val="27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34*129"/>
  <p:tag name="KSO_WM_SLIDE_SIZE" val="692*29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7*f*1"/>
  <p:tag name="KSO_WM_UNIT_CLEAR" val="1"/>
  <p:tag name="KSO_WM_UNIT_LAYERLEVEL" val="1"/>
  <p:tag name="KSO_WM_UNIT_VALUE" val="342"/>
  <p:tag name="KSO_WM_UNIT_HIGHLIGHT" val="0"/>
  <p:tag name="KSO_WM_UNIT_COMPATIBLE" val="0"/>
  <p:tag name="KSO_WM_UNIT_PRESET_TEXT_INDEX" val="5"/>
  <p:tag name="KSO_WM_UNIT_PRESET_TEXT_LEN" val="23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7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7"/>
  <p:tag name="KSO_WM_SLIDE_INDEX" val="27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34*129"/>
  <p:tag name="KSO_WM_SLIDE_SIZE" val="692*29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7*f*1"/>
  <p:tag name="KSO_WM_UNIT_CLEAR" val="1"/>
  <p:tag name="KSO_WM_UNIT_LAYERLEVEL" val="1"/>
  <p:tag name="KSO_WM_UNIT_VALUE" val="342"/>
  <p:tag name="KSO_WM_UNIT_HIGHLIGHT" val="0"/>
  <p:tag name="KSO_WM_UNIT_COMPATIBLE" val="0"/>
  <p:tag name="KSO_WM_UNIT_PRESET_TEXT_INDEX" val="5"/>
  <p:tag name="KSO_WM_UNIT_PRESET_TEXT_LEN" val="23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7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6"/>
  <p:tag name="KSO_WM_SLIDE_INDEX" val="26"/>
  <p:tag name="KSO_WM_SLIDE_ITEM_CNT" val="2"/>
  <p:tag name="KSO_WM_SLIDE_LAYOUT" val="a_f_d"/>
  <p:tag name="KSO_WM_SLIDE_LAYOUT_CNT" val="1_1_1"/>
  <p:tag name="KSO_WM_SLIDE_TYPE" val="text"/>
  <p:tag name="KSO_WM_BEAUTIFY_FLAG" val="#wm#"/>
  <p:tag name="KSO_WM_SLIDE_POSITION" val="0*0"/>
  <p:tag name="KSO_WM_SLIDE_SIZE" val="960*47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d"/>
  <p:tag name="KSO_WM_UNIT_INDEX" val="1"/>
  <p:tag name="KSO_WM_UNIT_ID" val="custom160337_26*d*1"/>
  <p:tag name="KSO_WM_UNIT_CLEAR" val="0"/>
  <p:tag name="KSO_WM_UNIT_LAYERLEVEL" val="1"/>
  <p:tag name="KSO_WM_UNIT_VALUE" val="1401*3384"/>
  <p:tag name="KSO_WM_UNIT_HIGHLIGHT" val="0"/>
  <p:tag name="KSO_WM_UNIT_COMPATIBLE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7"/>
  <p:tag name="KSO_WM_SLIDE_INDEX" val="27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34*129"/>
  <p:tag name="KSO_WM_SLIDE_SIZE" val="692*29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7*f*1"/>
  <p:tag name="KSO_WM_UNIT_CLEAR" val="1"/>
  <p:tag name="KSO_WM_UNIT_LAYERLEVEL" val="1"/>
  <p:tag name="KSO_WM_UNIT_VALUE" val="342"/>
  <p:tag name="KSO_WM_UNIT_HIGHLIGHT" val="0"/>
  <p:tag name="KSO_WM_UNIT_COMPATIBLE" val="0"/>
  <p:tag name="KSO_WM_UNIT_PRESET_TEXT_INDEX" val="5"/>
  <p:tag name="KSO_WM_UNIT_PRESET_TEXT_LEN" val="23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7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49*89"/>
  <p:tag name="KSO_WM_SLIDE_SIZE" val="864*38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*f*1"/>
  <p:tag name="KSO_WM_UNIT_CLEAR" val="1"/>
  <p:tag name="KSO_WM_UNIT_LAYERLEVEL" val="1"/>
  <p:tag name="KSO_WM_UNIT_VALUE" val="455"/>
  <p:tag name="KSO_WM_UNIT_HIGHLIGHT" val="0"/>
  <p:tag name="KSO_WM_UNIT_COMPATIBLE" val="0"/>
  <p:tag name="KSO_WM_UNIT_PRESET_TEXT_INDEX" val="5"/>
  <p:tag name="KSO_WM_UNIT_PRESET_TEXT_LEN" val="23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49*89"/>
  <p:tag name="KSO_WM_SLIDE_SIZE" val="864*38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49*89"/>
  <p:tag name="KSO_WM_SLIDE_SIZE" val="864*38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49*89"/>
  <p:tag name="KSO_WM_SLIDE_SIZE" val="864*38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*f*1"/>
  <p:tag name="KSO_WM_UNIT_CLEAR" val="1"/>
  <p:tag name="KSO_WM_UNIT_LAYERLEVEL" val="1"/>
  <p:tag name="KSO_WM_UNIT_VALUE" val="455"/>
  <p:tag name="KSO_WM_UNIT_HIGHLIGHT" val="0"/>
  <p:tag name="KSO_WM_UNIT_COMPATIBLE" val="0"/>
  <p:tag name="KSO_WM_UNIT_PRESET_TEXT_INDEX" val="5"/>
  <p:tag name="KSO_WM_UNIT_PRESET_TEXT_LEN" val="23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"/>
  <p:tag name="KSO_WM_SLIDE_INDEX" val="2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49*89"/>
  <p:tag name="KSO_WM_SLIDE_SIZE" val="864*38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*f*1"/>
  <p:tag name="KSO_WM_UNIT_CLEAR" val="1"/>
  <p:tag name="KSO_WM_UNIT_LAYERLEVEL" val="1"/>
  <p:tag name="KSO_WM_UNIT_VALUE" val="455"/>
  <p:tag name="KSO_WM_UNIT_HIGHLIGHT" val="0"/>
  <p:tag name="KSO_WM_UNIT_COMPATIBLE" val="0"/>
  <p:tag name="KSO_WM_UNIT_PRESET_TEXT_INDEX" val="5"/>
  <p:tag name="KSO_WM_UNIT_PRESET_TEXT_LEN" val="23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337"/>
  <p:tag name="KSO_WM_TAG_VERSION" val="1.0"/>
  <p:tag name="KSO_WM_SLIDE_ID" val="custom160337_27"/>
  <p:tag name="KSO_WM_SLIDE_INDEX" val="27"/>
  <p:tag name="KSO_WM_SLIDE_ITEM_CNT" val="1"/>
  <p:tag name="KSO_WM_SLIDE_LAYOUT" val="a_f"/>
  <p:tag name="KSO_WM_SLIDE_LAYOUT_CNT" val="1_1"/>
  <p:tag name="KSO_WM_SLIDE_TYPE" val="text"/>
  <p:tag name="KSO_WM_BEAUTIFY_FLAG" val="#wm#"/>
  <p:tag name="KSO_WM_SLIDE_POSITION" val="134*129"/>
  <p:tag name="KSO_WM_SLIDE_SIZE" val="692*29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f"/>
  <p:tag name="KSO_WM_UNIT_INDEX" val="1"/>
  <p:tag name="KSO_WM_UNIT_ID" val="custom160337_27*f*1"/>
  <p:tag name="KSO_WM_UNIT_CLEAR" val="1"/>
  <p:tag name="KSO_WM_UNIT_LAYERLEVEL" val="1"/>
  <p:tag name="KSO_WM_UNIT_VALUE" val="342"/>
  <p:tag name="KSO_WM_UNIT_HIGHLIGHT" val="0"/>
  <p:tag name="KSO_WM_UNIT_COMPATIBLE" val="0"/>
  <p:tag name="KSO_WM_UNIT_PRESET_TEXT_INDEX" val="5"/>
  <p:tag name="KSO_WM_UNIT_PRESET_TEXT_LEN" val="23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7*a*1"/>
  <p:tag name="KSO_WM_UNIT_CLEAR" val="1"/>
  <p:tag name="KSO_WM_UNIT_LAYERLEVEL" val="1"/>
  <p:tag name="KSO_WM_UNIT_VALUE" val="42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heme/theme1.xml><?xml version="1.0" encoding="utf-8"?>
<a:theme xmlns:a="http://schemas.openxmlformats.org/drawingml/2006/main" name="1_A000120141114A22KWBG">
  <a:themeElements>
    <a:clrScheme name="自定义 132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04AEDA"/>
      </a:accent1>
      <a:accent2>
        <a:srgbClr val="628EE3"/>
      </a:accent2>
      <a:accent3>
        <a:srgbClr val="2BC3B5"/>
      </a:accent3>
      <a:accent4>
        <a:srgbClr val="92D050"/>
      </a:accent4>
      <a:accent5>
        <a:srgbClr val="CEB9A3"/>
      </a:accent5>
      <a:accent6>
        <a:srgbClr val="FFC000"/>
      </a:accent6>
      <a:hlink>
        <a:srgbClr val="00B0F0"/>
      </a:hlink>
      <a:folHlink>
        <a:srgbClr val="AFB2B4"/>
      </a:folHlink>
    </a:clrScheme>
    <a:fontScheme name="自定义 21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1505</Words>
  <Application>Microsoft Office PowerPoint</Application>
  <PresentationFormat>宽屏</PresentationFormat>
  <Paragraphs>297</Paragraphs>
  <Slides>29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黑体</vt:lpstr>
      <vt:lpstr>宋体</vt:lpstr>
      <vt:lpstr>微软雅黑</vt:lpstr>
      <vt:lpstr>Arial</vt:lpstr>
      <vt:lpstr>Arial Black</vt:lpstr>
      <vt:lpstr>Calibri</vt:lpstr>
      <vt:lpstr>1_A000120141114A22KWBG</vt:lpstr>
      <vt:lpstr>PowerPoint 演示文稿</vt:lpstr>
      <vt:lpstr>现代WEB开发知识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CSS 语法 </vt:lpstr>
      <vt:lpstr>PowerPoint 演示文稿</vt:lpstr>
      <vt:lpstr>PowerPoint 演示文稿</vt:lpstr>
      <vt:lpstr>CSS 创建</vt:lpstr>
      <vt:lpstr>PowerPoint 演示文稿</vt:lpstr>
      <vt:lpstr>PowerPoint 演示文稿</vt:lpstr>
      <vt:lpstr>PowerPoint 演示文稿</vt:lpstr>
      <vt:lpstr>CSS背景实例</vt:lpstr>
      <vt:lpstr>PowerPoint 演示文稿</vt:lpstr>
      <vt:lpstr>CSS 文本实例</vt:lpstr>
      <vt:lpstr>PowerPoint 演示文稿</vt:lpstr>
      <vt:lpstr>CSS 字体实例</vt:lpstr>
      <vt:lpstr>PowerPoint 演示文稿</vt:lpstr>
      <vt:lpstr>CSS边框实例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804-113</cp:lastModifiedBy>
  <cp:revision>20</cp:revision>
  <dcterms:created xsi:type="dcterms:W3CDTF">2016-08-30T14:19:00Z</dcterms:created>
  <dcterms:modified xsi:type="dcterms:W3CDTF">2025-11-21T05:56:22Z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