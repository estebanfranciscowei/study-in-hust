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36"/>
  </p:notesMasterIdLst>
  <p:sldIdLst>
    <p:sldId id="256" r:id="rId2"/>
    <p:sldId id="259" r:id="rId3"/>
    <p:sldId id="258" r:id="rId4"/>
    <p:sldId id="260" r:id="rId5"/>
    <p:sldId id="261" r:id="rId6"/>
    <p:sldId id="262" r:id="rId7"/>
    <p:sldId id="263" r:id="rId8"/>
    <p:sldId id="264" r:id="rId9"/>
    <p:sldId id="271" r:id="rId10"/>
    <p:sldId id="265" r:id="rId11"/>
    <p:sldId id="266" r:id="rId12"/>
    <p:sldId id="267" r:id="rId13"/>
    <p:sldId id="268" r:id="rId14"/>
    <p:sldId id="273" r:id="rId15"/>
    <p:sldId id="274" r:id="rId16"/>
    <p:sldId id="277" r:id="rId17"/>
    <p:sldId id="278" r:id="rId18"/>
    <p:sldId id="279" r:id="rId19"/>
    <p:sldId id="280" r:id="rId20"/>
    <p:sldId id="281" r:id="rId21"/>
    <p:sldId id="282" r:id="rId22"/>
    <p:sldId id="283" r:id="rId23"/>
    <p:sldId id="284" r:id="rId24"/>
    <p:sldId id="285" r:id="rId25"/>
    <p:sldId id="286" r:id="rId26"/>
    <p:sldId id="287" r:id="rId27"/>
    <p:sldId id="288" r:id="rId28"/>
    <p:sldId id="290" r:id="rId29"/>
    <p:sldId id="291" r:id="rId30"/>
    <p:sldId id="292" r:id="rId31"/>
    <p:sldId id="293" r:id="rId32"/>
    <p:sldId id="269" r:id="rId33"/>
    <p:sldId id="270" r:id="rId34"/>
    <p:sldId id="272" r:id="rId35"/>
  </p:sldIdLst>
  <p:sldSz cx="9144000" cy="6858000" type="screen4x3"/>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8759" autoAdjust="0"/>
  </p:normalViewPr>
  <p:slideViewPr>
    <p:cSldViewPr>
      <p:cViewPr varScale="1">
        <p:scale>
          <a:sx n="97" d="100"/>
          <a:sy n="97" d="100"/>
        </p:scale>
        <p:origin x="-1950" y="-9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iagrams/colors1.xml><?xml version="1.0" encoding="utf-8"?>
<dgm:colorsDef xmlns:dgm="http://schemas.openxmlformats.org/drawingml/2006/diagram" xmlns:a="http://schemas.openxmlformats.org/drawingml/2006/main" uniqueId="urn:microsoft.com/office/officeart/2005/8/colors/colorful3#1">
  <dgm:title val=""/>
  <dgm:desc val=""/>
  <dgm:catLst>
    <dgm:cat type="colorful" pri="10300"/>
  </dgm:catLst>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colorsDef>
</file>

<file path=ppt/diagrams/data1.xml><?xml version="1.0" encoding="utf-8"?>
<dgm:dataModel xmlns:dgm="http://schemas.openxmlformats.org/drawingml/2006/diagram" xmlns:a="http://schemas.openxmlformats.org/drawingml/2006/main">
  <dgm:ptLst>
    <dgm:pt modelId="{2D3EB192-1268-7143-A88C-291CC8960870}" type="doc">
      <dgm:prSet loTypeId="urn:microsoft.com/office/officeart/2005/8/layout/cycle4#1" loCatId="" qsTypeId="urn:microsoft.com/office/officeart/2005/8/quickstyle/simple4#1" qsCatId="simple" csTypeId="urn:microsoft.com/office/officeart/2005/8/colors/colorful3#1" csCatId="colorful" phldr="1"/>
      <dgm:spPr/>
      <dgm:t>
        <a:bodyPr/>
        <a:lstStyle/>
        <a:p>
          <a:endParaRPr lang="en-US"/>
        </a:p>
      </dgm:t>
    </dgm:pt>
    <dgm:pt modelId="{855D7836-E280-2B4E-BFC2-8725DE517D53}">
      <dgm:prSet phldrT="[Text]" custT="1"/>
      <dgm:spPr/>
      <dgm:t>
        <a:bodyPr/>
        <a:lstStyle/>
        <a:p>
          <a:r>
            <a:rPr lang="zh-CN" altLang="en-US" sz="2800" dirty="0">
              <a:latin typeface="微软雅黑" panose="020B0503020204020204" charset="-122"/>
              <a:ea typeface="微软雅黑" panose="020B0503020204020204" charset="-122"/>
              <a:cs typeface="微软雅黑" panose="020B0503020204020204" charset="-122"/>
            </a:rPr>
            <a:t>衣</a:t>
          </a:r>
          <a:endParaRPr lang="en-US" sz="2800" dirty="0">
            <a:latin typeface="微软雅黑" panose="020B0503020204020204" charset="-122"/>
            <a:ea typeface="微软雅黑" panose="020B0503020204020204" charset="-122"/>
            <a:cs typeface="微软雅黑" panose="020B0503020204020204" charset="-122"/>
          </a:endParaRPr>
        </a:p>
      </dgm:t>
    </dgm:pt>
    <dgm:pt modelId="{8E6B0A98-7AAC-BA47-ADA7-CC35BCCA0DFB}" type="parTrans" cxnId="{337B7741-35A0-1340-A156-3F431E96DB40}">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47305EFB-9DE9-9847-8551-A35FD8632B74}" type="sibTrans" cxnId="{337B7741-35A0-1340-A156-3F431E96DB40}">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0DC7F544-6FB3-E34F-B82B-06D81552E7EF}">
      <dgm:prSet phldrT="[Text]" custT="1"/>
      <dgm:spPr/>
      <dgm:t>
        <a:bodyPr/>
        <a:lstStyle/>
        <a:p>
          <a:r>
            <a:rPr lang="zh-CN" altLang="en-US" sz="2800" dirty="0">
              <a:latin typeface="微软雅黑" panose="020B0503020204020204" charset="-122"/>
              <a:ea typeface="微软雅黑" panose="020B0503020204020204" charset="-122"/>
              <a:cs typeface="微软雅黑" panose="020B0503020204020204" charset="-122"/>
            </a:rPr>
            <a:t>食</a:t>
          </a:r>
          <a:endParaRPr lang="en-US" sz="1600" dirty="0">
            <a:latin typeface="微软雅黑" panose="020B0503020204020204" charset="-122"/>
            <a:ea typeface="微软雅黑" panose="020B0503020204020204" charset="-122"/>
            <a:cs typeface="微软雅黑" panose="020B0503020204020204" charset="-122"/>
          </a:endParaRPr>
        </a:p>
      </dgm:t>
    </dgm:pt>
    <dgm:pt modelId="{38D6F358-F6B0-AD45-968F-CE8870C8AF36}" type="parTrans" cxnId="{7C957FF9-5525-2842-9DCC-DDD33632A76D}">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1B402C0C-98AF-6B48-B873-1BAAE890787A}" type="sibTrans" cxnId="{7C957FF9-5525-2842-9DCC-DDD33632A76D}">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34A5C919-A24C-9F4B-902F-F3E1851F0B5D}">
      <dgm:prSet phldrT="[Text]" custT="1"/>
      <dgm:spPr/>
      <dgm:t>
        <a:bodyPr/>
        <a:lstStyle/>
        <a:p>
          <a:r>
            <a:rPr lang="zh-CN" altLang="en-US" sz="2800" dirty="0">
              <a:latin typeface="微软雅黑" panose="020B0503020204020204" charset="-122"/>
              <a:ea typeface="微软雅黑" panose="020B0503020204020204" charset="-122"/>
              <a:cs typeface="微软雅黑" panose="020B0503020204020204" charset="-122"/>
            </a:rPr>
            <a:t>行</a:t>
          </a:r>
          <a:endParaRPr lang="en-US" sz="2000" dirty="0">
            <a:latin typeface="微软雅黑" panose="020B0503020204020204" charset="-122"/>
            <a:ea typeface="微软雅黑" panose="020B0503020204020204" charset="-122"/>
            <a:cs typeface="微软雅黑" panose="020B0503020204020204" charset="-122"/>
          </a:endParaRPr>
        </a:p>
      </dgm:t>
    </dgm:pt>
    <dgm:pt modelId="{F962271C-D7CE-574A-8BAC-0CDAEF97627A}" type="parTrans" cxnId="{E5E40904-B278-934C-AFDF-3DDD84E6CE8A}">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C2CC7860-8B3E-D942-82FF-BEA54B28760B}" type="sibTrans" cxnId="{E5E40904-B278-934C-AFDF-3DDD84E6CE8A}">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9E10553A-AE7D-5C46-84C0-FD9FA37B40B2}">
      <dgm:prSet phldrT="[Text]" custT="1"/>
      <dgm:spPr/>
      <dgm:t>
        <a:bodyPr/>
        <a:lstStyle/>
        <a:p>
          <a:r>
            <a:rPr lang="zh-CN" altLang="en-US" sz="2800" dirty="0">
              <a:latin typeface="微软雅黑" panose="020B0503020204020204" charset="-122"/>
              <a:ea typeface="微软雅黑" panose="020B0503020204020204" charset="-122"/>
              <a:cs typeface="微软雅黑" panose="020B0503020204020204" charset="-122"/>
            </a:rPr>
            <a:t>住</a:t>
          </a:r>
          <a:endParaRPr lang="en-US" sz="1600" dirty="0">
            <a:latin typeface="微软雅黑" panose="020B0503020204020204" charset="-122"/>
            <a:ea typeface="微软雅黑" panose="020B0503020204020204" charset="-122"/>
            <a:cs typeface="微软雅黑" panose="020B0503020204020204" charset="-122"/>
          </a:endParaRPr>
        </a:p>
      </dgm:t>
    </dgm:pt>
    <dgm:pt modelId="{9BFF54A7-4B3E-0940-866E-18713E1AEFB7}" type="parTrans" cxnId="{DEC394FC-D549-0E45-84A9-7A71D56F7B1E}">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FC49BED9-0686-0B4B-A187-9453C2127C15}" type="sibTrans" cxnId="{DEC394FC-D549-0E45-84A9-7A71D56F7B1E}">
      <dgm:prSet/>
      <dgm:spPr/>
      <dgm:t>
        <a:bodyPr/>
        <a:lstStyle/>
        <a:p>
          <a:endParaRPr lang="en-US">
            <a:latin typeface="微软雅黑" panose="020B0503020204020204" charset="-122"/>
            <a:ea typeface="微软雅黑" panose="020B0503020204020204" charset="-122"/>
            <a:cs typeface="微软雅黑" panose="020B0503020204020204" charset="-122"/>
          </a:endParaRPr>
        </a:p>
      </dgm:t>
    </dgm:pt>
    <dgm:pt modelId="{07E1EF97-2D02-7E40-8803-70E2D2BDF79A}" type="pres">
      <dgm:prSet presAssocID="{2D3EB192-1268-7143-A88C-291CC8960870}" presName="cycleMatrixDiagram" presStyleCnt="0">
        <dgm:presLayoutVars>
          <dgm:chMax val="1"/>
          <dgm:dir/>
          <dgm:animLvl val="lvl"/>
          <dgm:resizeHandles val="exact"/>
        </dgm:presLayoutVars>
      </dgm:prSet>
      <dgm:spPr/>
      <dgm:t>
        <a:bodyPr/>
        <a:lstStyle/>
        <a:p>
          <a:endParaRPr lang="zh-CN" altLang="en-US"/>
        </a:p>
      </dgm:t>
    </dgm:pt>
    <dgm:pt modelId="{69BC2719-AC44-AB4C-AD03-4C062F1A3741}" type="pres">
      <dgm:prSet presAssocID="{2D3EB192-1268-7143-A88C-291CC8960870}" presName="children" presStyleCnt="0"/>
      <dgm:spPr/>
    </dgm:pt>
    <dgm:pt modelId="{4D657EBD-646F-9942-A5EF-DC8BB9322001}" type="pres">
      <dgm:prSet presAssocID="{2D3EB192-1268-7143-A88C-291CC8960870}" presName="childPlaceholder" presStyleCnt="0"/>
      <dgm:spPr/>
    </dgm:pt>
    <dgm:pt modelId="{B9C8640B-4F73-7E46-BCBF-46DDAA399CFF}" type="pres">
      <dgm:prSet presAssocID="{2D3EB192-1268-7143-A88C-291CC8960870}" presName="circle" presStyleCnt="0"/>
      <dgm:spPr/>
    </dgm:pt>
    <dgm:pt modelId="{62493C9B-1147-594E-8443-1FCF2C0F9A80}" type="pres">
      <dgm:prSet presAssocID="{2D3EB192-1268-7143-A88C-291CC8960870}" presName="quadrant1" presStyleLbl="node1" presStyleIdx="0" presStyleCnt="4">
        <dgm:presLayoutVars>
          <dgm:chMax val="1"/>
          <dgm:bulletEnabled val="1"/>
        </dgm:presLayoutVars>
      </dgm:prSet>
      <dgm:spPr/>
      <dgm:t>
        <a:bodyPr/>
        <a:lstStyle/>
        <a:p>
          <a:endParaRPr lang="zh-CN" altLang="en-US"/>
        </a:p>
      </dgm:t>
    </dgm:pt>
    <dgm:pt modelId="{826E96EF-EC08-E544-BA0B-2B408A4C358B}" type="pres">
      <dgm:prSet presAssocID="{2D3EB192-1268-7143-A88C-291CC8960870}" presName="quadrant2" presStyleLbl="node1" presStyleIdx="1" presStyleCnt="4">
        <dgm:presLayoutVars>
          <dgm:chMax val="1"/>
          <dgm:bulletEnabled val="1"/>
        </dgm:presLayoutVars>
      </dgm:prSet>
      <dgm:spPr/>
      <dgm:t>
        <a:bodyPr/>
        <a:lstStyle/>
        <a:p>
          <a:endParaRPr lang="zh-CN" altLang="en-US"/>
        </a:p>
      </dgm:t>
    </dgm:pt>
    <dgm:pt modelId="{82EF9889-5961-7C4A-A3F7-DD7259E16A42}" type="pres">
      <dgm:prSet presAssocID="{2D3EB192-1268-7143-A88C-291CC8960870}" presName="quadrant3" presStyleLbl="node1" presStyleIdx="2" presStyleCnt="4">
        <dgm:presLayoutVars>
          <dgm:chMax val="1"/>
          <dgm:bulletEnabled val="1"/>
        </dgm:presLayoutVars>
      </dgm:prSet>
      <dgm:spPr/>
      <dgm:t>
        <a:bodyPr/>
        <a:lstStyle/>
        <a:p>
          <a:endParaRPr lang="zh-CN" altLang="en-US"/>
        </a:p>
      </dgm:t>
    </dgm:pt>
    <dgm:pt modelId="{10214FC2-FECB-FB48-B839-43DDA3B6A933}" type="pres">
      <dgm:prSet presAssocID="{2D3EB192-1268-7143-A88C-291CC8960870}" presName="quadrant4" presStyleLbl="node1" presStyleIdx="3" presStyleCnt="4">
        <dgm:presLayoutVars>
          <dgm:chMax val="1"/>
          <dgm:bulletEnabled val="1"/>
        </dgm:presLayoutVars>
      </dgm:prSet>
      <dgm:spPr/>
      <dgm:t>
        <a:bodyPr/>
        <a:lstStyle/>
        <a:p>
          <a:endParaRPr lang="zh-CN" altLang="en-US"/>
        </a:p>
      </dgm:t>
    </dgm:pt>
    <dgm:pt modelId="{316FAF4B-ABAD-914D-9D49-D75C5207E64F}" type="pres">
      <dgm:prSet presAssocID="{2D3EB192-1268-7143-A88C-291CC8960870}" presName="quadrantPlaceholder" presStyleCnt="0"/>
      <dgm:spPr/>
    </dgm:pt>
    <dgm:pt modelId="{8CC43170-3DD6-C24E-949D-D1F0A6D81018}" type="pres">
      <dgm:prSet presAssocID="{2D3EB192-1268-7143-A88C-291CC8960870}" presName="center1" presStyleLbl="fgShp" presStyleIdx="0" presStyleCnt="2"/>
      <dgm:spPr/>
    </dgm:pt>
    <dgm:pt modelId="{6F594A2C-AADE-FE4B-A575-ECF09B90C199}" type="pres">
      <dgm:prSet presAssocID="{2D3EB192-1268-7143-A88C-291CC8960870}" presName="center2" presStyleLbl="fgShp" presStyleIdx="1" presStyleCnt="2"/>
      <dgm:spPr/>
    </dgm:pt>
  </dgm:ptLst>
  <dgm:cxnLst>
    <dgm:cxn modelId="{E5E40904-B278-934C-AFDF-3DDD84E6CE8A}" srcId="{2D3EB192-1268-7143-A88C-291CC8960870}" destId="{34A5C919-A24C-9F4B-902F-F3E1851F0B5D}" srcOrd="2" destOrd="0" parTransId="{F962271C-D7CE-574A-8BAC-0CDAEF97627A}" sibTransId="{C2CC7860-8B3E-D942-82FF-BEA54B28760B}"/>
    <dgm:cxn modelId="{8D562D68-AC8B-43C1-BA00-E5DCCED9466F}" type="presOf" srcId="{34A5C919-A24C-9F4B-902F-F3E1851F0B5D}" destId="{82EF9889-5961-7C4A-A3F7-DD7259E16A42}" srcOrd="0" destOrd="0" presId="urn:microsoft.com/office/officeart/2005/8/layout/cycle4#1"/>
    <dgm:cxn modelId="{DEC394FC-D549-0E45-84A9-7A71D56F7B1E}" srcId="{2D3EB192-1268-7143-A88C-291CC8960870}" destId="{9E10553A-AE7D-5C46-84C0-FD9FA37B40B2}" srcOrd="3" destOrd="0" parTransId="{9BFF54A7-4B3E-0940-866E-18713E1AEFB7}" sibTransId="{FC49BED9-0686-0B4B-A187-9453C2127C15}"/>
    <dgm:cxn modelId="{EC07679F-64EE-4612-99CB-B93CCACA9430}" type="presOf" srcId="{2D3EB192-1268-7143-A88C-291CC8960870}" destId="{07E1EF97-2D02-7E40-8803-70E2D2BDF79A}" srcOrd="0" destOrd="0" presId="urn:microsoft.com/office/officeart/2005/8/layout/cycle4#1"/>
    <dgm:cxn modelId="{48BA41A8-66CD-4618-90C1-4C29BBF06A50}" type="presOf" srcId="{855D7836-E280-2B4E-BFC2-8725DE517D53}" destId="{62493C9B-1147-594E-8443-1FCF2C0F9A80}" srcOrd="0" destOrd="0" presId="urn:microsoft.com/office/officeart/2005/8/layout/cycle4#1"/>
    <dgm:cxn modelId="{7C957FF9-5525-2842-9DCC-DDD33632A76D}" srcId="{2D3EB192-1268-7143-A88C-291CC8960870}" destId="{0DC7F544-6FB3-E34F-B82B-06D81552E7EF}" srcOrd="1" destOrd="0" parTransId="{38D6F358-F6B0-AD45-968F-CE8870C8AF36}" sibTransId="{1B402C0C-98AF-6B48-B873-1BAAE890787A}"/>
    <dgm:cxn modelId="{0BEA6310-F5E5-4E65-AF84-32097F125F3B}" type="presOf" srcId="{0DC7F544-6FB3-E34F-B82B-06D81552E7EF}" destId="{826E96EF-EC08-E544-BA0B-2B408A4C358B}" srcOrd="0" destOrd="0" presId="urn:microsoft.com/office/officeart/2005/8/layout/cycle4#1"/>
    <dgm:cxn modelId="{158AD660-F48B-4F50-B163-B378A419985C}" type="presOf" srcId="{9E10553A-AE7D-5C46-84C0-FD9FA37B40B2}" destId="{10214FC2-FECB-FB48-B839-43DDA3B6A933}" srcOrd="0" destOrd="0" presId="urn:microsoft.com/office/officeart/2005/8/layout/cycle4#1"/>
    <dgm:cxn modelId="{337B7741-35A0-1340-A156-3F431E96DB40}" srcId="{2D3EB192-1268-7143-A88C-291CC8960870}" destId="{855D7836-E280-2B4E-BFC2-8725DE517D53}" srcOrd="0" destOrd="0" parTransId="{8E6B0A98-7AAC-BA47-ADA7-CC35BCCA0DFB}" sibTransId="{47305EFB-9DE9-9847-8551-A35FD8632B74}"/>
    <dgm:cxn modelId="{451E1DFC-9BD8-4FA9-B016-0151F1102AC2}" type="presParOf" srcId="{07E1EF97-2D02-7E40-8803-70E2D2BDF79A}" destId="{69BC2719-AC44-AB4C-AD03-4C062F1A3741}" srcOrd="0" destOrd="0" presId="urn:microsoft.com/office/officeart/2005/8/layout/cycle4#1"/>
    <dgm:cxn modelId="{CDEC8880-0D37-4EF5-B481-04DDEE92A6D7}" type="presParOf" srcId="{69BC2719-AC44-AB4C-AD03-4C062F1A3741}" destId="{4D657EBD-646F-9942-A5EF-DC8BB9322001}" srcOrd="0" destOrd="0" presId="urn:microsoft.com/office/officeart/2005/8/layout/cycle4#1"/>
    <dgm:cxn modelId="{20945CF1-7E4F-4913-B42C-8EFC485F6D8C}" type="presParOf" srcId="{07E1EF97-2D02-7E40-8803-70E2D2BDF79A}" destId="{B9C8640B-4F73-7E46-BCBF-46DDAA399CFF}" srcOrd="1" destOrd="0" presId="urn:microsoft.com/office/officeart/2005/8/layout/cycle4#1"/>
    <dgm:cxn modelId="{EA457D0D-BCAD-42F9-9494-CC54F032735D}" type="presParOf" srcId="{B9C8640B-4F73-7E46-BCBF-46DDAA399CFF}" destId="{62493C9B-1147-594E-8443-1FCF2C0F9A80}" srcOrd="0" destOrd="0" presId="urn:microsoft.com/office/officeart/2005/8/layout/cycle4#1"/>
    <dgm:cxn modelId="{BD5D04FB-CD24-43C6-894D-493E1122BC60}" type="presParOf" srcId="{B9C8640B-4F73-7E46-BCBF-46DDAA399CFF}" destId="{826E96EF-EC08-E544-BA0B-2B408A4C358B}" srcOrd="1" destOrd="0" presId="urn:microsoft.com/office/officeart/2005/8/layout/cycle4#1"/>
    <dgm:cxn modelId="{BCD2C928-325A-4B67-A89B-03F07D99C6E0}" type="presParOf" srcId="{B9C8640B-4F73-7E46-BCBF-46DDAA399CFF}" destId="{82EF9889-5961-7C4A-A3F7-DD7259E16A42}" srcOrd="2" destOrd="0" presId="urn:microsoft.com/office/officeart/2005/8/layout/cycle4#1"/>
    <dgm:cxn modelId="{7E81C3EC-E040-437F-82ED-61104B7C41E7}" type="presParOf" srcId="{B9C8640B-4F73-7E46-BCBF-46DDAA399CFF}" destId="{10214FC2-FECB-FB48-B839-43DDA3B6A933}" srcOrd="3" destOrd="0" presId="urn:microsoft.com/office/officeart/2005/8/layout/cycle4#1"/>
    <dgm:cxn modelId="{417D3E52-3E3D-4C9E-9435-14D84BA2D55E}" type="presParOf" srcId="{B9C8640B-4F73-7E46-BCBF-46DDAA399CFF}" destId="{316FAF4B-ABAD-914D-9D49-D75C5207E64F}" srcOrd="4" destOrd="0" presId="urn:microsoft.com/office/officeart/2005/8/layout/cycle4#1"/>
    <dgm:cxn modelId="{AB501809-8225-45D1-97D0-001CA3095BF5}" type="presParOf" srcId="{07E1EF97-2D02-7E40-8803-70E2D2BDF79A}" destId="{8CC43170-3DD6-C24E-949D-D1F0A6D81018}" srcOrd="2" destOrd="0" presId="urn:microsoft.com/office/officeart/2005/8/layout/cycle4#1"/>
    <dgm:cxn modelId="{6D971A6D-7CB8-4F1B-9B24-B274F499BFF1}" type="presParOf" srcId="{07E1EF97-2D02-7E40-8803-70E2D2BDF79A}" destId="{6F594A2C-AADE-FE4B-A575-ECF09B90C199}" srcOrd="3" destOrd="0" presId="urn:microsoft.com/office/officeart/2005/8/layout/cycle4#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2493C9B-1147-594E-8443-1FCF2C0F9A80}">
      <dsp:nvSpPr>
        <dsp:cNvPr id="0" name=""/>
        <dsp:cNvSpPr/>
      </dsp:nvSpPr>
      <dsp:spPr>
        <a:xfrm>
          <a:off x="1410194" y="246195"/>
          <a:ext cx="1870224" cy="1870224"/>
        </a:xfrm>
        <a:prstGeom prst="pieWedge">
          <a:avLst/>
        </a:prstGeom>
        <a:gradFill rotWithShape="0">
          <a:gsLst>
            <a:gs pos="0">
              <a:schemeClr val="accent3">
                <a:hueOff val="0"/>
                <a:satOff val="0"/>
                <a:lumOff val="0"/>
                <a:alphaOff val="0"/>
                <a:tint val="96000"/>
                <a:satMod val="120000"/>
                <a:lumMod val="120000"/>
              </a:schemeClr>
            </a:gs>
            <a:gs pos="100000">
              <a:schemeClr val="accent3">
                <a:hueOff val="0"/>
                <a:satOff val="0"/>
                <a:lumOff val="0"/>
                <a:alphaOff val="0"/>
                <a:shade val="89000"/>
                <a:lumMod val="90000"/>
              </a:schemeClr>
            </a:gs>
          </a:gsLst>
          <a:lin ang="5400000" scaled="0"/>
        </a:gradFill>
        <a:ln>
          <a:noFill/>
        </a:ln>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a:latin typeface="微软雅黑" panose="020B0503020204020204" charset="-122"/>
              <a:ea typeface="微软雅黑" panose="020B0503020204020204" charset="-122"/>
              <a:cs typeface="微软雅黑" panose="020B0503020204020204" charset="-122"/>
            </a:rPr>
            <a:t>衣</a:t>
          </a:r>
          <a:endParaRPr lang="en-US" sz="2800" kern="1200" dirty="0">
            <a:latin typeface="微软雅黑" panose="020B0503020204020204" charset="-122"/>
            <a:ea typeface="微软雅黑" panose="020B0503020204020204" charset="-122"/>
            <a:cs typeface="微软雅黑" panose="020B0503020204020204" charset="-122"/>
          </a:endParaRPr>
        </a:p>
      </dsp:txBody>
      <dsp:txXfrm>
        <a:off x="1957970" y="793971"/>
        <a:ext cx="1322448" cy="1322448"/>
      </dsp:txXfrm>
    </dsp:sp>
    <dsp:sp modelId="{826E96EF-EC08-E544-BA0B-2B408A4C358B}">
      <dsp:nvSpPr>
        <dsp:cNvPr id="0" name=""/>
        <dsp:cNvSpPr/>
      </dsp:nvSpPr>
      <dsp:spPr>
        <a:xfrm rot="5400000">
          <a:off x="3366803" y="246195"/>
          <a:ext cx="1870224" cy="1870224"/>
        </a:xfrm>
        <a:prstGeom prst="pieWedge">
          <a:avLst/>
        </a:prstGeom>
        <a:gradFill rotWithShape="0">
          <a:gsLst>
            <a:gs pos="0">
              <a:schemeClr val="accent3">
                <a:hueOff val="-1190271"/>
                <a:satOff val="4097"/>
                <a:lumOff val="-3333"/>
                <a:alphaOff val="0"/>
                <a:tint val="96000"/>
                <a:satMod val="120000"/>
                <a:lumMod val="120000"/>
              </a:schemeClr>
            </a:gs>
            <a:gs pos="100000">
              <a:schemeClr val="accent3">
                <a:hueOff val="-1190271"/>
                <a:satOff val="4097"/>
                <a:lumOff val="-3333"/>
                <a:alphaOff val="0"/>
                <a:shade val="89000"/>
                <a:lumMod val="90000"/>
              </a:schemeClr>
            </a:gs>
          </a:gsLst>
          <a:lin ang="5400000" scaled="0"/>
        </a:gradFill>
        <a:ln>
          <a:noFill/>
        </a:ln>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a:latin typeface="微软雅黑" panose="020B0503020204020204" charset="-122"/>
              <a:ea typeface="微软雅黑" panose="020B0503020204020204" charset="-122"/>
              <a:cs typeface="微软雅黑" panose="020B0503020204020204" charset="-122"/>
            </a:rPr>
            <a:t>食</a:t>
          </a:r>
          <a:endParaRPr lang="en-US" sz="1600" kern="1200" dirty="0">
            <a:latin typeface="微软雅黑" panose="020B0503020204020204" charset="-122"/>
            <a:ea typeface="微软雅黑" panose="020B0503020204020204" charset="-122"/>
            <a:cs typeface="微软雅黑" panose="020B0503020204020204" charset="-122"/>
          </a:endParaRPr>
        </a:p>
      </dsp:txBody>
      <dsp:txXfrm rot="-5400000">
        <a:off x="3366803" y="793971"/>
        <a:ext cx="1322448" cy="1322448"/>
      </dsp:txXfrm>
    </dsp:sp>
    <dsp:sp modelId="{82EF9889-5961-7C4A-A3F7-DD7259E16A42}">
      <dsp:nvSpPr>
        <dsp:cNvPr id="0" name=""/>
        <dsp:cNvSpPr/>
      </dsp:nvSpPr>
      <dsp:spPr>
        <a:xfrm rot="10800000">
          <a:off x="3366803" y="2202804"/>
          <a:ext cx="1870224" cy="1870224"/>
        </a:xfrm>
        <a:prstGeom prst="pieWedge">
          <a:avLst/>
        </a:prstGeom>
        <a:gradFill rotWithShape="0">
          <a:gsLst>
            <a:gs pos="0">
              <a:schemeClr val="accent3">
                <a:hueOff val="-2380543"/>
                <a:satOff val="8194"/>
                <a:lumOff val="-6667"/>
                <a:alphaOff val="0"/>
                <a:tint val="96000"/>
                <a:satMod val="120000"/>
                <a:lumMod val="120000"/>
              </a:schemeClr>
            </a:gs>
            <a:gs pos="100000">
              <a:schemeClr val="accent3">
                <a:hueOff val="-2380543"/>
                <a:satOff val="8194"/>
                <a:lumOff val="-6667"/>
                <a:alphaOff val="0"/>
                <a:shade val="89000"/>
                <a:lumMod val="90000"/>
              </a:schemeClr>
            </a:gs>
          </a:gsLst>
          <a:lin ang="5400000" scaled="0"/>
        </a:gradFill>
        <a:ln>
          <a:noFill/>
        </a:ln>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a:latin typeface="微软雅黑" panose="020B0503020204020204" charset="-122"/>
              <a:ea typeface="微软雅黑" panose="020B0503020204020204" charset="-122"/>
              <a:cs typeface="微软雅黑" panose="020B0503020204020204" charset="-122"/>
            </a:rPr>
            <a:t>行</a:t>
          </a:r>
          <a:endParaRPr lang="en-US" sz="2000" kern="1200" dirty="0">
            <a:latin typeface="微软雅黑" panose="020B0503020204020204" charset="-122"/>
            <a:ea typeface="微软雅黑" panose="020B0503020204020204" charset="-122"/>
            <a:cs typeface="微软雅黑" panose="020B0503020204020204" charset="-122"/>
          </a:endParaRPr>
        </a:p>
      </dsp:txBody>
      <dsp:txXfrm rot="10800000">
        <a:off x="3366803" y="2202804"/>
        <a:ext cx="1322448" cy="1322448"/>
      </dsp:txXfrm>
    </dsp:sp>
    <dsp:sp modelId="{10214FC2-FECB-FB48-B839-43DDA3B6A933}">
      <dsp:nvSpPr>
        <dsp:cNvPr id="0" name=""/>
        <dsp:cNvSpPr/>
      </dsp:nvSpPr>
      <dsp:spPr>
        <a:xfrm rot="16200000">
          <a:off x="1410194" y="2202804"/>
          <a:ext cx="1870224" cy="1870224"/>
        </a:xfrm>
        <a:prstGeom prst="pieWedge">
          <a:avLst/>
        </a:prstGeom>
        <a:gradFill rotWithShape="0">
          <a:gsLst>
            <a:gs pos="0">
              <a:schemeClr val="accent3">
                <a:hueOff val="-3570814"/>
                <a:satOff val="12291"/>
                <a:lumOff val="-10000"/>
                <a:alphaOff val="0"/>
                <a:tint val="96000"/>
                <a:satMod val="120000"/>
                <a:lumMod val="120000"/>
              </a:schemeClr>
            </a:gs>
            <a:gs pos="100000">
              <a:schemeClr val="accent3">
                <a:hueOff val="-3570814"/>
                <a:satOff val="12291"/>
                <a:lumOff val="-10000"/>
                <a:alphaOff val="0"/>
                <a:shade val="89000"/>
                <a:lumMod val="90000"/>
              </a:schemeClr>
            </a:gs>
          </a:gsLst>
          <a:lin ang="5400000" scaled="0"/>
        </a:gradFill>
        <a:ln>
          <a:noFill/>
        </a:ln>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dsp:spPr>
      <dsp:style>
        <a:lnRef idx="0">
          <a:scrgbClr r="0" g="0" b="0"/>
        </a:lnRef>
        <a:fillRef idx="3">
          <a:scrgbClr r="0" g="0" b="0"/>
        </a:fillRef>
        <a:effectRef idx="2">
          <a:scrgbClr r="0" g="0" b="0"/>
        </a:effectRef>
        <a:fontRef idx="minor">
          <a:schemeClr val="lt1"/>
        </a:fontRef>
      </dsp:style>
      <dsp:txBody>
        <a:bodyPr spcFirstLastPara="0" vert="horz" wrap="square" lIns="199136" tIns="199136" rIns="199136" bIns="199136" numCol="1" spcCol="1270" anchor="ctr" anchorCtr="0">
          <a:noAutofit/>
        </a:bodyPr>
        <a:lstStyle/>
        <a:p>
          <a:pPr lvl="0" algn="ctr" defTabSz="1244600">
            <a:lnSpc>
              <a:spcPct val="90000"/>
            </a:lnSpc>
            <a:spcBef>
              <a:spcPct val="0"/>
            </a:spcBef>
            <a:spcAft>
              <a:spcPct val="35000"/>
            </a:spcAft>
          </a:pPr>
          <a:r>
            <a:rPr lang="zh-CN" altLang="en-US" sz="2800" kern="1200" dirty="0">
              <a:latin typeface="微软雅黑" panose="020B0503020204020204" charset="-122"/>
              <a:ea typeface="微软雅黑" panose="020B0503020204020204" charset="-122"/>
              <a:cs typeface="微软雅黑" panose="020B0503020204020204" charset="-122"/>
            </a:rPr>
            <a:t>住</a:t>
          </a:r>
          <a:endParaRPr lang="en-US" sz="1600" kern="1200" dirty="0">
            <a:latin typeface="微软雅黑" panose="020B0503020204020204" charset="-122"/>
            <a:ea typeface="微软雅黑" panose="020B0503020204020204" charset="-122"/>
            <a:cs typeface="微软雅黑" panose="020B0503020204020204" charset="-122"/>
          </a:endParaRPr>
        </a:p>
      </dsp:txBody>
      <dsp:txXfrm rot="5400000">
        <a:off x="1957970" y="2202804"/>
        <a:ext cx="1322448" cy="1322448"/>
      </dsp:txXfrm>
    </dsp:sp>
    <dsp:sp modelId="{8CC43170-3DD6-C24E-949D-D1F0A6D81018}">
      <dsp:nvSpPr>
        <dsp:cNvPr id="0" name=""/>
        <dsp:cNvSpPr/>
      </dsp:nvSpPr>
      <dsp:spPr>
        <a:xfrm>
          <a:off x="3000749" y="1770882"/>
          <a:ext cx="645724" cy="561499"/>
        </a:xfrm>
        <a:prstGeom prst="circularArrow">
          <a:avLst/>
        </a:prstGeom>
        <a:gradFill rotWithShape="0">
          <a:gsLst>
            <a:gs pos="0">
              <a:schemeClr val="accent3">
                <a:tint val="40000"/>
                <a:hueOff val="0"/>
                <a:satOff val="0"/>
                <a:lumOff val="0"/>
                <a:alphaOff val="0"/>
                <a:tint val="96000"/>
                <a:satMod val="120000"/>
                <a:lumMod val="120000"/>
              </a:schemeClr>
            </a:gs>
            <a:gs pos="100000">
              <a:schemeClr val="accent3">
                <a:tint val="40000"/>
                <a:hueOff val="0"/>
                <a:satOff val="0"/>
                <a:lumOff val="0"/>
                <a:alphaOff val="0"/>
                <a:shade val="89000"/>
                <a:lumMod val="90000"/>
              </a:schemeClr>
            </a:gs>
          </a:gsLst>
          <a:lin ang="5400000" scaled="0"/>
        </a:gradFill>
        <a:ln>
          <a:noFill/>
        </a:ln>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dsp:spPr>
      <dsp:style>
        <a:lnRef idx="0">
          <a:scrgbClr r="0" g="0" b="0"/>
        </a:lnRef>
        <a:fillRef idx="3">
          <a:scrgbClr r="0" g="0" b="0"/>
        </a:fillRef>
        <a:effectRef idx="2">
          <a:scrgbClr r="0" g="0" b="0"/>
        </a:effectRef>
        <a:fontRef idx="minor"/>
      </dsp:style>
    </dsp:sp>
    <dsp:sp modelId="{6F594A2C-AADE-FE4B-A575-ECF09B90C199}">
      <dsp:nvSpPr>
        <dsp:cNvPr id="0" name=""/>
        <dsp:cNvSpPr/>
      </dsp:nvSpPr>
      <dsp:spPr>
        <a:xfrm rot="10800000">
          <a:off x="3000749" y="1986843"/>
          <a:ext cx="645724" cy="561499"/>
        </a:xfrm>
        <a:prstGeom prst="circularArrow">
          <a:avLst/>
        </a:prstGeom>
        <a:gradFill rotWithShape="0">
          <a:gsLst>
            <a:gs pos="0">
              <a:schemeClr val="accent3">
                <a:tint val="40000"/>
                <a:hueOff val="0"/>
                <a:satOff val="0"/>
                <a:lumOff val="0"/>
                <a:alphaOff val="0"/>
                <a:tint val="96000"/>
                <a:satMod val="120000"/>
                <a:lumMod val="120000"/>
              </a:schemeClr>
            </a:gs>
            <a:gs pos="100000">
              <a:schemeClr val="accent3">
                <a:tint val="40000"/>
                <a:hueOff val="0"/>
                <a:satOff val="0"/>
                <a:lumOff val="0"/>
                <a:alphaOff val="0"/>
                <a:shade val="89000"/>
                <a:lumMod val="90000"/>
              </a:schemeClr>
            </a:gs>
          </a:gsLst>
          <a:lin ang="5400000" scaled="0"/>
        </a:gradFill>
        <a:ln>
          <a:noFill/>
        </a:ln>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dsp:spPr>
      <dsp:style>
        <a:lnRef idx="0">
          <a:scrgbClr r="0" g="0" b="0"/>
        </a:lnRef>
        <a:fillRef idx="3">
          <a:scrgbClr r="0" g="0" b="0"/>
        </a:fillRef>
        <a:effectRef idx="2">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1">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vertAlign" val="none"/>
                  <dgm:param type="horz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vertAlign" val="none"/>
                  <dgm:param type="horz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vertAlign" val="none"/>
                  <dgm:param type="horz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vertAlign" val="none"/>
                  <dgm:param type="horz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4#1">
  <dgm:title val=""/>
  <dgm:desc val=""/>
  <dgm:catLst>
    <dgm:cat type="simple" pri="10400"/>
  </dgm:catLst>
  <dgm:scene3d>
    <a:camera prst="orthographicFront"/>
    <a:lightRig rig="threePt" dir="t"/>
  </dgm:scene3d>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1A888FD4-ED32-4DEF-8F16-D2314B0E6F53}" type="datetimeFigureOut">
              <a:rPr lang="zh-CN" altLang="en-US" smtClean="0"/>
              <a:t>2020/10/2</a:t>
            </a:fld>
            <a:endParaRPr lang="zh-CN" altLang="en-US"/>
          </a:p>
        </p:txBody>
      </p:sp>
      <p:sp>
        <p:nvSpPr>
          <p:cNvPr id="4" name="幻灯片图像占位符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B9DA4B1-8562-4C55-8E64-ACFC323119B3}" type="slidenum">
              <a:rPr lang="zh-CN" altLang="en-US" smtClean="0"/>
              <a:t>‹#›</a:t>
            </a:fld>
            <a:endParaRPr lang="zh-CN" altLang="en-US"/>
          </a:p>
        </p:txBody>
      </p:sp>
    </p:spTree>
    <p:extLst>
      <p:ext uri="{BB962C8B-B14F-4D97-AF65-F5344CB8AC3E}">
        <p14:creationId xmlns:p14="http://schemas.microsoft.com/office/powerpoint/2010/main" val="15240534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（待补充：统计近几年计算机专业就业的方向）</a:t>
            </a:r>
            <a:r>
              <a:rPr lang="en-US" altLang="zh-CN" dirty="0"/>
              <a:t/>
            </a:r>
            <a:br>
              <a:rPr lang="en-US" altLang="zh-CN" dirty="0"/>
            </a:br>
            <a:endParaRPr lang="zh-CN" altLang="en-US" dirty="0"/>
          </a:p>
        </p:txBody>
      </p:sp>
      <p:sp>
        <p:nvSpPr>
          <p:cNvPr id="4" name="灯片编号占位符 3"/>
          <p:cNvSpPr>
            <a:spLocks noGrp="1"/>
          </p:cNvSpPr>
          <p:nvPr>
            <p:ph type="sldNum" sz="quarter" idx="5"/>
          </p:nvPr>
        </p:nvSpPr>
        <p:spPr/>
        <p:txBody>
          <a:bodyPr/>
          <a:lstStyle/>
          <a:p>
            <a:fld id="{EB9DA4B1-8562-4C55-8E64-ACFC323119B3}" type="slidenum">
              <a:rPr lang="zh-CN" altLang="en-US" smtClean="0"/>
              <a:t>23</a:t>
            </a:fld>
            <a:endParaRPr lang="zh-CN" altLang="en-US"/>
          </a:p>
        </p:txBody>
      </p:sp>
    </p:spTree>
    <p:extLst>
      <p:ext uri="{BB962C8B-B14F-4D97-AF65-F5344CB8AC3E}">
        <p14:creationId xmlns:p14="http://schemas.microsoft.com/office/powerpoint/2010/main" val="18235065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社会主义核心价值观：</a:t>
            </a:r>
            <a:r>
              <a:rPr lang="zh-CN" altLang="en-US" sz="1200" b="0" i="0" kern="1200" dirty="0">
                <a:solidFill>
                  <a:schemeClr val="tx1"/>
                </a:solidFill>
                <a:effectLst/>
                <a:latin typeface="+mn-lt"/>
                <a:ea typeface="+mn-ea"/>
                <a:cs typeface="+mn-cs"/>
              </a:rPr>
              <a:t>富强、民主、文明、和谐，自由、平等、公正、法治，爱国、敬业、诚信、友善。</a:t>
            </a:r>
            <a:endParaRPr lang="en-US" altLang="zh-CN" dirty="0"/>
          </a:p>
          <a:p>
            <a:pPr marL="0" marR="0" lvl="0" indent="0" algn="l" defTabSz="914400" rtl="0" eaLnBrk="1" fontAlgn="auto" latinLnBrk="0" hangingPunct="1">
              <a:lnSpc>
                <a:spcPct val="100000"/>
              </a:lnSpc>
              <a:spcBef>
                <a:spcPts val="0"/>
              </a:spcBef>
              <a:spcAft>
                <a:spcPts val="0"/>
              </a:spcAft>
              <a:buClrTx/>
              <a:buSzTx/>
              <a:buFontTx/>
              <a:buNone/>
              <a:tabLst/>
              <a:defRPr/>
            </a:pPr>
            <a:r>
              <a:rPr lang="zh-CN" altLang="en-US" dirty="0"/>
              <a:t>敬业是对公民职业行为准则的价值评价。</a:t>
            </a:r>
            <a:endParaRPr lang="en-US" altLang="zh-CN" dirty="0"/>
          </a:p>
          <a:p>
            <a:endParaRPr lang="zh-CN" altLang="en-US" dirty="0"/>
          </a:p>
        </p:txBody>
      </p:sp>
      <p:sp>
        <p:nvSpPr>
          <p:cNvPr id="4" name="灯片编号占位符 3"/>
          <p:cNvSpPr>
            <a:spLocks noGrp="1"/>
          </p:cNvSpPr>
          <p:nvPr>
            <p:ph type="sldNum" sz="quarter" idx="5"/>
          </p:nvPr>
        </p:nvSpPr>
        <p:spPr/>
        <p:txBody>
          <a:bodyPr/>
          <a:lstStyle/>
          <a:p>
            <a:fld id="{EB9DA4B1-8562-4C55-8E64-ACFC323119B3}" type="slidenum">
              <a:rPr lang="zh-CN" altLang="en-US" smtClean="0"/>
              <a:t>24</a:t>
            </a:fld>
            <a:endParaRPr lang="zh-CN" altLang="en-US"/>
          </a:p>
        </p:txBody>
      </p:sp>
    </p:spTree>
    <p:extLst>
      <p:ext uri="{BB962C8B-B14F-4D97-AF65-F5344CB8AC3E}">
        <p14:creationId xmlns:p14="http://schemas.microsoft.com/office/powerpoint/2010/main" val="352446319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这三种能力在本课程中都有体现。</a:t>
            </a:r>
            <a:endParaRPr lang="en-US" altLang="zh-CN" dirty="0"/>
          </a:p>
          <a:p>
            <a:r>
              <a:rPr lang="en-US" altLang="zh-CN" dirty="0"/>
              <a:t>1-</a:t>
            </a:r>
            <a:r>
              <a:rPr lang="zh-CN" altLang="en-US" dirty="0"/>
              <a:t>即使是</a:t>
            </a:r>
            <a:r>
              <a:rPr lang="en-US" altLang="zh-CN" dirty="0"/>
              <a:t>word</a:t>
            </a:r>
            <a:r>
              <a:rPr lang="zh-CN" altLang="en-US" dirty="0"/>
              <a:t>的使用，都是在实践中不断学习的，课程中学到的很有限。</a:t>
            </a:r>
            <a:endParaRPr lang="en-US" altLang="zh-CN" dirty="0"/>
          </a:p>
          <a:p>
            <a:r>
              <a:rPr lang="en-US" altLang="zh-CN" dirty="0"/>
              <a:t>2-</a:t>
            </a:r>
            <a:r>
              <a:rPr lang="zh-CN" altLang="en-US" dirty="0"/>
              <a:t>软件的新功能，开发的新工具（如</a:t>
            </a:r>
            <a:r>
              <a:rPr lang="en-US" altLang="zh-CN" dirty="0" err="1"/>
              <a:t>github</a:t>
            </a:r>
            <a:r>
              <a:rPr lang="zh-CN" altLang="en-US" dirty="0"/>
              <a:t>）</a:t>
            </a:r>
            <a:endParaRPr lang="en-US" altLang="zh-CN" dirty="0"/>
          </a:p>
          <a:p>
            <a:r>
              <a:rPr lang="en-US" altLang="zh-CN" dirty="0"/>
              <a:t>3-office</a:t>
            </a:r>
            <a:r>
              <a:rPr lang="zh-CN" altLang="en-US" dirty="0"/>
              <a:t>办公软件，课程大作业全班</a:t>
            </a:r>
            <a:r>
              <a:rPr lang="en-US" altLang="zh-CN" dirty="0"/>
              <a:t>/</a:t>
            </a:r>
            <a:r>
              <a:rPr lang="zh-CN" altLang="en-US" dirty="0"/>
              <a:t>全宿舍协作，答辩</a:t>
            </a:r>
          </a:p>
        </p:txBody>
      </p:sp>
      <p:sp>
        <p:nvSpPr>
          <p:cNvPr id="4" name="灯片编号占位符 3"/>
          <p:cNvSpPr>
            <a:spLocks noGrp="1"/>
          </p:cNvSpPr>
          <p:nvPr>
            <p:ph type="sldNum" sz="quarter" idx="5"/>
          </p:nvPr>
        </p:nvSpPr>
        <p:spPr/>
        <p:txBody>
          <a:bodyPr/>
          <a:lstStyle/>
          <a:p>
            <a:fld id="{EB9DA4B1-8562-4C55-8E64-ACFC323119B3}" type="slidenum">
              <a:rPr lang="zh-CN" altLang="en-US" smtClean="0"/>
              <a:t>31</a:t>
            </a:fld>
            <a:endParaRPr lang="zh-CN" altLang="en-US"/>
          </a:p>
        </p:txBody>
      </p:sp>
    </p:spTree>
    <p:extLst>
      <p:ext uri="{BB962C8B-B14F-4D97-AF65-F5344CB8AC3E}">
        <p14:creationId xmlns:p14="http://schemas.microsoft.com/office/powerpoint/2010/main" val="320935406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标题幻灯片">
    <p:spTree>
      <p:nvGrpSpPr>
        <p:cNvPr id="1" name=""/>
        <p:cNvGrpSpPr/>
        <p:nvPr/>
      </p:nvGrpSpPr>
      <p:grpSpPr>
        <a:xfrm>
          <a:off x="0" y="0"/>
          <a:ext cx="0" cy="0"/>
          <a:chOff x="0" y="0"/>
          <a:chExt cx="0" cy="0"/>
        </a:xfrm>
      </p:grpSpPr>
      <p:sp>
        <p:nvSpPr>
          <p:cNvPr id="16" name="Rounded Rectangle 15"/>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9"/>
          <p:cNvGrpSpPr>
            <a:grpSpLocks noChangeAspect="1"/>
          </p:cNvGrpSpPr>
          <p:nvPr/>
        </p:nvGrpSpPr>
        <p:grpSpPr bwMode="hidden">
          <a:xfrm>
            <a:off x="211665" y="5353963"/>
            <a:ext cx="8723376" cy="1331580"/>
            <a:chOff x="-3905250" y="4294188"/>
            <a:chExt cx="13011150" cy="1892300"/>
          </a:xfrm>
        </p:grpSpPr>
        <p:sp>
          <p:nvSpPr>
            <p:cNvPr id="11"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4"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5"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ctrTitle"/>
          </p:nvPr>
        </p:nvSpPr>
        <p:spPr>
          <a:xfrm>
            <a:off x="685800" y="1600200"/>
            <a:ext cx="7772400" cy="1780108"/>
          </a:xfrm>
        </p:spPr>
        <p:txBody>
          <a:bodyPr anchor="b">
            <a:normAutofit/>
          </a:bodyPr>
          <a:lstStyle>
            <a:lvl1pPr>
              <a:defRPr sz="4400">
                <a:solidFill>
                  <a:srgbClr val="FFFFFF"/>
                </a:solidFill>
              </a:defRPr>
            </a:lvl1pPr>
          </a:lstStyle>
          <a:p>
            <a:r>
              <a:rPr lang="zh-CN" altLang="en-US" smtClean="0"/>
              <a:t>单击此处编辑母版标题样式</a:t>
            </a:r>
            <a:endParaRPr lang="en-US" dirty="0"/>
          </a:p>
        </p:txBody>
      </p:sp>
      <p:sp>
        <p:nvSpPr>
          <p:cNvPr id="3" name="Subtitle 2"/>
          <p:cNvSpPr>
            <a:spLocks noGrp="1"/>
          </p:cNvSpPr>
          <p:nvPr>
            <p:ph type="subTitle" idx="1"/>
          </p:nvPr>
        </p:nvSpPr>
        <p:spPr>
          <a:xfrm>
            <a:off x="1371600" y="3556001"/>
            <a:ext cx="6400800" cy="1473200"/>
          </a:xfrm>
        </p:spPr>
        <p:txBody>
          <a:bodyPr>
            <a:normAutofit/>
          </a:bodyPr>
          <a:lstStyle>
            <a:lvl1pPr marL="0" indent="0" algn="ctr">
              <a:buNone/>
              <a:defRPr sz="2000">
                <a:solidFill>
                  <a:srgbClr val="FFFFFF"/>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zh-CN" altLang="en-US" smtClean="0"/>
              <a:t>单击此处编辑母版副标题样式</a:t>
            </a:r>
            <a:endParaRPr lang="en-US" dirty="0"/>
          </a:p>
        </p:txBody>
      </p:sp>
      <p:sp>
        <p:nvSpPr>
          <p:cNvPr id="4" name="Date Placeholder 3"/>
          <p:cNvSpPr>
            <a:spLocks noGrp="1"/>
          </p:cNvSpPr>
          <p:nvPr>
            <p:ph type="dt" sz="half" idx="10"/>
          </p:nvPr>
        </p:nvSpPr>
        <p:spPr/>
        <p:txBody>
          <a:bodyPr/>
          <a:lstStyle/>
          <a:p>
            <a:fld id="{9B78BB41-5D27-4A90-A0AA-4382DBD662AA}" type="datetime1">
              <a:rPr lang="zh-CN" altLang="en-US" smtClean="0"/>
              <a:t>2020/10/2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FBB2CE3C-3967-461E-91E3-71C1C9A9E5F7}" type="datetime1">
              <a:rPr lang="zh-CN" altLang="en-US" smtClean="0"/>
              <a:t>2020/10/2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7" name="Title 6"/>
          <p:cNvSpPr>
            <a:spLocks noGrp="1"/>
          </p:cNvSpPr>
          <p:nvPr>
            <p:ph type="title"/>
          </p:nvPr>
        </p:nvSpPr>
        <p:spPr/>
        <p:txBody>
          <a:bodyPr/>
          <a:lstStyle/>
          <a:p>
            <a:r>
              <a:rPr lang="zh-CN" altLang="en-US" smtClean="0"/>
              <a:t>单击此处编辑母版标题样式</a:t>
            </a:r>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节标题">
    <p:spTree>
      <p:nvGrpSpPr>
        <p:cNvPr id="1" name=""/>
        <p:cNvGrpSpPr/>
        <p:nvPr/>
      </p:nvGrpSpPr>
      <p:grpSpPr>
        <a:xfrm>
          <a:off x="0" y="0"/>
          <a:ext cx="0" cy="0"/>
          <a:chOff x="0" y="0"/>
          <a:chExt cx="0" cy="0"/>
        </a:xfrm>
      </p:grpSpPr>
      <p:sp>
        <p:nvSpPr>
          <p:cNvPr id="14" name="Rounded Rectangle 13"/>
          <p:cNvSpPr/>
          <p:nvPr/>
        </p:nvSpPr>
        <p:spPr>
          <a:xfrm>
            <a:off x="228600" y="228600"/>
            <a:ext cx="8695944" cy="4736592"/>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Freeform 14"/>
          <p:cNvSpPr>
            <a:spLocks/>
          </p:cNvSpPr>
          <p:nvPr/>
        </p:nvSpPr>
        <p:spPr bwMode="hidden">
          <a:xfrm>
            <a:off x="6047438" y="4203592"/>
            <a:ext cx="2876429" cy="714026"/>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18"/>
          <p:cNvSpPr>
            <a:spLocks/>
          </p:cNvSpPr>
          <p:nvPr/>
        </p:nvSpPr>
        <p:spPr bwMode="hidden">
          <a:xfrm>
            <a:off x="2619320" y="4075290"/>
            <a:ext cx="5544515" cy="850138"/>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22"/>
          <p:cNvSpPr>
            <a:spLocks/>
          </p:cNvSpPr>
          <p:nvPr/>
        </p:nvSpPr>
        <p:spPr bwMode="hidden">
          <a:xfrm>
            <a:off x="2828728" y="4087562"/>
            <a:ext cx="5467980" cy="774272"/>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6"/>
          <p:cNvSpPr>
            <a:spLocks/>
          </p:cNvSpPr>
          <p:nvPr/>
        </p:nvSpPr>
        <p:spPr bwMode="hidden">
          <a:xfrm>
            <a:off x="5609489" y="4074174"/>
            <a:ext cx="3308000" cy="651549"/>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3" name="Freeform 10"/>
          <p:cNvSpPr>
            <a:spLocks/>
          </p:cNvSpPr>
          <p:nvPr/>
        </p:nvSpPr>
        <p:spPr bwMode="hidden">
          <a:xfrm>
            <a:off x="211665" y="4058555"/>
            <a:ext cx="8723376" cy="1329874"/>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 name="Title 1"/>
          <p:cNvSpPr>
            <a:spLocks noGrp="1"/>
          </p:cNvSpPr>
          <p:nvPr>
            <p:ph type="title"/>
          </p:nvPr>
        </p:nvSpPr>
        <p:spPr>
          <a:xfrm>
            <a:off x="690032" y="2463560"/>
            <a:ext cx="7772400" cy="1524000"/>
          </a:xfrm>
        </p:spPr>
        <p:txBody>
          <a:bodyPr anchor="t">
            <a:normAutofit/>
          </a:bodyPr>
          <a:lstStyle>
            <a:lvl1pPr algn="ctr">
              <a:defRPr sz="4400" b="0" cap="none"/>
            </a:lvl1pPr>
          </a:lstStyle>
          <a:p>
            <a:r>
              <a:rPr lang="zh-CN" altLang="en-US" smtClean="0"/>
              <a:t>单击此处编辑母版标题样式</a:t>
            </a:r>
            <a:endParaRPr lang="en-US" dirty="0"/>
          </a:p>
        </p:txBody>
      </p:sp>
      <p:sp>
        <p:nvSpPr>
          <p:cNvPr id="3" name="Text Placeholder 2"/>
          <p:cNvSpPr>
            <a:spLocks noGrp="1"/>
          </p:cNvSpPr>
          <p:nvPr>
            <p:ph type="body" idx="1"/>
          </p:nvPr>
        </p:nvSpPr>
        <p:spPr>
          <a:xfrm>
            <a:off x="1367365" y="1437448"/>
            <a:ext cx="6417734" cy="939801"/>
          </a:xfrm>
        </p:spPr>
        <p:txBody>
          <a:bodyPr anchor="b">
            <a:normAutofit/>
          </a:bodyPr>
          <a:lstStyle>
            <a:lvl1pPr marL="0" indent="0" algn="ctr">
              <a:buNone/>
              <a:defRPr sz="2000">
                <a:solidFill>
                  <a:srgbClr val="FFFFFF"/>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zh-CN" altLang="en-US" smtClean="0"/>
              <a:t>单击此处编辑母版文本样式</a:t>
            </a:r>
          </a:p>
        </p:txBody>
      </p:sp>
      <p:sp>
        <p:nvSpPr>
          <p:cNvPr id="4" name="Date Placeholder 3"/>
          <p:cNvSpPr>
            <a:spLocks noGrp="1"/>
          </p:cNvSpPr>
          <p:nvPr>
            <p:ph type="dt" sz="half" idx="10"/>
          </p:nvPr>
        </p:nvSpPr>
        <p:spPr/>
        <p:txBody>
          <a:bodyPr/>
          <a:lstStyle/>
          <a:p>
            <a:fld id="{5C52FDE6-8E7B-43A3-8CEF-38DA8B68C9CA}" type="datetime1">
              <a:rPr lang="zh-CN" altLang="en-US" smtClean="0"/>
              <a:t>2020/10/2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5" name="Date Placeholder 4"/>
          <p:cNvSpPr>
            <a:spLocks noGrp="1"/>
          </p:cNvSpPr>
          <p:nvPr>
            <p:ph type="dt" sz="half" idx="10"/>
          </p:nvPr>
        </p:nvSpPr>
        <p:spPr/>
        <p:txBody>
          <a:bodyPr/>
          <a:lstStyle/>
          <a:p>
            <a:fld id="{8CC1A53D-AB1B-48BA-9695-F660EB2A6822}" type="datetime1">
              <a:rPr lang="zh-CN" altLang="en-US" smtClean="0"/>
              <a:t>2020/10/2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9" name="Content Placeholder 8"/>
          <p:cNvSpPr>
            <a:spLocks noGrp="1"/>
          </p:cNvSpPr>
          <p:nvPr>
            <p:ph sz="quarter" idx="13"/>
          </p:nvPr>
        </p:nvSpPr>
        <p:spPr>
          <a:xfrm>
            <a:off x="676655"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11" name="Content Placeholder 10"/>
          <p:cNvSpPr>
            <a:spLocks noGrp="1"/>
          </p:cNvSpPr>
          <p:nvPr>
            <p:ph sz="quarter" idx="14"/>
          </p:nvPr>
        </p:nvSpPr>
        <p:spPr>
          <a:xfrm>
            <a:off x="4645152" y="2679192"/>
            <a:ext cx="3822192" cy="3447288"/>
          </a:xfrm>
        </p:spPr>
        <p:txBody>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zh-CN" altLang="en-US" smtClean="0"/>
              <a:t>单击此处编辑母版标题样式</a:t>
            </a:r>
            <a:endParaRPr lang="en-US"/>
          </a:p>
        </p:txBody>
      </p:sp>
      <p:sp>
        <p:nvSpPr>
          <p:cNvPr id="3" name="Text Placeholder 2"/>
          <p:cNvSpPr>
            <a:spLocks noGrp="1"/>
          </p:cNvSpPr>
          <p:nvPr>
            <p:ph type="body" idx="1"/>
          </p:nvPr>
        </p:nvSpPr>
        <p:spPr>
          <a:xfrm>
            <a:off x="676656" y="2678114"/>
            <a:ext cx="3822192" cy="639762"/>
          </a:xfrm>
        </p:spPr>
        <p:txBody>
          <a:bodyPr anchor="ctr"/>
          <a:lstStyle>
            <a:lvl1pPr marL="0" indent="0" algn="ctr">
              <a:buNone/>
              <a:defRPr sz="2400" b="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4" name="Content Placeholder 3"/>
          <p:cNvSpPr>
            <a:spLocks noGrp="1"/>
          </p:cNvSpPr>
          <p:nvPr>
            <p:ph sz="half" idx="2"/>
          </p:nvPr>
        </p:nvSpPr>
        <p:spPr>
          <a:xfrm>
            <a:off x="677332" y="3429000"/>
            <a:ext cx="3820055"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5" name="Text Placeholder 4"/>
          <p:cNvSpPr>
            <a:spLocks noGrp="1"/>
          </p:cNvSpPr>
          <p:nvPr>
            <p:ph type="body" sz="quarter" idx="3"/>
          </p:nvPr>
        </p:nvSpPr>
        <p:spPr>
          <a:xfrm>
            <a:off x="4648200" y="2678113"/>
            <a:ext cx="3822192" cy="639762"/>
          </a:xfrm>
        </p:spPr>
        <p:txBody>
          <a:bodyPr anchor="ctr"/>
          <a:lstStyle>
            <a:lvl1pPr marL="0" indent="0" algn="ctr">
              <a:buNone/>
              <a:defRPr sz="2400" b="0" i="0">
                <a:solidFill>
                  <a:schemeClr val="tx2"/>
                </a:solidFill>
                <a:latin typeface="+mj-lt"/>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单击此处编辑母版文本样式</a:t>
            </a:r>
          </a:p>
        </p:txBody>
      </p:sp>
      <p:sp>
        <p:nvSpPr>
          <p:cNvPr id="6" name="Content Placeholder 5"/>
          <p:cNvSpPr>
            <a:spLocks noGrp="1"/>
          </p:cNvSpPr>
          <p:nvPr>
            <p:ph sz="quarter" idx="4"/>
          </p:nvPr>
        </p:nvSpPr>
        <p:spPr>
          <a:xfrm>
            <a:off x="4645025" y="3429000"/>
            <a:ext cx="3822192" cy="2697163"/>
          </a:xfrm>
        </p:spPr>
        <p:txBody>
          <a:bodyPr/>
          <a:lstStyle>
            <a:lvl1pPr>
              <a:defRPr sz="2000"/>
            </a:lvl1pPr>
            <a:lvl2pPr>
              <a:defRPr sz="1800"/>
            </a:lvl2pPr>
            <a:lvl3pPr>
              <a:defRPr sz="1600"/>
            </a:lvl3pPr>
            <a:lvl4pPr>
              <a:defRPr sz="1400"/>
            </a:lvl4pPr>
            <a:lvl5pPr>
              <a:defRPr sz="1400"/>
            </a:lvl5pPr>
            <a:lvl6pPr>
              <a:defRPr sz="1600"/>
            </a:lvl6pPr>
            <a:lvl7pPr>
              <a:defRPr sz="1600"/>
            </a:lvl7pPr>
            <a:lvl8pPr>
              <a:defRPr sz="1600"/>
            </a:lvl8pPr>
            <a:lvl9pPr>
              <a:defRPr sz="16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
        <p:nvSpPr>
          <p:cNvPr id="7" name="Date Placeholder 6"/>
          <p:cNvSpPr>
            <a:spLocks noGrp="1"/>
          </p:cNvSpPr>
          <p:nvPr>
            <p:ph type="dt" sz="half" idx="10"/>
          </p:nvPr>
        </p:nvSpPr>
        <p:spPr/>
        <p:txBody>
          <a:bodyPr/>
          <a:lstStyle/>
          <a:p>
            <a:fld id="{31390892-501A-4C5F-AB61-34871B124F59}" type="datetime1">
              <a:rPr lang="zh-CN" altLang="en-US" smtClean="0"/>
              <a:t>2020/10/2</a:t>
            </a:fld>
            <a:endParaRPr lang="zh-CN" altLang="en-US"/>
          </a:p>
        </p:txBody>
      </p:sp>
      <p:sp>
        <p:nvSpPr>
          <p:cNvPr id="8" name="Footer Placeholder 7"/>
          <p:cNvSpPr>
            <a:spLocks noGrp="1"/>
          </p:cNvSpPr>
          <p:nvPr>
            <p:ph type="ftr" sz="quarter" idx="11"/>
          </p:nvPr>
        </p:nvSpPr>
        <p:spPr/>
        <p:txBody>
          <a:bodyPr/>
          <a:lstStyle/>
          <a:p>
            <a:endParaRPr lang="zh-CN" altLang="en-US"/>
          </a:p>
        </p:txBody>
      </p:sp>
      <p:sp>
        <p:nvSpPr>
          <p:cNvPr id="9" name="Slide Number Placeholder 8"/>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Date Placeholder 2"/>
          <p:cNvSpPr>
            <a:spLocks noGrp="1"/>
          </p:cNvSpPr>
          <p:nvPr>
            <p:ph type="dt" sz="half" idx="10"/>
          </p:nvPr>
        </p:nvSpPr>
        <p:spPr/>
        <p:txBody>
          <a:bodyPr/>
          <a:lstStyle/>
          <a:p>
            <a:fld id="{13345B32-83D5-4C24-BDC4-35B7C9299400}" type="datetime1">
              <a:rPr lang="zh-CN" altLang="en-US" smtClean="0"/>
              <a:t>2020/10/2</a:t>
            </a:fld>
            <a:endParaRPr lang="zh-CN" altLang="en-US"/>
          </a:p>
        </p:txBody>
      </p:sp>
      <p:sp>
        <p:nvSpPr>
          <p:cNvPr id="4" name="Footer Placeholder 3"/>
          <p:cNvSpPr>
            <a:spLocks noGrp="1"/>
          </p:cNvSpPr>
          <p:nvPr>
            <p:ph type="ftr" sz="quarter" idx="11"/>
          </p:nvPr>
        </p:nvSpPr>
        <p:spPr/>
        <p:txBody>
          <a:bodyPr/>
          <a:lstStyle/>
          <a:p>
            <a:endParaRPr lang="zh-CN" altLang="en-US"/>
          </a:p>
        </p:txBody>
      </p:sp>
      <p:sp>
        <p:nvSpPr>
          <p:cNvPr id="5" name="Slide Number Placeholder 4"/>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空白">
    <p:spTree>
      <p:nvGrpSpPr>
        <p:cNvPr id="1" name=""/>
        <p:cNvGrpSpPr/>
        <p:nvPr/>
      </p:nvGrpSpPr>
      <p:grpSpPr>
        <a:xfrm>
          <a:off x="0" y="0"/>
          <a:ext cx="0" cy="0"/>
          <a:chOff x="0" y="0"/>
          <a:chExt cx="0" cy="0"/>
        </a:xfrm>
      </p:grpSpPr>
      <p:sp>
        <p:nvSpPr>
          <p:cNvPr id="12" name="Rounded Rectangle 11"/>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6" name="Group 5"/>
          <p:cNvGrpSpPr>
            <a:grpSpLocks noChangeAspect="1"/>
          </p:cNvGrpSpPr>
          <p:nvPr/>
        </p:nvGrpSpPr>
        <p:grpSpPr bwMode="hidden">
          <a:xfrm>
            <a:off x="211665" y="714191"/>
            <a:ext cx="8723376" cy="1329874"/>
            <a:chOff x="-3905251" y="4294188"/>
            <a:chExt cx="13027839" cy="1892300"/>
          </a:xfrm>
        </p:grpSpPr>
        <p:sp>
          <p:nvSpPr>
            <p:cNvPr id="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Date Placeholder 1"/>
          <p:cNvSpPr>
            <a:spLocks noGrp="1"/>
          </p:cNvSpPr>
          <p:nvPr>
            <p:ph type="dt" sz="half" idx="10"/>
          </p:nvPr>
        </p:nvSpPr>
        <p:spPr/>
        <p:txBody>
          <a:bodyPr/>
          <a:lstStyle/>
          <a:p>
            <a:fld id="{193A10A5-B455-4B94-B643-1513225506C3}" type="datetime1">
              <a:rPr lang="zh-CN" altLang="en-US" smtClean="0"/>
              <a:t>2020/10/2</a:t>
            </a:fld>
            <a:endParaRPr lang="zh-CN" altLang="en-US"/>
          </a:p>
        </p:txBody>
      </p:sp>
      <p:sp>
        <p:nvSpPr>
          <p:cNvPr id="3" name="Footer Placeholder 2"/>
          <p:cNvSpPr>
            <a:spLocks noGrp="1"/>
          </p:cNvSpPr>
          <p:nvPr>
            <p:ph type="ftr" sz="quarter" idx="11"/>
          </p:nvPr>
        </p:nvSpPr>
        <p:spPr/>
        <p:txBody>
          <a:bodyPr/>
          <a:lstStyle/>
          <a:p>
            <a:endParaRPr lang="zh-CN" altLang="en-US"/>
          </a:p>
        </p:txBody>
      </p:sp>
      <p:sp>
        <p:nvSpPr>
          <p:cNvPr id="4" name="Slide Number Placeholder 3"/>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内容与标题">
    <p:spTree>
      <p:nvGrpSpPr>
        <p:cNvPr id="1" name=""/>
        <p:cNvGrpSpPr/>
        <p:nvPr/>
      </p:nvGrpSpPr>
      <p:grpSpPr>
        <a:xfrm>
          <a:off x="0" y="0"/>
          <a:ext cx="0" cy="0"/>
          <a:chOff x="0" y="0"/>
          <a:chExt cx="0" cy="0"/>
        </a:xfrm>
      </p:grpSpPr>
      <p:sp>
        <p:nvSpPr>
          <p:cNvPr id="15" name="Rounded Rectangle 14"/>
          <p:cNvSpPr/>
          <p:nvPr/>
        </p:nvSpPr>
        <p:spPr>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Date Placeholder 4"/>
          <p:cNvSpPr>
            <a:spLocks noGrp="1"/>
          </p:cNvSpPr>
          <p:nvPr>
            <p:ph type="dt" sz="half" idx="10"/>
          </p:nvPr>
        </p:nvSpPr>
        <p:spPr/>
        <p:txBody>
          <a:bodyPr/>
          <a:lstStyle/>
          <a:p>
            <a:fld id="{798B5BCC-8C09-4E00-B590-55847AD5F758}" type="datetime1">
              <a:rPr lang="zh-CN" altLang="en-US" smtClean="0"/>
              <a:t>2020/10/2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4" name="Text Placeholder 3"/>
          <p:cNvSpPr>
            <a:spLocks noGrp="1"/>
          </p:cNvSpPr>
          <p:nvPr>
            <p:ph type="body" sz="half" idx="2"/>
          </p:nvPr>
        </p:nvSpPr>
        <p:spPr>
          <a:xfrm>
            <a:off x="914400" y="3581400"/>
            <a:ext cx="3352800" cy="1905001"/>
          </a:xfrm>
        </p:spPr>
        <p:txBody>
          <a:bodyPr anchor="t">
            <a:normAutofit/>
          </a:bodyPr>
          <a:lstStyle>
            <a:lvl1pPr marL="0" indent="0">
              <a:spcBef>
                <a:spcPts val="0"/>
              </a:spcBef>
              <a:spcAft>
                <a:spcPts val="600"/>
              </a:spcAft>
              <a:buNone/>
              <a:defRPr sz="1800">
                <a:solidFill>
                  <a:schemeClr val="tx2"/>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grpSp>
        <p:nvGrpSpPr>
          <p:cNvPr id="2" name="Group 23"/>
          <p:cNvGrpSpPr>
            <a:grpSpLocks noChangeAspect="1"/>
          </p:cNvGrpSpPr>
          <p:nvPr/>
        </p:nvGrpSpPr>
        <p:grpSpPr bwMode="hidden">
          <a:xfrm>
            <a:off x="211665" y="714191"/>
            <a:ext cx="8723376" cy="1331580"/>
            <a:chOff x="-3905250" y="4294188"/>
            <a:chExt cx="13011150" cy="1892300"/>
          </a:xfrm>
        </p:grpSpPr>
        <p:sp>
          <p:nvSpPr>
            <p:cNvPr id="25"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6"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7"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8"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9" name="Freeform 28"/>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2" name="Title 21"/>
          <p:cNvSpPr>
            <a:spLocks noGrp="1"/>
          </p:cNvSpPr>
          <p:nvPr>
            <p:ph type="title"/>
          </p:nvPr>
        </p:nvSpPr>
        <p:spPr>
          <a:xfrm>
            <a:off x="914400" y="2286000"/>
            <a:ext cx="3352800" cy="1252728"/>
          </a:xfrm>
        </p:spPr>
        <p:txBody>
          <a:bodyPr anchor="b">
            <a:noAutofit/>
          </a:bodyPr>
          <a:lstStyle>
            <a:lvl1pPr algn="l">
              <a:defRPr sz="3200">
                <a:solidFill>
                  <a:schemeClr val="tx2"/>
                </a:solidFill>
              </a:defRPr>
            </a:lvl1pPr>
          </a:lstStyle>
          <a:p>
            <a:r>
              <a:rPr lang="zh-CN" altLang="en-US" smtClean="0"/>
              <a:t>单击此处编辑母版标题样式</a:t>
            </a:r>
            <a:endParaRPr lang="en-US" dirty="0"/>
          </a:p>
        </p:txBody>
      </p:sp>
      <p:sp>
        <p:nvSpPr>
          <p:cNvPr id="3" name="Content Placeholder 2"/>
          <p:cNvSpPr>
            <a:spLocks noGrp="1"/>
          </p:cNvSpPr>
          <p:nvPr>
            <p:ph idx="1"/>
          </p:nvPr>
        </p:nvSpPr>
        <p:spPr>
          <a:xfrm>
            <a:off x="4651962" y="1828800"/>
            <a:ext cx="3904076" cy="3810000"/>
          </a:xfrm>
        </p:spPr>
        <p:txBody>
          <a:bodyPr anchor="ctr"/>
          <a:lstStyle>
            <a:lvl1pPr>
              <a:buClr>
                <a:schemeClr val="bg1"/>
              </a:buClr>
              <a:defRPr sz="2200">
                <a:solidFill>
                  <a:schemeClr val="tx2"/>
                </a:solidFill>
              </a:defRPr>
            </a:lvl1pPr>
            <a:lvl2pPr>
              <a:buClr>
                <a:schemeClr val="bg1"/>
              </a:buClr>
              <a:defRPr sz="2000">
                <a:solidFill>
                  <a:schemeClr val="tx2"/>
                </a:solidFill>
              </a:defRPr>
            </a:lvl2pPr>
            <a:lvl3pPr>
              <a:buClr>
                <a:schemeClr val="bg1"/>
              </a:buClr>
              <a:defRPr sz="1800">
                <a:solidFill>
                  <a:schemeClr val="tx2"/>
                </a:solidFill>
              </a:defRPr>
            </a:lvl3pPr>
            <a:lvl4pPr>
              <a:buClr>
                <a:schemeClr val="bg1"/>
              </a:buClr>
              <a:defRPr sz="1600">
                <a:solidFill>
                  <a:schemeClr val="tx2"/>
                </a:solidFill>
              </a:defRPr>
            </a:lvl4pPr>
            <a:lvl5pPr>
              <a:buClr>
                <a:schemeClr val="bg1"/>
              </a:buClr>
              <a:defRPr sz="1600">
                <a:solidFill>
                  <a:schemeClr val="tx2"/>
                </a:solidFill>
              </a:defRPr>
            </a:lvl5pPr>
            <a:lvl6pPr>
              <a:defRPr sz="2000"/>
            </a:lvl6pPr>
            <a:lvl7pPr>
              <a:defRPr sz="2000"/>
            </a:lvl7pPr>
            <a:lvl8pPr>
              <a:defRPr sz="2000"/>
            </a:lvl8pPr>
            <a:lvl9pPr>
              <a:defRPr sz="2000"/>
            </a:lvl9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图片与标题">
    <p:spTree>
      <p:nvGrpSpPr>
        <p:cNvPr id="1" name=""/>
        <p:cNvGrpSpPr/>
        <p:nvPr/>
      </p:nvGrpSpPr>
      <p:grpSpPr>
        <a:xfrm>
          <a:off x="0" y="0"/>
          <a:ext cx="0" cy="0"/>
          <a:chOff x="0" y="0"/>
          <a:chExt cx="0" cy="0"/>
        </a:xfrm>
      </p:grpSpPr>
      <p:sp>
        <p:nvSpPr>
          <p:cNvPr id="15" name="Rounded Rectangle 14"/>
          <p:cNvSpPr/>
          <p:nvPr/>
        </p:nvSpPr>
        <p:spPr>
          <a:xfrm>
            <a:off x="228600" y="228600"/>
            <a:ext cx="8695944" cy="6035040"/>
          </a:xfrm>
          <a:prstGeom prst="roundRect">
            <a:avLst>
              <a:gd name="adj" fmla="val 1272"/>
            </a:avLst>
          </a:prstGeom>
          <a:gradFill>
            <a:gsLst>
              <a:gs pos="0">
                <a:schemeClr val="accent1">
                  <a:lumMod val="75000"/>
                </a:schemeClr>
              </a:gs>
              <a:gs pos="10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9" name="Group 8"/>
          <p:cNvGrpSpPr>
            <a:grpSpLocks noChangeAspect="1"/>
          </p:cNvGrpSpPr>
          <p:nvPr/>
        </p:nvGrpSpPr>
        <p:grpSpPr bwMode="hidden">
          <a:xfrm>
            <a:off x="211665" y="5353963"/>
            <a:ext cx="8723376" cy="1331580"/>
            <a:chOff x="-3905250" y="4294188"/>
            <a:chExt cx="13011150" cy="1892300"/>
          </a:xfrm>
        </p:grpSpPr>
        <p:sp>
          <p:nvSpPr>
            <p:cNvPr id="10"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1"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2"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3"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14" name="Freeform 10"/>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1"/>
          <p:cNvSpPr>
            <a:spLocks noGrp="1"/>
          </p:cNvSpPr>
          <p:nvPr>
            <p:ph type="title"/>
          </p:nvPr>
        </p:nvSpPr>
        <p:spPr>
          <a:xfrm>
            <a:off x="4874155" y="338667"/>
            <a:ext cx="3812645" cy="2429934"/>
          </a:xfrm>
        </p:spPr>
        <p:txBody>
          <a:bodyPr anchor="b">
            <a:normAutofit/>
          </a:bodyPr>
          <a:lstStyle>
            <a:lvl1pPr algn="l">
              <a:defRPr sz="2800" b="0">
                <a:solidFill>
                  <a:srgbClr val="FFFFFF"/>
                </a:solidFill>
              </a:defRPr>
            </a:lvl1pPr>
          </a:lstStyle>
          <a:p>
            <a:r>
              <a:rPr lang="zh-CN" altLang="en-US" smtClean="0"/>
              <a:t>单击此处编辑母版标题样式</a:t>
            </a:r>
            <a:endParaRPr lang="en-US" dirty="0"/>
          </a:p>
        </p:txBody>
      </p:sp>
      <p:sp>
        <p:nvSpPr>
          <p:cNvPr id="4" name="Text Placeholder 3"/>
          <p:cNvSpPr>
            <a:spLocks noGrp="1"/>
          </p:cNvSpPr>
          <p:nvPr>
            <p:ph type="body" sz="half" idx="2"/>
          </p:nvPr>
        </p:nvSpPr>
        <p:spPr>
          <a:xfrm>
            <a:off x="4868333" y="2785533"/>
            <a:ext cx="3818467" cy="2421467"/>
          </a:xfrm>
        </p:spPr>
        <p:txBody>
          <a:bodyPr>
            <a:normAutofit/>
          </a:bodyPr>
          <a:lstStyle>
            <a:lvl1pPr marL="0" indent="0">
              <a:buNone/>
              <a:defRPr sz="1800">
                <a:solidFill>
                  <a:srgbClr val="FFFFFF"/>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smtClean="0"/>
              <a:t>单击此处编辑母版文本样式</a:t>
            </a:r>
          </a:p>
        </p:txBody>
      </p:sp>
      <p:sp>
        <p:nvSpPr>
          <p:cNvPr id="5" name="Date Placeholder 4"/>
          <p:cNvSpPr>
            <a:spLocks noGrp="1"/>
          </p:cNvSpPr>
          <p:nvPr>
            <p:ph type="dt" sz="half" idx="10"/>
          </p:nvPr>
        </p:nvSpPr>
        <p:spPr/>
        <p:txBody>
          <a:bodyPr/>
          <a:lstStyle/>
          <a:p>
            <a:fld id="{6EE5055B-7544-4106-B2DB-830212BA2865}" type="datetime1">
              <a:rPr lang="zh-CN" altLang="en-US" smtClean="0"/>
              <a:t>2020/10/2</a:t>
            </a:fld>
            <a:endParaRPr lang="zh-CN" altLang="en-US"/>
          </a:p>
        </p:txBody>
      </p:sp>
      <p:sp>
        <p:nvSpPr>
          <p:cNvPr id="6" name="Footer Placeholder 5"/>
          <p:cNvSpPr>
            <a:spLocks noGrp="1"/>
          </p:cNvSpPr>
          <p:nvPr>
            <p:ph type="ftr" sz="quarter" idx="11"/>
          </p:nvPr>
        </p:nvSpPr>
        <p:spPr/>
        <p:txBody>
          <a:bodyPr/>
          <a:lstStyle/>
          <a:p>
            <a:endParaRPr lang="zh-CN" altLang="en-US"/>
          </a:p>
        </p:txBody>
      </p:sp>
      <p:sp>
        <p:nvSpPr>
          <p:cNvPr id="7" name="Slide Number Placeholder 6"/>
          <p:cNvSpPr>
            <a:spLocks noGrp="1"/>
          </p:cNvSpPr>
          <p:nvPr>
            <p:ph type="sldNum" sz="quarter" idx="12"/>
          </p:nvPr>
        </p:nvSpPr>
        <p:spPr/>
        <p:txBody>
          <a:bodyPr/>
          <a:lstStyle/>
          <a:p>
            <a:fld id="{0C913308-F349-4B6D-A68A-DD1791B4A57B}" type="slidenum">
              <a:rPr lang="zh-CN" altLang="en-US" smtClean="0"/>
              <a:t>‹#›</a:t>
            </a:fld>
            <a:endParaRPr lang="zh-CN" altLang="en-US"/>
          </a:p>
        </p:txBody>
      </p:sp>
      <p:sp>
        <p:nvSpPr>
          <p:cNvPr id="3" name="Picture Placeholder 2"/>
          <p:cNvSpPr>
            <a:spLocks noGrp="1"/>
          </p:cNvSpPr>
          <p:nvPr>
            <p:ph type="pic" idx="1"/>
          </p:nvPr>
        </p:nvSpPr>
        <p:spPr>
          <a:xfrm>
            <a:off x="838200" y="1371600"/>
            <a:ext cx="3566160" cy="2926080"/>
          </a:xfrm>
          <a:prstGeom prst="roundRect">
            <a:avLst>
              <a:gd name="adj" fmla="val 3924"/>
            </a:avLst>
          </a:prstGeom>
          <a:solidFill>
            <a:schemeClr val="accent1"/>
          </a:solidFill>
          <a:ln>
            <a:noFill/>
          </a:ln>
          <a:effectLst>
            <a:reflection blurRad="12700" stA="30000" endPos="30000" dist="5000" dir="5400000" sy="-100000" algn="bl" rotWithShape="0"/>
          </a:effectLst>
          <a:scene3d>
            <a:camera prst="perspectiveContrastingLeftFacing" fov="600000">
              <a:rot lat="240000" lon="19799999" rev="0"/>
            </a:camera>
            <a:lightRig rig="threePt" dir="t">
              <a:rot lat="0" lon="0" rev="2700000"/>
            </a:lightRig>
          </a:scene3d>
          <a:sp3d>
            <a:bevelT w="44450" h="31750"/>
          </a:sp3d>
        </p:spPr>
        <p:txBody>
          <a:bodyPr/>
          <a:lstStyle>
            <a:lvl1pPr marL="0" indent="0" algn="ctr">
              <a:buNone/>
              <a:defRPr sz="3200">
                <a:solidFill>
                  <a:schemeClr val="bg1"/>
                </a:solidFill>
              </a:defRPr>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CN" altLang="en-US" smtClean="0"/>
              <a:t>单击图标添加图片</a:t>
            </a:r>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CN" altLang="en-US" smtClean="0"/>
              <a:t>单击此处编辑母版标题样式</a:t>
            </a:r>
            <a:endParaRPr lang="en-US"/>
          </a:p>
        </p:txBody>
      </p:sp>
      <p:sp>
        <p:nvSpPr>
          <p:cNvPr id="3" name="Vertical Text Placeholder 2"/>
          <p:cNvSpPr>
            <a:spLocks noGrp="1"/>
          </p:cNvSpPr>
          <p:nvPr>
            <p:ph type="body" orient="vert" idx="1"/>
          </p:nvPr>
        </p:nvSpPr>
        <p:spPr/>
        <p:txBody>
          <a:bodyPr vert="eaVert" anchor="ctr"/>
          <a:lstStyle>
            <a:lvl1pPr algn="l">
              <a:defRPr/>
            </a:lvl1pPr>
            <a:lvl2pPr algn="l">
              <a:defRPr/>
            </a:lvl2pPr>
            <a:lvl3pPr algn="l">
              <a:defRPr/>
            </a:lvl3pPr>
            <a:lvl4pPr algn="l">
              <a:defRPr/>
            </a:lvl4pPr>
            <a:lvl5pPr algn="l">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a:p>
        </p:txBody>
      </p:sp>
      <p:sp>
        <p:nvSpPr>
          <p:cNvPr id="4" name="Date Placeholder 3"/>
          <p:cNvSpPr>
            <a:spLocks noGrp="1"/>
          </p:cNvSpPr>
          <p:nvPr>
            <p:ph type="dt" sz="half" idx="10"/>
          </p:nvPr>
        </p:nvSpPr>
        <p:spPr/>
        <p:txBody>
          <a:bodyPr/>
          <a:lstStyle/>
          <a:p>
            <a:fld id="{9DFEF943-C991-43D6-9691-4DF41A45F873}" type="datetime1">
              <a:rPr lang="zh-CN" altLang="en-US" smtClean="0"/>
              <a:t>2020/10/2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垂直排列标题与文本">
    <p:spTree>
      <p:nvGrpSpPr>
        <p:cNvPr id="1" name=""/>
        <p:cNvGrpSpPr/>
        <p:nvPr/>
      </p:nvGrpSpPr>
      <p:grpSpPr>
        <a:xfrm>
          <a:off x="0" y="0"/>
          <a:ext cx="0" cy="0"/>
          <a:chOff x="0" y="0"/>
          <a:chExt cx="0" cy="0"/>
        </a:xfrm>
      </p:grpSpPr>
      <p:sp>
        <p:nvSpPr>
          <p:cNvPr id="21" name="Rounded Rectangle 20"/>
          <p:cNvSpPr/>
          <p:nvPr/>
        </p:nvSpPr>
        <p:spPr bwMode="hidden">
          <a:xfrm>
            <a:off x="228600" y="228600"/>
            <a:ext cx="8695944" cy="1426464"/>
          </a:xfrm>
          <a:prstGeom prst="roundRect">
            <a:avLst>
              <a:gd name="adj" fmla="val 7136"/>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Date Placeholder 3"/>
          <p:cNvSpPr>
            <a:spLocks noGrp="1"/>
          </p:cNvSpPr>
          <p:nvPr>
            <p:ph type="dt" sz="half" idx="10"/>
          </p:nvPr>
        </p:nvSpPr>
        <p:spPr/>
        <p:txBody>
          <a:bodyPr/>
          <a:lstStyle/>
          <a:p>
            <a:fld id="{E6E67922-0821-4AF0-AA65-416F976FC732}" type="datetime1">
              <a:rPr lang="zh-CN" altLang="en-US" smtClean="0"/>
              <a:t>2020/10/2</a:t>
            </a:fld>
            <a:endParaRPr lang="zh-CN" altLang="en-US"/>
          </a:p>
        </p:txBody>
      </p:sp>
      <p:sp>
        <p:nvSpPr>
          <p:cNvPr id="5" name="Footer Placeholder 4"/>
          <p:cNvSpPr>
            <a:spLocks noGrp="1"/>
          </p:cNvSpPr>
          <p:nvPr>
            <p:ph type="ftr" sz="quarter" idx="11"/>
          </p:nvPr>
        </p:nvSpPr>
        <p:spPr/>
        <p:txBody>
          <a:bodyPr/>
          <a:lstStyle/>
          <a:p>
            <a:endParaRPr lang="zh-CN" altLang="en-US"/>
          </a:p>
        </p:txBody>
      </p:sp>
      <p:sp>
        <p:nvSpPr>
          <p:cNvPr id="6" name="Slide Number Placeholder 5"/>
          <p:cNvSpPr>
            <a:spLocks noGrp="1"/>
          </p:cNvSpPr>
          <p:nvPr>
            <p:ph type="sldNum" sz="quarter" idx="12"/>
          </p:nvPr>
        </p:nvSpPr>
        <p:spPr/>
        <p:txBody>
          <a:bodyPr/>
          <a:lstStyle/>
          <a:p>
            <a:fld id="{0C913308-F349-4B6D-A68A-DD1791B4A57B}" type="slidenum">
              <a:rPr lang="zh-CN" altLang="en-US" smtClean="0"/>
              <a:t>‹#›</a:t>
            </a:fld>
            <a:endParaRPr lang="zh-CN" altLang="en-US"/>
          </a:p>
        </p:txBody>
      </p:sp>
      <p:grpSp>
        <p:nvGrpSpPr>
          <p:cNvPr id="15" name="Group 14"/>
          <p:cNvGrpSpPr>
            <a:grpSpLocks noChangeAspect="1"/>
          </p:cNvGrpSpPr>
          <p:nvPr/>
        </p:nvGrpSpPr>
        <p:grpSpPr bwMode="hidden">
          <a:xfrm>
            <a:off x="211665" y="714191"/>
            <a:ext cx="8723376" cy="1331580"/>
            <a:chOff x="-3905250" y="4294188"/>
            <a:chExt cx="13011150" cy="1892300"/>
          </a:xfrm>
        </p:grpSpPr>
        <p:sp>
          <p:nvSpPr>
            <p:cNvPr id="16"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7"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0" name="Freeform 19"/>
            <p:cNvSpPr>
              <a:spLocks/>
            </p:cNvSpPr>
            <p:nvPr/>
          </p:nvSpPr>
          <p:spPr bwMode="hidden">
            <a:xfrm>
              <a:off x="-3905250" y="4294188"/>
              <a:ext cx="13011150"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Vertical Title 1"/>
          <p:cNvSpPr>
            <a:spLocks noGrp="1"/>
          </p:cNvSpPr>
          <p:nvPr>
            <p:ph type="title" orient="vert"/>
          </p:nvPr>
        </p:nvSpPr>
        <p:spPr>
          <a:xfrm>
            <a:off x="6629400" y="1447800"/>
            <a:ext cx="2057400" cy="4487333"/>
          </a:xfrm>
        </p:spPr>
        <p:txBody>
          <a:bodyPr vert="eaVert" anchor="ctr"/>
          <a:lstStyle>
            <a:lvl1pPr algn="l">
              <a:defRPr>
                <a:solidFill>
                  <a:schemeClr val="tx2"/>
                </a:solidFill>
              </a:defRPr>
            </a:lvl1pPr>
          </a:lstStyle>
          <a:p>
            <a:r>
              <a:rPr lang="zh-CN" altLang="en-US" smtClean="0"/>
              <a:t>单击此处编辑母版标题样式</a:t>
            </a:r>
            <a:endParaRPr lang="en-US" dirty="0"/>
          </a:p>
        </p:txBody>
      </p:sp>
      <p:sp>
        <p:nvSpPr>
          <p:cNvPr id="3" name="Vertical Text Placeholder 2"/>
          <p:cNvSpPr>
            <a:spLocks noGrp="1"/>
          </p:cNvSpPr>
          <p:nvPr>
            <p:ph type="body" orient="vert" idx="1"/>
          </p:nvPr>
        </p:nvSpPr>
        <p:spPr>
          <a:xfrm>
            <a:off x="457200" y="1447800"/>
            <a:ext cx="6019800" cy="4487334"/>
          </a:xfrm>
        </p:spPr>
        <p:txBody>
          <a:bodyPr vert="eaVert"/>
          <a:lstStyle>
            <a:lvl1pPr>
              <a:buClr>
                <a:schemeClr val="accent1"/>
              </a:buClr>
              <a:defRPr/>
            </a:lvl1pPr>
            <a:lvl2pPr>
              <a:buClr>
                <a:schemeClr val="accent1"/>
              </a:buClr>
              <a:defRPr/>
            </a:lvl2pPr>
            <a:lvl3pPr>
              <a:buClr>
                <a:schemeClr val="accent1"/>
              </a:buClr>
              <a:defRPr/>
            </a:lvl3pPr>
            <a:lvl4pPr>
              <a:buClr>
                <a:schemeClr val="accent1"/>
              </a:buClr>
              <a:defRPr/>
            </a:lvl4pPr>
            <a:lvl5pPr>
              <a:buClr>
                <a:schemeClr val="accent1"/>
              </a:buClr>
              <a:defRPr/>
            </a:lvl5p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 name="Rounded Rectangle 13"/>
          <p:cNvSpPr/>
          <p:nvPr/>
        </p:nvSpPr>
        <p:spPr>
          <a:xfrm>
            <a:off x="228600" y="228600"/>
            <a:ext cx="8695944" cy="2468880"/>
          </a:xfrm>
          <a:prstGeom prst="roundRect">
            <a:avLst>
              <a:gd name="adj" fmla="val 3362"/>
            </a:avLst>
          </a:prstGeom>
          <a:gradFill>
            <a:gsLst>
              <a:gs pos="0">
                <a:schemeClr val="accent1">
                  <a:lumMod val="75000"/>
                </a:schemeClr>
              </a:gs>
              <a:gs pos="90000">
                <a:schemeClr val="accent1">
                  <a:lumMod val="60000"/>
                  <a:lumOff val="40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8" name="Group 15"/>
          <p:cNvGrpSpPr>
            <a:grpSpLocks noChangeAspect="1"/>
          </p:cNvGrpSpPr>
          <p:nvPr/>
        </p:nvGrpSpPr>
        <p:grpSpPr bwMode="hidden">
          <a:xfrm>
            <a:off x="211665" y="1679429"/>
            <a:ext cx="8723376" cy="1329874"/>
            <a:chOff x="-3905251" y="4294188"/>
            <a:chExt cx="13027839" cy="1892300"/>
          </a:xfrm>
        </p:grpSpPr>
        <p:sp>
          <p:nvSpPr>
            <p:cNvPr id="17" name="Freeform 14"/>
            <p:cNvSpPr>
              <a:spLocks/>
            </p:cNvSpPr>
            <p:nvPr/>
          </p:nvSpPr>
          <p:spPr bwMode="hidden">
            <a:xfrm>
              <a:off x="4810125" y="4500563"/>
              <a:ext cx="4295775" cy="1016000"/>
            </a:xfrm>
            <a:custGeom>
              <a:avLst/>
              <a:gdLst/>
              <a:ahLst/>
              <a:cxnLst>
                <a:cxn ang="0">
                  <a:pos x="2700" y="0"/>
                </a:cxn>
                <a:cxn ang="0">
                  <a:pos x="2700" y="0"/>
                </a:cxn>
                <a:cxn ang="0">
                  <a:pos x="2586" y="18"/>
                </a:cxn>
                <a:cxn ang="0">
                  <a:pos x="2470" y="38"/>
                </a:cxn>
                <a:cxn ang="0">
                  <a:pos x="2352" y="60"/>
                </a:cxn>
                <a:cxn ang="0">
                  <a:pos x="2230" y="82"/>
                </a:cxn>
                <a:cxn ang="0">
                  <a:pos x="2106" y="108"/>
                </a:cxn>
                <a:cxn ang="0">
                  <a:pos x="1978" y="134"/>
                </a:cxn>
                <a:cxn ang="0">
                  <a:pos x="1848" y="164"/>
                </a:cxn>
                <a:cxn ang="0">
                  <a:pos x="1714" y="194"/>
                </a:cxn>
                <a:cxn ang="0">
                  <a:pos x="1714" y="194"/>
                </a:cxn>
                <a:cxn ang="0">
                  <a:pos x="1472" y="252"/>
                </a:cxn>
                <a:cxn ang="0">
                  <a:pos x="1236" y="304"/>
                </a:cxn>
                <a:cxn ang="0">
                  <a:pos x="1010" y="352"/>
                </a:cxn>
                <a:cxn ang="0">
                  <a:pos x="792" y="398"/>
                </a:cxn>
                <a:cxn ang="0">
                  <a:pos x="584" y="438"/>
                </a:cxn>
                <a:cxn ang="0">
                  <a:pos x="382" y="474"/>
                </a:cxn>
                <a:cxn ang="0">
                  <a:pos x="188" y="508"/>
                </a:cxn>
                <a:cxn ang="0">
                  <a:pos x="0" y="538"/>
                </a:cxn>
                <a:cxn ang="0">
                  <a:pos x="0" y="538"/>
                </a:cxn>
                <a:cxn ang="0">
                  <a:pos x="130" y="556"/>
                </a:cxn>
                <a:cxn ang="0">
                  <a:pos x="254" y="572"/>
                </a:cxn>
                <a:cxn ang="0">
                  <a:pos x="374" y="586"/>
                </a:cxn>
                <a:cxn ang="0">
                  <a:pos x="492" y="598"/>
                </a:cxn>
                <a:cxn ang="0">
                  <a:pos x="606" y="610"/>
                </a:cxn>
                <a:cxn ang="0">
                  <a:pos x="716" y="618"/>
                </a:cxn>
                <a:cxn ang="0">
                  <a:pos x="822" y="626"/>
                </a:cxn>
                <a:cxn ang="0">
                  <a:pos x="926" y="632"/>
                </a:cxn>
                <a:cxn ang="0">
                  <a:pos x="1028" y="636"/>
                </a:cxn>
                <a:cxn ang="0">
                  <a:pos x="1126" y="638"/>
                </a:cxn>
                <a:cxn ang="0">
                  <a:pos x="1220" y="640"/>
                </a:cxn>
                <a:cxn ang="0">
                  <a:pos x="1312" y="640"/>
                </a:cxn>
                <a:cxn ang="0">
                  <a:pos x="1402" y="638"/>
                </a:cxn>
                <a:cxn ang="0">
                  <a:pos x="1490" y="636"/>
                </a:cxn>
                <a:cxn ang="0">
                  <a:pos x="1574" y="632"/>
                </a:cxn>
                <a:cxn ang="0">
                  <a:pos x="1656" y="626"/>
                </a:cxn>
                <a:cxn ang="0">
                  <a:pos x="1734" y="620"/>
                </a:cxn>
                <a:cxn ang="0">
                  <a:pos x="1812" y="612"/>
                </a:cxn>
                <a:cxn ang="0">
                  <a:pos x="1886" y="602"/>
                </a:cxn>
                <a:cxn ang="0">
                  <a:pos x="1960" y="592"/>
                </a:cxn>
                <a:cxn ang="0">
                  <a:pos x="2030" y="580"/>
                </a:cxn>
                <a:cxn ang="0">
                  <a:pos x="2100" y="568"/>
                </a:cxn>
                <a:cxn ang="0">
                  <a:pos x="2166" y="554"/>
                </a:cxn>
                <a:cxn ang="0">
                  <a:pos x="2232" y="540"/>
                </a:cxn>
                <a:cxn ang="0">
                  <a:pos x="2296" y="524"/>
                </a:cxn>
                <a:cxn ang="0">
                  <a:pos x="2358" y="508"/>
                </a:cxn>
                <a:cxn ang="0">
                  <a:pos x="2418" y="490"/>
                </a:cxn>
                <a:cxn ang="0">
                  <a:pos x="2478" y="472"/>
                </a:cxn>
                <a:cxn ang="0">
                  <a:pos x="2592" y="432"/>
                </a:cxn>
                <a:cxn ang="0">
                  <a:pos x="2702" y="390"/>
                </a:cxn>
                <a:cxn ang="0">
                  <a:pos x="2702" y="390"/>
                </a:cxn>
                <a:cxn ang="0">
                  <a:pos x="2706" y="388"/>
                </a:cxn>
                <a:cxn ang="0">
                  <a:pos x="2706" y="388"/>
                </a:cxn>
                <a:cxn ang="0">
                  <a:pos x="2706" y="0"/>
                </a:cxn>
                <a:cxn ang="0">
                  <a:pos x="2706" y="0"/>
                </a:cxn>
                <a:cxn ang="0">
                  <a:pos x="2700" y="0"/>
                </a:cxn>
                <a:cxn ang="0">
                  <a:pos x="2700" y="0"/>
                </a:cxn>
              </a:cxnLst>
              <a:rect l="0" t="0" r="r" b="b"/>
              <a:pathLst>
                <a:path w="2706" h="640">
                  <a:moveTo>
                    <a:pt x="2700" y="0"/>
                  </a:moveTo>
                  <a:lnTo>
                    <a:pt x="2700" y="0"/>
                  </a:lnTo>
                  <a:lnTo>
                    <a:pt x="2586" y="18"/>
                  </a:lnTo>
                  <a:lnTo>
                    <a:pt x="2470" y="38"/>
                  </a:lnTo>
                  <a:lnTo>
                    <a:pt x="2352" y="60"/>
                  </a:lnTo>
                  <a:lnTo>
                    <a:pt x="2230" y="82"/>
                  </a:lnTo>
                  <a:lnTo>
                    <a:pt x="2106" y="108"/>
                  </a:lnTo>
                  <a:lnTo>
                    <a:pt x="1978" y="134"/>
                  </a:lnTo>
                  <a:lnTo>
                    <a:pt x="1848" y="164"/>
                  </a:lnTo>
                  <a:lnTo>
                    <a:pt x="1714" y="194"/>
                  </a:lnTo>
                  <a:lnTo>
                    <a:pt x="1714" y="194"/>
                  </a:lnTo>
                  <a:lnTo>
                    <a:pt x="1472" y="252"/>
                  </a:lnTo>
                  <a:lnTo>
                    <a:pt x="1236" y="304"/>
                  </a:lnTo>
                  <a:lnTo>
                    <a:pt x="1010" y="352"/>
                  </a:lnTo>
                  <a:lnTo>
                    <a:pt x="792" y="398"/>
                  </a:lnTo>
                  <a:lnTo>
                    <a:pt x="584" y="438"/>
                  </a:lnTo>
                  <a:lnTo>
                    <a:pt x="382" y="474"/>
                  </a:lnTo>
                  <a:lnTo>
                    <a:pt x="188" y="508"/>
                  </a:lnTo>
                  <a:lnTo>
                    <a:pt x="0" y="538"/>
                  </a:lnTo>
                  <a:lnTo>
                    <a:pt x="0" y="538"/>
                  </a:lnTo>
                  <a:lnTo>
                    <a:pt x="130" y="556"/>
                  </a:lnTo>
                  <a:lnTo>
                    <a:pt x="254" y="572"/>
                  </a:lnTo>
                  <a:lnTo>
                    <a:pt x="374" y="586"/>
                  </a:lnTo>
                  <a:lnTo>
                    <a:pt x="492" y="598"/>
                  </a:lnTo>
                  <a:lnTo>
                    <a:pt x="606" y="610"/>
                  </a:lnTo>
                  <a:lnTo>
                    <a:pt x="716" y="618"/>
                  </a:lnTo>
                  <a:lnTo>
                    <a:pt x="822" y="626"/>
                  </a:lnTo>
                  <a:lnTo>
                    <a:pt x="926" y="632"/>
                  </a:lnTo>
                  <a:lnTo>
                    <a:pt x="1028" y="636"/>
                  </a:lnTo>
                  <a:lnTo>
                    <a:pt x="1126" y="638"/>
                  </a:lnTo>
                  <a:lnTo>
                    <a:pt x="1220" y="640"/>
                  </a:lnTo>
                  <a:lnTo>
                    <a:pt x="1312" y="640"/>
                  </a:lnTo>
                  <a:lnTo>
                    <a:pt x="1402" y="638"/>
                  </a:lnTo>
                  <a:lnTo>
                    <a:pt x="1490" y="636"/>
                  </a:lnTo>
                  <a:lnTo>
                    <a:pt x="1574" y="632"/>
                  </a:lnTo>
                  <a:lnTo>
                    <a:pt x="1656" y="626"/>
                  </a:lnTo>
                  <a:lnTo>
                    <a:pt x="1734" y="620"/>
                  </a:lnTo>
                  <a:lnTo>
                    <a:pt x="1812" y="612"/>
                  </a:lnTo>
                  <a:lnTo>
                    <a:pt x="1886" y="602"/>
                  </a:lnTo>
                  <a:lnTo>
                    <a:pt x="1960" y="592"/>
                  </a:lnTo>
                  <a:lnTo>
                    <a:pt x="2030" y="580"/>
                  </a:lnTo>
                  <a:lnTo>
                    <a:pt x="2100" y="568"/>
                  </a:lnTo>
                  <a:lnTo>
                    <a:pt x="2166" y="554"/>
                  </a:lnTo>
                  <a:lnTo>
                    <a:pt x="2232" y="540"/>
                  </a:lnTo>
                  <a:lnTo>
                    <a:pt x="2296" y="524"/>
                  </a:lnTo>
                  <a:lnTo>
                    <a:pt x="2358" y="508"/>
                  </a:lnTo>
                  <a:lnTo>
                    <a:pt x="2418" y="490"/>
                  </a:lnTo>
                  <a:lnTo>
                    <a:pt x="2478" y="472"/>
                  </a:lnTo>
                  <a:lnTo>
                    <a:pt x="2592" y="432"/>
                  </a:lnTo>
                  <a:lnTo>
                    <a:pt x="2702" y="390"/>
                  </a:lnTo>
                  <a:lnTo>
                    <a:pt x="2702" y="390"/>
                  </a:lnTo>
                  <a:lnTo>
                    <a:pt x="2706" y="388"/>
                  </a:lnTo>
                  <a:lnTo>
                    <a:pt x="2706" y="388"/>
                  </a:lnTo>
                  <a:lnTo>
                    <a:pt x="2706" y="0"/>
                  </a:lnTo>
                  <a:lnTo>
                    <a:pt x="2706" y="0"/>
                  </a:lnTo>
                  <a:lnTo>
                    <a:pt x="2700" y="0"/>
                  </a:lnTo>
                  <a:lnTo>
                    <a:pt x="2700" y="0"/>
                  </a:lnTo>
                  <a:close/>
                </a:path>
              </a:pathLst>
            </a:custGeom>
            <a:solidFill>
              <a:schemeClr val="bg2">
                <a:alpha val="29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8" name="Freeform 18"/>
            <p:cNvSpPr>
              <a:spLocks/>
            </p:cNvSpPr>
            <p:nvPr/>
          </p:nvSpPr>
          <p:spPr bwMode="hidden">
            <a:xfrm>
              <a:off x="-309563" y="4318000"/>
              <a:ext cx="8280401" cy="1209675"/>
            </a:xfrm>
            <a:custGeom>
              <a:avLst/>
              <a:gdLst/>
              <a:ahLst/>
              <a:cxnLst>
                <a:cxn ang="0">
                  <a:pos x="5216" y="714"/>
                </a:cxn>
                <a:cxn ang="0">
                  <a:pos x="4984" y="686"/>
                </a:cxn>
                <a:cxn ang="0">
                  <a:pos x="4478" y="610"/>
                </a:cxn>
                <a:cxn ang="0">
                  <a:pos x="3914" y="508"/>
                </a:cxn>
                <a:cxn ang="0">
                  <a:pos x="3286" y="374"/>
                </a:cxn>
                <a:cxn ang="0">
                  <a:pos x="2946" y="296"/>
                </a:cxn>
                <a:cxn ang="0">
                  <a:pos x="2682" y="236"/>
                </a:cxn>
                <a:cxn ang="0">
                  <a:pos x="2430" y="184"/>
                </a:cxn>
                <a:cxn ang="0">
                  <a:pos x="2190" y="140"/>
                </a:cxn>
                <a:cxn ang="0">
                  <a:pos x="1960" y="102"/>
                </a:cxn>
                <a:cxn ang="0">
                  <a:pos x="1740" y="72"/>
                </a:cxn>
                <a:cxn ang="0">
                  <a:pos x="1334" y="28"/>
                </a:cxn>
                <a:cxn ang="0">
                  <a:pos x="970" y="4"/>
                </a:cxn>
                <a:cxn ang="0">
                  <a:pos x="644" y="0"/>
                </a:cxn>
                <a:cxn ang="0">
                  <a:pos x="358" y="10"/>
                </a:cxn>
                <a:cxn ang="0">
                  <a:pos x="110" y="32"/>
                </a:cxn>
                <a:cxn ang="0">
                  <a:pos x="0" y="48"/>
                </a:cxn>
                <a:cxn ang="0">
                  <a:pos x="314" y="86"/>
                </a:cxn>
                <a:cxn ang="0">
                  <a:pos x="652" y="140"/>
                </a:cxn>
                <a:cxn ang="0">
                  <a:pos x="1014" y="210"/>
                </a:cxn>
                <a:cxn ang="0">
                  <a:pos x="1402" y="296"/>
                </a:cxn>
                <a:cxn ang="0">
                  <a:pos x="1756" y="378"/>
                </a:cxn>
                <a:cxn ang="0">
                  <a:pos x="2408" y="516"/>
                </a:cxn>
                <a:cxn ang="0">
                  <a:pos x="2708" y="572"/>
                </a:cxn>
                <a:cxn ang="0">
                  <a:pos x="2992" y="620"/>
                </a:cxn>
                <a:cxn ang="0">
                  <a:pos x="3260" y="662"/>
                </a:cxn>
                <a:cxn ang="0">
                  <a:pos x="3512" y="694"/>
                </a:cxn>
                <a:cxn ang="0">
                  <a:pos x="3750" y="722"/>
                </a:cxn>
                <a:cxn ang="0">
                  <a:pos x="3974" y="740"/>
                </a:cxn>
                <a:cxn ang="0">
                  <a:pos x="4184" y="754"/>
                </a:cxn>
                <a:cxn ang="0">
                  <a:pos x="4384" y="762"/>
                </a:cxn>
                <a:cxn ang="0">
                  <a:pos x="4570" y="762"/>
                </a:cxn>
                <a:cxn ang="0">
                  <a:pos x="4746" y="758"/>
                </a:cxn>
                <a:cxn ang="0">
                  <a:pos x="4912" y="748"/>
                </a:cxn>
                <a:cxn ang="0">
                  <a:pos x="5068" y="732"/>
                </a:cxn>
                <a:cxn ang="0">
                  <a:pos x="5216" y="714"/>
                </a:cxn>
              </a:cxnLst>
              <a:rect l="0" t="0" r="r" b="b"/>
              <a:pathLst>
                <a:path w="5216" h="762">
                  <a:moveTo>
                    <a:pt x="5216" y="714"/>
                  </a:moveTo>
                  <a:lnTo>
                    <a:pt x="5216" y="714"/>
                  </a:lnTo>
                  <a:lnTo>
                    <a:pt x="5102" y="700"/>
                  </a:lnTo>
                  <a:lnTo>
                    <a:pt x="4984" y="686"/>
                  </a:lnTo>
                  <a:lnTo>
                    <a:pt x="4738" y="652"/>
                  </a:lnTo>
                  <a:lnTo>
                    <a:pt x="4478" y="610"/>
                  </a:lnTo>
                  <a:lnTo>
                    <a:pt x="4204" y="564"/>
                  </a:lnTo>
                  <a:lnTo>
                    <a:pt x="3914" y="508"/>
                  </a:lnTo>
                  <a:lnTo>
                    <a:pt x="3608" y="446"/>
                  </a:lnTo>
                  <a:lnTo>
                    <a:pt x="3286" y="374"/>
                  </a:lnTo>
                  <a:lnTo>
                    <a:pt x="2946" y="296"/>
                  </a:lnTo>
                  <a:lnTo>
                    <a:pt x="2946" y="296"/>
                  </a:lnTo>
                  <a:lnTo>
                    <a:pt x="2812" y="266"/>
                  </a:lnTo>
                  <a:lnTo>
                    <a:pt x="2682" y="236"/>
                  </a:lnTo>
                  <a:lnTo>
                    <a:pt x="2556" y="210"/>
                  </a:lnTo>
                  <a:lnTo>
                    <a:pt x="2430" y="184"/>
                  </a:lnTo>
                  <a:lnTo>
                    <a:pt x="2308" y="162"/>
                  </a:lnTo>
                  <a:lnTo>
                    <a:pt x="2190" y="140"/>
                  </a:lnTo>
                  <a:lnTo>
                    <a:pt x="2074" y="120"/>
                  </a:lnTo>
                  <a:lnTo>
                    <a:pt x="1960" y="102"/>
                  </a:lnTo>
                  <a:lnTo>
                    <a:pt x="1850" y="86"/>
                  </a:lnTo>
                  <a:lnTo>
                    <a:pt x="1740" y="72"/>
                  </a:lnTo>
                  <a:lnTo>
                    <a:pt x="1532" y="46"/>
                  </a:lnTo>
                  <a:lnTo>
                    <a:pt x="1334" y="28"/>
                  </a:lnTo>
                  <a:lnTo>
                    <a:pt x="1148" y="14"/>
                  </a:lnTo>
                  <a:lnTo>
                    <a:pt x="970" y="4"/>
                  </a:lnTo>
                  <a:lnTo>
                    <a:pt x="802" y="0"/>
                  </a:lnTo>
                  <a:lnTo>
                    <a:pt x="644" y="0"/>
                  </a:lnTo>
                  <a:lnTo>
                    <a:pt x="496" y="4"/>
                  </a:lnTo>
                  <a:lnTo>
                    <a:pt x="358" y="10"/>
                  </a:lnTo>
                  <a:lnTo>
                    <a:pt x="230" y="20"/>
                  </a:lnTo>
                  <a:lnTo>
                    <a:pt x="110" y="32"/>
                  </a:lnTo>
                  <a:lnTo>
                    <a:pt x="0" y="48"/>
                  </a:lnTo>
                  <a:lnTo>
                    <a:pt x="0" y="48"/>
                  </a:lnTo>
                  <a:lnTo>
                    <a:pt x="154" y="66"/>
                  </a:lnTo>
                  <a:lnTo>
                    <a:pt x="314" y="86"/>
                  </a:lnTo>
                  <a:lnTo>
                    <a:pt x="480" y="112"/>
                  </a:lnTo>
                  <a:lnTo>
                    <a:pt x="652" y="140"/>
                  </a:lnTo>
                  <a:lnTo>
                    <a:pt x="830" y="174"/>
                  </a:lnTo>
                  <a:lnTo>
                    <a:pt x="1014" y="210"/>
                  </a:lnTo>
                  <a:lnTo>
                    <a:pt x="1206" y="250"/>
                  </a:lnTo>
                  <a:lnTo>
                    <a:pt x="1402" y="296"/>
                  </a:lnTo>
                  <a:lnTo>
                    <a:pt x="1402" y="296"/>
                  </a:lnTo>
                  <a:lnTo>
                    <a:pt x="1756" y="378"/>
                  </a:lnTo>
                  <a:lnTo>
                    <a:pt x="2092" y="450"/>
                  </a:lnTo>
                  <a:lnTo>
                    <a:pt x="2408" y="516"/>
                  </a:lnTo>
                  <a:lnTo>
                    <a:pt x="2562" y="544"/>
                  </a:lnTo>
                  <a:lnTo>
                    <a:pt x="2708" y="572"/>
                  </a:lnTo>
                  <a:lnTo>
                    <a:pt x="2852" y="598"/>
                  </a:lnTo>
                  <a:lnTo>
                    <a:pt x="2992" y="620"/>
                  </a:lnTo>
                  <a:lnTo>
                    <a:pt x="3128" y="642"/>
                  </a:lnTo>
                  <a:lnTo>
                    <a:pt x="3260" y="662"/>
                  </a:lnTo>
                  <a:lnTo>
                    <a:pt x="3388" y="678"/>
                  </a:lnTo>
                  <a:lnTo>
                    <a:pt x="3512" y="694"/>
                  </a:lnTo>
                  <a:lnTo>
                    <a:pt x="3632" y="708"/>
                  </a:lnTo>
                  <a:lnTo>
                    <a:pt x="3750" y="722"/>
                  </a:lnTo>
                  <a:lnTo>
                    <a:pt x="3864" y="732"/>
                  </a:lnTo>
                  <a:lnTo>
                    <a:pt x="3974" y="740"/>
                  </a:lnTo>
                  <a:lnTo>
                    <a:pt x="4080" y="748"/>
                  </a:lnTo>
                  <a:lnTo>
                    <a:pt x="4184" y="754"/>
                  </a:lnTo>
                  <a:lnTo>
                    <a:pt x="4286" y="758"/>
                  </a:lnTo>
                  <a:lnTo>
                    <a:pt x="4384" y="762"/>
                  </a:lnTo>
                  <a:lnTo>
                    <a:pt x="4478" y="762"/>
                  </a:lnTo>
                  <a:lnTo>
                    <a:pt x="4570" y="762"/>
                  </a:lnTo>
                  <a:lnTo>
                    <a:pt x="4660" y="760"/>
                  </a:lnTo>
                  <a:lnTo>
                    <a:pt x="4746" y="758"/>
                  </a:lnTo>
                  <a:lnTo>
                    <a:pt x="4830" y="754"/>
                  </a:lnTo>
                  <a:lnTo>
                    <a:pt x="4912" y="748"/>
                  </a:lnTo>
                  <a:lnTo>
                    <a:pt x="4992" y="740"/>
                  </a:lnTo>
                  <a:lnTo>
                    <a:pt x="5068" y="732"/>
                  </a:lnTo>
                  <a:lnTo>
                    <a:pt x="5144" y="724"/>
                  </a:lnTo>
                  <a:lnTo>
                    <a:pt x="5216" y="714"/>
                  </a:lnTo>
                  <a:lnTo>
                    <a:pt x="5216" y="714"/>
                  </a:lnTo>
                  <a:close/>
                </a:path>
              </a:pathLst>
            </a:custGeom>
            <a:solidFill>
              <a:schemeClr val="bg2">
                <a:alpha val="40000"/>
              </a:schemeClr>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19" name="Freeform 22"/>
            <p:cNvSpPr>
              <a:spLocks/>
            </p:cNvSpPr>
            <p:nvPr/>
          </p:nvSpPr>
          <p:spPr bwMode="hidden">
            <a:xfrm>
              <a:off x="3175" y="4335463"/>
              <a:ext cx="8166100" cy="1101725"/>
            </a:xfrm>
            <a:custGeom>
              <a:avLst/>
              <a:gdLst/>
              <a:ahLst/>
              <a:cxnLst>
                <a:cxn ang="0">
                  <a:pos x="0" y="70"/>
                </a:cxn>
                <a:cxn ang="0">
                  <a:pos x="0" y="70"/>
                </a:cxn>
                <a:cxn ang="0">
                  <a:pos x="18" y="66"/>
                </a:cxn>
                <a:cxn ang="0">
                  <a:pos x="72" y="56"/>
                </a:cxn>
                <a:cxn ang="0">
                  <a:pos x="164" y="42"/>
                </a:cxn>
                <a:cxn ang="0">
                  <a:pos x="224" y="34"/>
                </a:cxn>
                <a:cxn ang="0">
                  <a:pos x="294" y="26"/>
                </a:cxn>
                <a:cxn ang="0">
                  <a:pos x="372" y="20"/>
                </a:cxn>
                <a:cxn ang="0">
                  <a:pos x="462" y="14"/>
                </a:cxn>
                <a:cxn ang="0">
                  <a:pos x="560" y="8"/>
                </a:cxn>
                <a:cxn ang="0">
                  <a:pos x="670" y="4"/>
                </a:cxn>
                <a:cxn ang="0">
                  <a:pos x="790" y="2"/>
                </a:cxn>
                <a:cxn ang="0">
                  <a:pos x="920" y="0"/>
                </a:cxn>
                <a:cxn ang="0">
                  <a:pos x="1060" y="2"/>
                </a:cxn>
                <a:cxn ang="0">
                  <a:pos x="1210" y="6"/>
                </a:cxn>
                <a:cxn ang="0">
                  <a:pos x="1372" y="14"/>
                </a:cxn>
                <a:cxn ang="0">
                  <a:pos x="1544" y="24"/>
                </a:cxn>
                <a:cxn ang="0">
                  <a:pos x="1726" y="40"/>
                </a:cxn>
                <a:cxn ang="0">
                  <a:pos x="1920" y="58"/>
                </a:cxn>
                <a:cxn ang="0">
                  <a:pos x="2126" y="80"/>
                </a:cxn>
                <a:cxn ang="0">
                  <a:pos x="2342" y="106"/>
                </a:cxn>
                <a:cxn ang="0">
                  <a:pos x="2570" y="138"/>
                </a:cxn>
                <a:cxn ang="0">
                  <a:pos x="2808" y="174"/>
                </a:cxn>
                <a:cxn ang="0">
                  <a:pos x="3058" y="216"/>
                </a:cxn>
                <a:cxn ang="0">
                  <a:pos x="3320" y="266"/>
                </a:cxn>
                <a:cxn ang="0">
                  <a:pos x="3594" y="320"/>
                </a:cxn>
                <a:cxn ang="0">
                  <a:pos x="3880" y="380"/>
                </a:cxn>
                <a:cxn ang="0">
                  <a:pos x="4178" y="448"/>
                </a:cxn>
                <a:cxn ang="0">
                  <a:pos x="4488" y="522"/>
                </a:cxn>
                <a:cxn ang="0">
                  <a:pos x="4810" y="604"/>
                </a:cxn>
                <a:cxn ang="0">
                  <a:pos x="5144" y="694"/>
                </a:cxn>
              </a:cxnLst>
              <a:rect l="0" t="0" r="r" b="b"/>
              <a:pathLst>
                <a:path w="5144" h="694">
                  <a:moveTo>
                    <a:pt x="0" y="70"/>
                  </a:moveTo>
                  <a:lnTo>
                    <a:pt x="0" y="70"/>
                  </a:lnTo>
                  <a:lnTo>
                    <a:pt x="18" y="66"/>
                  </a:lnTo>
                  <a:lnTo>
                    <a:pt x="72" y="56"/>
                  </a:lnTo>
                  <a:lnTo>
                    <a:pt x="164" y="42"/>
                  </a:lnTo>
                  <a:lnTo>
                    <a:pt x="224" y="34"/>
                  </a:lnTo>
                  <a:lnTo>
                    <a:pt x="294" y="26"/>
                  </a:lnTo>
                  <a:lnTo>
                    <a:pt x="372" y="20"/>
                  </a:lnTo>
                  <a:lnTo>
                    <a:pt x="462" y="14"/>
                  </a:lnTo>
                  <a:lnTo>
                    <a:pt x="560" y="8"/>
                  </a:lnTo>
                  <a:lnTo>
                    <a:pt x="670" y="4"/>
                  </a:lnTo>
                  <a:lnTo>
                    <a:pt x="790" y="2"/>
                  </a:lnTo>
                  <a:lnTo>
                    <a:pt x="920" y="0"/>
                  </a:lnTo>
                  <a:lnTo>
                    <a:pt x="1060" y="2"/>
                  </a:lnTo>
                  <a:lnTo>
                    <a:pt x="1210" y="6"/>
                  </a:lnTo>
                  <a:lnTo>
                    <a:pt x="1372" y="14"/>
                  </a:lnTo>
                  <a:lnTo>
                    <a:pt x="1544" y="24"/>
                  </a:lnTo>
                  <a:lnTo>
                    <a:pt x="1726" y="40"/>
                  </a:lnTo>
                  <a:lnTo>
                    <a:pt x="1920" y="58"/>
                  </a:lnTo>
                  <a:lnTo>
                    <a:pt x="2126" y="80"/>
                  </a:lnTo>
                  <a:lnTo>
                    <a:pt x="2342" y="106"/>
                  </a:lnTo>
                  <a:lnTo>
                    <a:pt x="2570" y="138"/>
                  </a:lnTo>
                  <a:lnTo>
                    <a:pt x="2808" y="174"/>
                  </a:lnTo>
                  <a:lnTo>
                    <a:pt x="3058" y="216"/>
                  </a:lnTo>
                  <a:lnTo>
                    <a:pt x="3320" y="266"/>
                  </a:lnTo>
                  <a:lnTo>
                    <a:pt x="3594" y="320"/>
                  </a:lnTo>
                  <a:lnTo>
                    <a:pt x="3880" y="380"/>
                  </a:lnTo>
                  <a:lnTo>
                    <a:pt x="4178" y="448"/>
                  </a:lnTo>
                  <a:lnTo>
                    <a:pt x="4488" y="522"/>
                  </a:lnTo>
                  <a:lnTo>
                    <a:pt x="4810" y="604"/>
                  </a:lnTo>
                  <a:lnTo>
                    <a:pt x="5144" y="694"/>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p:nvSpPr>
            <p:cNvPr id="20" name="Freeform 26"/>
            <p:cNvSpPr>
              <a:spLocks/>
            </p:cNvSpPr>
            <p:nvPr/>
          </p:nvSpPr>
          <p:spPr bwMode="hidden">
            <a:xfrm>
              <a:off x="4156075" y="4316413"/>
              <a:ext cx="4940300" cy="927100"/>
            </a:xfrm>
            <a:custGeom>
              <a:avLst/>
              <a:gdLst/>
              <a:ahLst/>
              <a:cxnLst>
                <a:cxn ang="0">
                  <a:pos x="0" y="584"/>
                </a:cxn>
                <a:cxn ang="0">
                  <a:pos x="0" y="584"/>
                </a:cxn>
                <a:cxn ang="0">
                  <a:pos x="90" y="560"/>
                </a:cxn>
                <a:cxn ang="0">
                  <a:pos x="336" y="498"/>
                </a:cxn>
                <a:cxn ang="0">
                  <a:pos x="506" y="456"/>
                </a:cxn>
                <a:cxn ang="0">
                  <a:pos x="702" y="410"/>
                </a:cxn>
                <a:cxn ang="0">
                  <a:pos x="920" y="360"/>
                </a:cxn>
                <a:cxn ang="0">
                  <a:pos x="1154" y="306"/>
                </a:cxn>
                <a:cxn ang="0">
                  <a:pos x="1402" y="254"/>
                </a:cxn>
                <a:cxn ang="0">
                  <a:pos x="1656" y="202"/>
                </a:cxn>
                <a:cxn ang="0">
                  <a:pos x="1916" y="154"/>
                </a:cxn>
                <a:cxn ang="0">
                  <a:pos x="2174" y="108"/>
                </a:cxn>
                <a:cxn ang="0">
                  <a:pos x="2302" y="88"/>
                </a:cxn>
                <a:cxn ang="0">
                  <a:pos x="2426" y="68"/>
                </a:cxn>
                <a:cxn ang="0">
                  <a:pos x="2550" y="52"/>
                </a:cxn>
                <a:cxn ang="0">
                  <a:pos x="2670" y="36"/>
                </a:cxn>
                <a:cxn ang="0">
                  <a:pos x="2788" y="24"/>
                </a:cxn>
                <a:cxn ang="0">
                  <a:pos x="2900" y="14"/>
                </a:cxn>
                <a:cxn ang="0">
                  <a:pos x="3008" y="6"/>
                </a:cxn>
                <a:cxn ang="0">
                  <a:pos x="3112" y="0"/>
                </a:cxn>
              </a:cxnLst>
              <a:rect l="0" t="0" r="r" b="b"/>
              <a:pathLst>
                <a:path w="3112" h="584">
                  <a:moveTo>
                    <a:pt x="0" y="584"/>
                  </a:moveTo>
                  <a:lnTo>
                    <a:pt x="0" y="584"/>
                  </a:lnTo>
                  <a:lnTo>
                    <a:pt x="90" y="560"/>
                  </a:lnTo>
                  <a:lnTo>
                    <a:pt x="336" y="498"/>
                  </a:lnTo>
                  <a:lnTo>
                    <a:pt x="506" y="456"/>
                  </a:lnTo>
                  <a:lnTo>
                    <a:pt x="702" y="410"/>
                  </a:lnTo>
                  <a:lnTo>
                    <a:pt x="920" y="360"/>
                  </a:lnTo>
                  <a:lnTo>
                    <a:pt x="1154" y="306"/>
                  </a:lnTo>
                  <a:lnTo>
                    <a:pt x="1402" y="254"/>
                  </a:lnTo>
                  <a:lnTo>
                    <a:pt x="1656" y="202"/>
                  </a:lnTo>
                  <a:lnTo>
                    <a:pt x="1916" y="154"/>
                  </a:lnTo>
                  <a:lnTo>
                    <a:pt x="2174" y="108"/>
                  </a:lnTo>
                  <a:lnTo>
                    <a:pt x="2302" y="88"/>
                  </a:lnTo>
                  <a:lnTo>
                    <a:pt x="2426" y="68"/>
                  </a:lnTo>
                  <a:lnTo>
                    <a:pt x="2550" y="52"/>
                  </a:lnTo>
                  <a:lnTo>
                    <a:pt x="2670" y="36"/>
                  </a:lnTo>
                  <a:lnTo>
                    <a:pt x="2788" y="24"/>
                  </a:lnTo>
                  <a:lnTo>
                    <a:pt x="2900" y="14"/>
                  </a:lnTo>
                  <a:lnTo>
                    <a:pt x="3008" y="6"/>
                  </a:lnTo>
                  <a:lnTo>
                    <a:pt x="3112" y="0"/>
                  </a:lnTo>
                </a:path>
              </a:pathLst>
            </a:custGeom>
            <a:noFill/>
            <a:ln w="12">
              <a:solidFill>
                <a:srgbClr val="FFFFFF"/>
              </a:solidFill>
              <a:prstDash val="solid"/>
              <a:round/>
              <a:headEnd/>
              <a:tailEnd/>
            </a:ln>
          </p:spPr>
          <p:txBody>
            <a:bodyPr vert="horz" wrap="square" lIns="91440" tIns="45720" rIns="91440" bIns="45720" numCol="1" anchor="t" anchorCtr="0" compatLnSpc="1">
              <a:prstTxWarp prst="textNoShape">
                <a:avLst/>
              </a:prstTxWarp>
            </a:bodyPr>
            <a:lstStyle/>
            <a:p>
              <a:endParaRPr lang="en-US"/>
            </a:p>
          </p:txBody>
        </p:sp>
        <p:sp useBgFill="1">
          <p:nvSpPr>
            <p:cNvPr id="21" name="Freeform 10"/>
            <p:cNvSpPr>
              <a:spLocks/>
            </p:cNvSpPr>
            <p:nvPr/>
          </p:nvSpPr>
          <p:spPr bwMode="hidden">
            <a:xfrm>
              <a:off x="-3905251" y="4294188"/>
              <a:ext cx="13027839" cy="1892300"/>
            </a:xfrm>
            <a:custGeom>
              <a:avLst/>
              <a:gdLst/>
              <a:ahLst/>
              <a:cxnLst>
                <a:cxn ang="0">
                  <a:pos x="8192" y="512"/>
                </a:cxn>
                <a:cxn ang="0">
                  <a:pos x="8040" y="570"/>
                </a:cxn>
                <a:cxn ang="0">
                  <a:pos x="7878" y="620"/>
                </a:cxn>
                <a:cxn ang="0">
                  <a:pos x="7706" y="666"/>
                </a:cxn>
                <a:cxn ang="0">
                  <a:pos x="7522" y="702"/>
                </a:cxn>
                <a:cxn ang="0">
                  <a:pos x="7322" y="730"/>
                </a:cxn>
                <a:cxn ang="0">
                  <a:pos x="7106" y="750"/>
                </a:cxn>
                <a:cxn ang="0">
                  <a:pos x="6872" y="762"/>
                </a:cxn>
                <a:cxn ang="0">
                  <a:pos x="6618" y="760"/>
                </a:cxn>
                <a:cxn ang="0">
                  <a:pos x="6342" y="750"/>
                </a:cxn>
                <a:cxn ang="0">
                  <a:pos x="6042" y="726"/>
                </a:cxn>
                <a:cxn ang="0">
                  <a:pos x="5716" y="690"/>
                </a:cxn>
                <a:cxn ang="0">
                  <a:pos x="5364" y="642"/>
                </a:cxn>
                <a:cxn ang="0">
                  <a:pos x="4982" y="578"/>
                </a:cxn>
                <a:cxn ang="0">
                  <a:pos x="4568" y="500"/>
                </a:cxn>
                <a:cxn ang="0">
                  <a:pos x="4122" y="406"/>
                </a:cxn>
                <a:cxn ang="0">
                  <a:pos x="3640" y="296"/>
                </a:cxn>
                <a:cxn ang="0">
                  <a:pos x="3396" y="240"/>
                </a:cxn>
                <a:cxn ang="0">
                  <a:pos x="2934" y="148"/>
                </a:cxn>
                <a:cxn ang="0">
                  <a:pos x="2512" y="82"/>
                </a:cxn>
                <a:cxn ang="0">
                  <a:pos x="2126" y="36"/>
                </a:cxn>
                <a:cxn ang="0">
                  <a:pos x="1776" y="10"/>
                </a:cxn>
                <a:cxn ang="0">
                  <a:pos x="1462" y="0"/>
                </a:cxn>
                <a:cxn ang="0">
                  <a:pos x="1182" y="4"/>
                </a:cxn>
                <a:cxn ang="0">
                  <a:pos x="934" y="20"/>
                </a:cxn>
                <a:cxn ang="0">
                  <a:pos x="716" y="44"/>
                </a:cxn>
                <a:cxn ang="0">
                  <a:pos x="530" y="74"/>
                </a:cxn>
                <a:cxn ang="0">
                  <a:pos x="374" y="108"/>
                </a:cxn>
                <a:cxn ang="0">
                  <a:pos x="248" y="144"/>
                </a:cxn>
                <a:cxn ang="0">
                  <a:pos x="148" y="176"/>
                </a:cxn>
                <a:cxn ang="0">
                  <a:pos x="48" y="216"/>
                </a:cxn>
                <a:cxn ang="0">
                  <a:pos x="0" y="240"/>
                </a:cxn>
                <a:cxn ang="0">
                  <a:pos x="8192" y="1192"/>
                </a:cxn>
                <a:cxn ang="0">
                  <a:pos x="8196" y="1186"/>
                </a:cxn>
                <a:cxn ang="0">
                  <a:pos x="8196" y="510"/>
                </a:cxn>
                <a:cxn ang="0">
                  <a:pos x="8192" y="512"/>
                </a:cxn>
              </a:cxnLst>
              <a:rect l="0" t="0" r="r" b="b"/>
              <a:pathLst>
                <a:path w="8196" h="1192">
                  <a:moveTo>
                    <a:pt x="8192" y="512"/>
                  </a:moveTo>
                  <a:lnTo>
                    <a:pt x="8192" y="512"/>
                  </a:lnTo>
                  <a:lnTo>
                    <a:pt x="8116" y="542"/>
                  </a:lnTo>
                  <a:lnTo>
                    <a:pt x="8040" y="570"/>
                  </a:lnTo>
                  <a:lnTo>
                    <a:pt x="7960" y="596"/>
                  </a:lnTo>
                  <a:lnTo>
                    <a:pt x="7878" y="620"/>
                  </a:lnTo>
                  <a:lnTo>
                    <a:pt x="7794" y="644"/>
                  </a:lnTo>
                  <a:lnTo>
                    <a:pt x="7706" y="666"/>
                  </a:lnTo>
                  <a:lnTo>
                    <a:pt x="7616" y="684"/>
                  </a:lnTo>
                  <a:lnTo>
                    <a:pt x="7522" y="702"/>
                  </a:lnTo>
                  <a:lnTo>
                    <a:pt x="7424" y="718"/>
                  </a:lnTo>
                  <a:lnTo>
                    <a:pt x="7322" y="730"/>
                  </a:lnTo>
                  <a:lnTo>
                    <a:pt x="7216" y="742"/>
                  </a:lnTo>
                  <a:lnTo>
                    <a:pt x="7106" y="750"/>
                  </a:lnTo>
                  <a:lnTo>
                    <a:pt x="6992" y="758"/>
                  </a:lnTo>
                  <a:lnTo>
                    <a:pt x="6872" y="762"/>
                  </a:lnTo>
                  <a:lnTo>
                    <a:pt x="6748" y="762"/>
                  </a:lnTo>
                  <a:lnTo>
                    <a:pt x="6618" y="760"/>
                  </a:lnTo>
                  <a:lnTo>
                    <a:pt x="6482" y="756"/>
                  </a:lnTo>
                  <a:lnTo>
                    <a:pt x="6342" y="750"/>
                  </a:lnTo>
                  <a:lnTo>
                    <a:pt x="6196" y="740"/>
                  </a:lnTo>
                  <a:lnTo>
                    <a:pt x="6042" y="726"/>
                  </a:lnTo>
                  <a:lnTo>
                    <a:pt x="5882" y="710"/>
                  </a:lnTo>
                  <a:lnTo>
                    <a:pt x="5716" y="690"/>
                  </a:lnTo>
                  <a:lnTo>
                    <a:pt x="5544" y="668"/>
                  </a:lnTo>
                  <a:lnTo>
                    <a:pt x="5364" y="642"/>
                  </a:lnTo>
                  <a:lnTo>
                    <a:pt x="5176" y="612"/>
                  </a:lnTo>
                  <a:lnTo>
                    <a:pt x="4982" y="578"/>
                  </a:lnTo>
                  <a:lnTo>
                    <a:pt x="4778" y="540"/>
                  </a:lnTo>
                  <a:lnTo>
                    <a:pt x="4568" y="500"/>
                  </a:lnTo>
                  <a:lnTo>
                    <a:pt x="4348" y="454"/>
                  </a:lnTo>
                  <a:lnTo>
                    <a:pt x="4122" y="406"/>
                  </a:lnTo>
                  <a:lnTo>
                    <a:pt x="3886" y="354"/>
                  </a:lnTo>
                  <a:lnTo>
                    <a:pt x="3640" y="296"/>
                  </a:lnTo>
                  <a:lnTo>
                    <a:pt x="3640" y="296"/>
                  </a:lnTo>
                  <a:lnTo>
                    <a:pt x="3396" y="240"/>
                  </a:lnTo>
                  <a:lnTo>
                    <a:pt x="3160" y="192"/>
                  </a:lnTo>
                  <a:lnTo>
                    <a:pt x="2934" y="148"/>
                  </a:lnTo>
                  <a:lnTo>
                    <a:pt x="2718" y="112"/>
                  </a:lnTo>
                  <a:lnTo>
                    <a:pt x="2512" y="82"/>
                  </a:lnTo>
                  <a:lnTo>
                    <a:pt x="2314" y="56"/>
                  </a:lnTo>
                  <a:lnTo>
                    <a:pt x="2126" y="36"/>
                  </a:lnTo>
                  <a:lnTo>
                    <a:pt x="1948" y="20"/>
                  </a:lnTo>
                  <a:lnTo>
                    <a:pt x="1776" y="10"/>
                  </a:lnTo>
                  <a:lnTo>
                    <a:pt x="1616" y="2"/>
                  </a:lnTo>
                  <a:lnTo>
                    <a:pt x="1462" y="0"/>
                  </a:lnTo>
                  <a:lnTo>
                    <a:pt x="1318" y="0"/>
                  </a:lnTo>
                  <a:lnTo>
                    <a:pt x="1182" y="4"/>
                  </a:lnTo>
                  <a:lnTo>
                    <a:pt x="1054" y="10"/>
                  </a:lnTo>
                  <a:lnTo>
                    <a:pt x="934" y="20"/>
                  </a:lnTo>
                  <a:lnTo>
                    <a:pt x="822" y="30"/>
                  </a:lnTo>
                  <a:lnTo>
                    <a:pt x="716" y="44"/>
                  </a:lnTo>
                  <a:lnTo>
                    <a:pt x="620" y="58"/>
                  </a:lnTo>
                  <a:lnTo>
                    <a:pt x="530" y="74"/>
                  </a:lnTo>
                  <a:lnTo>
                    <a:pt x="450" y="92"/>
                  </a:lnTo>
                  <a:lnTo>
                    <a:pt x="374" y="108"/>
                  </a:lnTo>
                  <a:lnTo>
                    <a:pt x="308" y="126"/>
                  </a:lnTo>
                  <a:lnTo>
                    <a:pt x="248" y="144"/>
                  </a:lnTo>
                  <a:lnTo>
                    <a:pt x="194" y="160"/>
                  </a:lnTo>
                  <a:lnTo>
                    <a:pt x="148" y="176"/>
                  </a:lnTo>
                  <a:lnTo>
                    <a:pt x="108" y="192"/>
                  </a:lnTo>
                  <a:lnTo>
                    <a:pt x="48" y="216"/>
                  </a:lnTo>
                  <a:lnTo>
                    <a:pt x="12" y="234"/>
                  </a:lnTo>
                  <a:lnTo>
                    <a:pt x="0" y="240"/>
                  </a:lnTo>
                  <a:lnTo>
                    <a:pt x="0" y="1192"/>
                  </a:lnTo>
                  <a:lnTo>
                    <a:pt x="8192" y="1192"/>
                  </a:lnTo>
                  <a:lnTo>
                    <a:pt x="8192" y="1192"/>
                  </a:lnTo>
                  <a:lnTo>
                    <a:pt x="8196" y="1186"/>
                  </a:lnTo>
                  <a:lnTo>
                    <a:pt x="8196" y="1186"/>
                  </a:lnTo>
                  <a:lnTo>
                    <a:pt x="8196" y="510"/>
                  </a:lnTo>
                  <a:lnTo>
                    <a:pt x="8196" y="510"/>
                  </a:lnTo>
                  <a:lnTo>
                    <a:pt x="8192" y="512"/>
                  </a:lnTo>
                  <a:lnTo>
                    <a:pt x="8192" y="512"/>
                  </a:lnTo>
                  <a:close/>
                </a:path>
              </a:pathLst>
            </a:custGeom>
            <a:ln w="9525">
              <a:noFill/>
              <a:round/>
              <a:headEnd/>
              <a:tailEnd/>
            </a:ln>
          </p:spPr>
          <p:txBody>
            <a:bodyPr vert="horz" wrap="square" lIns="91440" tIns="45720" rIns="91440" bIns="45720" numCol="1" anchor="t" anchorCtr="0" compatLnSpc="1">
              <a:prstTxWarp prst="textNoShape">
                <a:avLst/>
              </a:prstTxWarp>
            </a:bodyPr>
            <a:lstStyle/>
            <a:p>
              <a:endParaRPr lang="en-US"/>
            </a:p>
          </p:txBody>
        </p:sp>
      </p:grpSp>
      <p:sp>
        <p:nvSpPr>
          <p:cNvPr id="2" name="Title Placeholder 1"/>
          <p:cNvSpPr>
            <a:spLocks noGrp="1"/>
          </p:cNvSpPr>
          <p:nvPr>
            <p:ph type="title"/>
          </p:nvPr>
        </p:nvSpPr>
        <p:spPr>
          <a:xfrm>
            <a:off x="457200" y="338328"/>
            <a:ext cx="8229600" cy="1252728"/>
          </a:xfrm>
          <a:prstGeom prst="rect">
            <a:avLst/>
          </a:prstGeom>
        </p:spPr>
        <p:txBody>
          <a:bodyPr vert="horz" lIns="91440" tIns="45720" rIns="91440" bIns="45720" rtlCol="0" anchor="ctr">
            <a:normAutofit/>
          </a:bodyPr>
          <a:lstStyle/>
          <a:p>
            <a:r>
              <a:rPr lang="zh-CN" altLang="en-US" smtClean="0"/>
              <a:t>单击此处编辑母版标题样式</a:t>
            </a:r>
            <a:endParaRPr lang="en-US" dirty="0"/>
          </a:p>
        </p:txBody>
      </p:sp>
      <p:sp>
        <p:nvSpPr>
          <p:cNvPr id="4" name="Date Placeholder 3"/>
          <p:cNvSpPr>
            <a:spLocks noGrp="1"/>
          </p:cNvSpPr>
          <p:nvPr>
            <p:ph type="dt" sz="half" idx="2"/>
          </p:nvPr>
        </p:nvSpPr>
        <p:spPr>
          <a:xfrm>
            <a:off x="5163672" y="6250164"/>
            <a:ext cx="3786690" cy="365125"/>
          </a:xfrm>
          <a:prstGeom prst="rect">
            <a:avLst/>
          </a:prstGeom>
        </p:spPr>
        <p:txBody>
          <a:bodyPr vert="horz" lIns="91440" tIns="45720" rIns="91440" bIns="45720" rtlCol="0" anchor="ctr"/>
          <a:lstStyle>
            <a:lvl1pPr algn="r">
              <a:defRPr sz="1000">
                <a:solidFill>
                  <a:schemeClr val="tx2"/>
                </a:solidFill>
              </a:defRPr>
            </a:lvl1pPr>
          </a:lstStyle>
          <a:p>
            <a:fld id="{9A7ED8EC-8BD0-4DA1-A575-46E51709C93A}" type="datetime1">
              <a:rPr lang="zh-CN" altLang="en-US" smtClean="0"/>
              <a:t>2020/10/2</a:t>
            </a:fld>
            <a:endParaRPr lang="zh-CN" altLang="en-US"/>
          </a:p>
        </p:txBody>
      </p:sp>
      <p:sp>
        <p:nvSpPr>
          <p:cNvPr id="5" name="Footer Placeholder 4"/>
          <p:cNvSpPr>
            <a:spLocks noGrp="1"/>
          </p:cNvSpPr>
          <p:nvPr>
            <p:ph type="ftr" sz="quarter" idx="3"/>
          </p:nvPr>
        </p:nvSpPr>
        <p:spPr>
          <a:xfrm>
            <a:off x="193638" y="6250164"/>
            <a:ext cx="3786691" cy="365125"/>
          </a:xfrm>
          <a:prstGeom prst="rect">
            <a:avLst/>
          </a:prstGeom>
        </p:spPr>
        <p:txBody>
          <a:bodyPr vert="horz" lIns="91440" tIns="45720" rIns="91440" bIns="45720" rtlCol="0" anchor="ctr"/>
          <a:lstStyle>
            <a:lvl1pPr algn="l">
              <a:defRPr sz="1000">
                <a:solidFill>
                  <a:schemeClr val="tx2"/>
                </a:solidFill>
              </a:defRPr>
            </a:lvl1pPr>
          </a:lstStyle>
          <a:p>
            <a:endParaRPr lang="zh-CN" altLang="en-US"/>
          </a:p>
        </p:txBody>
      </p:sp>
      <p:sp>
        <p:nvSpPr>
          <p:cNvPr id="6" name="Slide Number Placeholder 5"/>
          <p:cNvSpPr>
            <a:spLocks noGrp="1"/>
          </p:cNvSpPr>
          <p:nvPr>
            <p:ph type="sldNum" sz="quarter" idx="4"/>
          </p:nvPr>
        </p:nvSpPr>
        <p:spPr>
          <a:xfrm>
            <a:off x="3991088" y="6250163"/>
            <a:ext cx="1161826" cy="365125"/>
          </a:xfrm>
          <a:prstGeom prst="rect">
            <a:avLst/>
          </a:prstGeom>
        </p:spPr>
        <p:txBody>
          <a:bodyPr vert="horz" lIns="91440" tIns="45720" rIns="91440" bIns="45720" rtlCol="0" anchor="ctr"/>
          <a:lstStyle>
            <a:lvl1pPr algn="ctr">
              <a:defRPr sz="1000">
                <a:solidFill>
                  <a:schemeClr val="tx2"/>
                </a:solidFill>
              </a:defRPr>
            </a:lvl1pPr>
          </a:lstStyle>
          <a:p>
            <a:fld id="{0C913308-F349-4B6D-A68A-DD1791B4A57B}" type="slidenum">
              <a:rPr lang="zh-CN" altLang="en-US" smtClean="0"/>
              <a:t>‹#›</a:t>
            </a:fld>
            <a:endParaRPr lang="zh-CN" altLang="en-US"/>
          </a:p>
        </p:txBody>
      </p:sp>
      <p:sp>
        <p:nvSpPr>
          <p:cNvPr id="3" name="Text Placeholder 2"/>
          <p:cNvSpPr>
            <a:spLocks noGrp="1"/>
          </p:cNvSpPr>
          <p:nvPr>
            <p:ph type="body" idx="1"/>
          </p:nvPr>
        </p:nvSpPr>
        <p:spPr>
          <a:xfrm>
            <a:off x="872067" y="2675467"/>
            <a:ext cx="7408333" cy="3450696"/>
          </a:xfrm>
          <a:prstGeom prst="rect">
            <a:avLst/>
          </a:prstGeom>
        </p:spPr>
        <p:txBody>
          <a:bodyPr vert="horz" lIns="91440" tIns="45720" rIns="91440" bIns="45720" rtlCol="0">
            <a:normAutofit/>
          </a:bodyPr>
          <a:lstStyle/>
          <a:p>
            <a:pPr lvl="0"/>
            <a:r>
              <a:rPr lang="zh-CN" altLang="en-US" smtClean="0"/>
              <a:t>单击此处编辑母版文本样式</a:t>
            </a:r>
          </a:p>
          <a:p>
            <a:pPr lvl="1"/>
            <a:r>
              <a:rPr lang="zh-CN" altLang="en-US" smtClean="0"/>
              <a:t>第二级</a:t>
            </a:r>
          </a:p>
          <a:p>
            <a:pPr lvl="2"/>
            <a:r>
              <a:rPr lang="zh-CN" altLang="en-US" smtClean="0"/>
              <a:t>第三级</a:t>
            </a:r>
          </a:p>
          <a:p>
            <a:pPr lvl="3"/>
            <a:r>
              <a:rPr lang="zh-CN" altLang="en-US" smtClean="0"/>
              <a:t>第四级</a:t>
            </a:r>
          </a:p>
          <a:p>
            <a:pPr lvl="4"/>
            <a:r>
              <a:rPr lang="zh-CN" altLang="en-US" smtClean="0"/>
              <a:t>第五级</a:t>
            </a:r>
            <a:endParaRPr lang="en-US" dirty="0"/>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ctr" defTabSz="914400" rtl="0" eaLnBrk="1" latinLnBrk="0" hangingPunct="1">
        <a:spcBef>
          <a:spcPct val="0"/>
        </a:spcBef>
        <a:buNone/>
        <a:defRPr sz="4400" kern="1200">
          <a:solidFill>
            <a:srgbClr val="FFFFFF"/>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74320" indent="-274320" algn="l" defTabSz="914400" rtl="0" eaLnBrk="1" latinLnBrk="0" hangingPunct="1">
        <a:spcBef>
          <a:spcPct val="20000"/>
        </a:spcBef>
        <a:buClr>
          <a:schemeClr val="accent1"/>
        </a:buClr>
        <a:buSzPct val="100000"/>
        <a:buFont typeface="Symbol" pitchFamily="18" charset="2"/>
        <a:buChar char=""/>
        <a:defRPr sz="2400" kern="1200">
          <a:solidFill>
            <a:schemeClr val="tx2"/>
          </a:solidFill>
          <a:latin typeface="+mn-lt"/>
          <a:ea typeface="+mn-ea"/>
          <a:cs typeface="+mn-cs"/>
        </a:defRPr>
      </a:lvl1pPr>
      <a:lvl2pPr marL="576263" indent="-274320" algn="l" defTabSz="914400" rtl="0" eaLnBrk="1" latinLnBrk="0" hangingPunct="1">
        <a:spcBef>
          <a:spcPct val="20000"/>
        </a:spcBef>
        <a:buClr>
          <a:schemeClr val="accent1"/>
        </a:buClr>
        <a:buSzPct val="100000"/>
        <a:buFont typeface="Symbol" pitchFamily="18" charset="2"/>
        <a:buChar char=""/>
        <a:defRPr sz="2200" kern="1200">
          <a:solidFill>
            <a:schemeClr val="tx2"/>
          </a:solidFill>
          <a:latin typeface="+mn-lt"/>
          <a:ea typeface="+mn-ea"/>
          <a:cs typeface="+mn-cs"/>
        </a:defRPr>
      </a:lvl2pPr>
      <a:lvl3pPr marL="855663" indent="-228600" algn="l" defTabSz="914400" rtl="0" eaLnBrk="1" latinLnBrk="0" hangingPunct="1">
        <a:spcBef>
          <a:spcPct val="20000"/>
        </a:spcBef>
        <a:buClr>
          <a:schemeClr val="accent1"/>
        </a:buClr>
        <a:buSzPct val="100000"/>
        <a:buFont typeface="Symbol" pitchFamily="18" charset="2"/>
        <a:buChar char=""/>
        <a:defRPr sz="2000" kern="1200">
          <a:solidFill>
            <a:schemeClr val="tx2"/>
          </a:solidFill>
          <a:latin typeface="+mn-lt"/>
          <a:ea typeface="+mn-ea"/>
          <a:cs typeface="+mn-cs"/>
        </a:defRPr>
      </a:lvl3pPr>
      <a:lvl4pPr marL="1143000" indent="-228600" algn="l" defTabSz="914400" rtl="0" eaLnBrk="1" latinLnBrk="0" hangingPunct="1">
        <a:spcBef>
          <a:spcPct val="20000"/>
        </a:spcBef>
        <a:buClr>
          <a:schemeClr val="accent1"/>
        </a:buClr>
        <a:buSzPct val="100000"/>
        <a:buFont typeface="Symbol" pitchFamily="18" charset="2"/>
        <a:buChar char=""/>
        <a:defRPr sz="1800" kern="1200">
          <a:solidFill>
            <a:schemeClr val="tx2"/>
          </a:solidFill>
          <a:latin typeface="+mn-lt"/>
          <a:ea typeface="+mn-ea"/>
          <a:cs typeface="+mn-cs"/>
        </a:defRPr>
      </a:lvl4pPr>
      <a:lvl5pPr marL="1463040" indent="-228600" algn="l" defTabSz="914400" rtl="0" eaLnBrk="1" latinLnBrk="0" hangingPunct="1">
        <a:spcBef>
          <a:spcPct val="20000"/>
        </a:spcBef>
        <a:buClr>
          <a:schemeClr val="accent1"/>
        </a:buClr>
        <a:buSzPct val="100000"/>
        <a:buFont typeface="Symbol" pitchFamily="18" charset="2"/>
        <a:buChar char=""/>
        <a:defRPr sz="1600" kern="1200">
          <a:solidFill>
            <a:schemeClr val="tx2"/>
          </a:solidFill>
          <a:latin typeface="+mn-lt"/>
          <a:ea typeface="+mn-ea"/>
          <a:cs typeface="+mn-cs"/>
        </a:defRPr>
      </a:lvl5pPr>
      <a:lvl6pPr marL="178308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6pPr>
      <a:lvl7pPr marL="210312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7pPr>
      <a:lvl8pPr marL="242316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8pPr>
      <a:lvl9pPr marL="2743200" indent="-228600" algn="l" defTabSz="914400" rtl="0" eaLnBrk="1" latinLnBrk="0" hangingPunct="1">
        <a:spcBef>
          <a:spcPts val="384"/>
        </a:spcBef>
        <a:buClr>
          <a:schemeClr val="accent1"/>
        </a:buClr>
        <a:buFont typeface="Symbol" pitchFamily="18" charset="2"/>
        <a:buChar char="*"/>
        <a:defRPr sz="1400" kern="1200">
          <a:solidFill>
            <a:schemeClr val="tx2"/>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8" Type="http://schemas.openxmlformats.org/officeDocument/2006/relationships/image" Target="../media/image3.jpeg"/><Relationship Id="rId13" Type="http://schemas.openxmlformats.org/officeDocument/2006/relationships/image" Target="../media/image8.png"/><Relationship Id="rId18" Type="http://schemas.openxmlformats.org/officeDocument/2006/relationships/image" Target="../media/image13.png"/><Relationship Id="rId3" Type="http://schemas.openxmlformats.org/officeDocument/2006/relationships/diagramLayout" Target="../diagrams/layout1.xml"/><Relationship Id="rId7" Type="http://schemas.openxmlformats.org/officeDocument/2006/relationships/image" Target="../media/image2.png"/><Relationship Id="rId12" Type="http://schemas.openxmlformats.org/officeDocument/2006/relationships/image" Target="../media/image7.jpeg"/><Relationship Id="rId17" Type="http://schemas.openxmlformats.org/officeDocument/2006/relationships/image" Target="../media/image12.png"/><Relationship Id="rId2" Type="http://schemas.openxmlformats.org/officeDocument/2006/relationships/diagramData" Target="../diagrams/data1.xml"/><Relationship Id="rId16" Type="http://schemas.openxmlformats.org/officeDocument/2006/relationships/image" Target="../media/image11.png"/><Relationship Id="rId1" Type="http://schemas.openxmlformats.org/officeDocument/2006/relationships/slideLayout" Target="../slideLayouts/slideLayout2.xml"/><Relationship Id="rId6" Type="http://schemas.microsoft.com/office/2007/relationships/diagramDrawing" Target="../diagrams/drawing1.xml"/><Relationship Id="rId11" Type="http://schemas.openxmlformats.org/officeDocument/2006/relationships/image" Target="../media/image6.jpeg"/><Relationship Id="rId5" Type="http://schemas.openxmlformats.org/officeDocument/2006/relationships/diagramColors" Target="../diagrams/colors1.xml"/><Relationship Id="rId15" Type="http://schemas.openxmlformats.org/officeDocument/2006/relationships/image" Target="../media/image10.jpeg"/><Relationship Id="rId10" Type="http://schemas.openxmlformats.org/officeDocument/2006/relationships/image" Target="../media/image5.png"/><Relationship Id="rId4" Type="http://schemas.openxmlformats.org/officeDocument/2006/relationships/diagramQuickStyle" Target="../diagrams/quickStyle1.xml"/><Relationship Id="rId9" Type="http://schemas.openxmlformats.org/officeDocument/2006/relationships/image" Target="../media/image4.png"/><Relationship Id="rId14" Type="http://schemas.openxmlformats.org/officeDocument/2006/relationships/image" Target="../media/image9.jpeg"/></Relationships>
</file>

<file path=ppt/slides/_rels/slide4.xml.rels><?xml version="1.0" encoding="UTF-8" standalone="yes"?>
<Relationships xmlns="http://schemas.openxmlformats.org/package/2006/relationships"><Relationship Id="rId2" Type="http://schemas.openxmlformats.org/officeDocument/2006/relationships/image" Target="../media/image14.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image" Target="../media/image15.jpe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9.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1.jpg"/><Relationship Id="rId2" Type="http://schemas.openxmlformats.org/officeDocument/2006/relationships/image" Target="../media/image20.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nvPr>
        </p:nvSpPr>
        <p:spPr/>
        <p:txBody>
          <a:bodyPr/>
          <a:lstStyle/>
          <a:p>
            <a:r>
              <a:rPr lang="en-US" altLang="zh-CN" dirty="0" smtClean="0"/>
              <a:t>《</a:t>
            </a:r>
            <a:r>
              <a:rPr lang="zh-CN" altLang="en-US" dirty="0" smtClean="0"/>
              <a:t>新生实践课</a:t>
            </a:r>
            <a:r>
              <a:rPr lang="en-US" altLang="zh-CN" dirty="0" smtClean="0"/>
              <a:t>》</a:t>
            </a:r>
            <a:r>
              <a:rPr lang="zh-CN" altLang="en-US" dirty="0" smtClean="0"/>
              <a:t>导论</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1</a:t>
            </a:fld>
            <a:endParaRPr lang="zh-CN" altLang="en-US"/>
          </a:p>
        </p:txBody>
      </p:sp>
    </p:spTree>
    <p:extLst>
      <p:ext uri="{BB962C8B-B14F-4D97-AF65-F5344CB8AC3E}">
        <p14:creationId xmlns:p14="http://schemas.microsoft.com/office/powerpoint/2010/main" val="1444306637"/>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smtClean="0"/>
              <a:t>目录</a:t>
            </a:r>
            <a:endParaRPr lang="zh-CN" altLang="en-US" dirty="0"/>
          </a:p>
        </p:txBody>
      </p:sp>
      <p:sp>
        <p:nvSpPr>
          <p:cNvPr id="4" name="TextBox 3"/>
          <p:cNvSpPr txBox="1"/>
          <p:nvPr/>
        </p:nvSpPr>
        <p:spPr>
          <a:xfrm>
            <a:off x="323528" y="1215425"/>
            <a:ext cx="8568952" cy="5632311"/>
          </a:xfrm>
          <a:prstGeom prst="rect">
            <a:avLst/>
          </a:prstGeom>
          <a:noFill/>
        </p:spPr>
        <p:txBody>
          <a:bodyPr wrap="square" rtlCol="0">
            <a:spAutoFit/>
          </a:bodyPr>
          <a:lstStyle/>
          <a:p>
            <a:pPr marL="571500" indent="-571500">
              <a:lnSpc>
                <a:spcPct val="150000"/>
              </a:lnSpc>
              <a:buFont typeface="Wingdings" panose="05000000000000000000" pitchFamily="2" charset="2"/>
              <a:buChar char="Ø"/>
            </a:pPr>
            <a:r>
              <a:rPr lang="zh-CN" altLang="en-US" sz="3200" dirty="0" smtClean="0">
                <a:solidFill>
                  <a:schemeClr val="tx2"/>
                </a:solidFill>
              </a:rPr>
              <a:t>计算机</a:t>
            </a:r>
            <a:r>
              <a:rPr lang="zh-CN" altLang="zh-CN" sz="3200" dirty="0">
                <a:solidFill>
                  <a:schemeClr val="tx2"/>
                </a:solidFill>
              </a:rPr>
              <a:t>的广泛应用 </a:t>
            </a:r>
          </a:p>
          <a:p>
            <a:pPr marL="571500" indent="-571500">
              <a:lnSpc>
                <a:spcPct val="150000"/>
              </a:lnSpc>
              <a:buFont typeface="Wingdings" panose="05000000000000000000" pitchFamily="2" charset="2"/>
              <a:buChar char="Ø"/>
            </a:pPr>
            <a:r>
              <a:rPr lang="zh-CN" altLang="zh-CN" sz="3200" dirty="0" smtClean="0">
                <a:solidFill>
                  <a:schemeClr val="tx2"/>
                </a:solidFill>
              </a:rPr>
              <a:t>我国</a:t>
            </a:r>
            <a:r>
              <a:rPr lang="zh-CN" altLang="en-US" sz="3200" dirty="0">
                <a:solidFill>
                  <a:schemeClr val="tx2"/>
                </a:solidFill>
              </a:rPr>
              <a:t>领先世界的计算机</a:t>
            </a:r>
            <a:r>
              <a:rPr lang="zh-CN" altLang="zh-CN" sz="3200" dirty="0">
                <a:solidFill>
                  <a:schemeClr val="tx2"/>
                </a:solidFill>
              </a:rPr>
              <a:t>技术 </a:t>
            </a:r>
          </a:p>
          <a:p>
            <a:pPr marL="571500" indent="-571500">
              <a:lnSpc>
                <a:spcPct val="150000"/>
              </a:lnSpc>
              <a:buFont typeface="Wingdings" panose="05000000000000000000" pitchFamily="2" charset="2"/>
              <a:buChar char="Ø"/>
            </a:pPr>
            <a:r>
              <a:rPr lang="zh-CN" altLang="zh-CN" sz="3200" dirty="0">
                <a:solidFill>
                  <a:schemeClr val="tx2"/>
                </a:solidFill>
              </a:rPr>
              <a:t>面临的技术</a:t>
            </a:r>
            <a:r>
              <a:rPr lang="zh-CN" altLang="en-US" sz="3200" dirty="0">
                <a:solidFill>
                  <a:schemeClr val="tx2"/>
                </a:solidFill>
              </a:rPr>
              <a:t>和安全</a:t>
            </a:r>
            <a:r>
              <a:rPr lang="zh-CN" altLang="zh-CN" sz="3200" dirty="0" smtClean="0">
                <a:solidFill>
                  <a:schemeClr val="tx2"/>
                </a:solidFill>
              </a:rPr>
              <a:t>挑战</a:t>
            </a:r>
            <a:endParaRPr lang="en-US" altLang="zh-CN" sz="3200" dirty="0" smtClean="0">
              <a:solidFill>
                <a:schemeClr val="tx2"/>
              </a:solidFill>
            </a:endParaRPr>
          </a:p>
          <a:p>
            <a:pPr marL="571500" indent="-571500">
              <a:lnSpc>
                <a:spcPct val="150000"/>
              </a:lnSpc>
              <a:buFont typeface="Wingdings" panose="05000000000000000000" pitchFamily="2" charset="2"/>
              <a:buChar char="Ø"/>
            </a:pPr>
            <a:r>
              <a:rPr lang="zh-CN" altLang="en-US" sz="3200" dirty="0" smtClean="0">
                <a:solidFill>
                  <a:schemeClr val="tx2"/>
                </a:solidFill>
              </a:rPr>
              <a:t>课程指标点：</a:t>
            </a:r>
            <a:endParaRPr lang="en-US" altLang="zh-CN" sz="3200" dirty="0" smtClean="0">
              <a:solidFill>
                <a:schemeClr val="tx2"/>
              </a:solidFill>
            </a:endParaRPr>
          </a:p>
          <a:p>
            <a:pPr marL="1028700" lvl="1" indent="-571500">
              <a:lnSpc>
                <a:spcPct val="150000"/>
              </a:lnSpc>
              <a:buFont typeface="Wingdings" panose="05000000000000000000" pitchFamily="2" charset="2"/>
              <a:buChar char="Ø"/>
            </a:pPr>
            <a:r>
              <a:rPr lang="zh-CN" altLang="en-US" sz="2400" dirty="0" smtClean="0">
                <a:solidFill>
                  <a:schemeClr val="tx2"/>
                </a:solidFill>
              </a:rPr>
              <a:t>工程与社会：产业安全和知识产权保护</a:t>
            </a:r>
            <a:endParaRPr lang="en-US" altLang="zh-CN" sz="2400" dirty="0" smtClean="0">
              <a:solidFill>
                <a:schemeClr val="tx2"/>
              </a:solidFill>
            </a:endParaRPr>
          </a:p>
          <a:p>
            <a:pPr marL="1028700" lvl="1" indent="-571500">
              <a:lnSpc>
                <a:spcPct val="150000"/>
              </a:lnSpc>
              <a:buFont typeface="Wingdings" panose="05000000000000000000" pitchFamily="2" charset="2"/>
              <a:buChar char="Ø"/>
            </a:pPr>
            <a:r>
              <a:rPr lang="zh-CN" altLang="en-US" sz="2400" dirty="0" smtClean="0">
                <a:solidFill>
                  <a:schemeClr val="tx2"/>
                </a:solidFill>
              </a:rPr>
              <a:t>职业规范与职业素养</a:t>
            </a:r>
            <a:endParaRPr lang="zh-CN" altLang="zh-CN" sz="2400" dirty="0">
              <a:solidFill>
                <a:schemeClr val="tx2"/>
              </a:solidFill>
            </a:endParaRPr>
          </a:p>
          <a:p>
            <a:pPr marL="571500" indent="-571500">
              <a:lnSpc>
                <a:spcPct val="150000"/>
              </a:lnSpc>
              <a:buFont typeface="Wingdings" panose="05000000000000000000" pitchFamily="2" charset="2"/>
              <a:buChar char="Ø"/>
            </a:pPr>
            <a:r>
              <a:rPr lang="en-US" altLang="zh-CN" sz="3200" dirty="0">
                <a:solidFill>
                  <a:schemeClr val="tx2"/>
                </a:solidFill>
              </a:rPr>
              <a:t> </a:t>
            </a:r>
            <a:r>
              <a:rPr lang="zh-CN" altLang="zh-CN" sz="3200" dirty="0">
                <a:solidFill>
                  <a:schemeClr val="tx2"/>
                </a:solidFill>
              </a:rPr>
              <a:t>国家的需求 </a:t>
            </a:r>
          </a:p>
          <a:p>
            <a:pPr marL="571500" indent="-571500">
              <a:lnSpc>
                <a:spcPct val="150000"/>
              </a:lnSpc>
              <a:buFont typeface="Wingdings" panose="05000000000000000000" pitchFamily="2" charset="2"/>
              <a:buChar char="Ø"/>
            </a:pPr>
            <a:r>
              <a:rPr lang="en-US" altLang="zh-CN" sz="3200" dirty="0">
                <a:solidFill>
                  <a:schemeClr val="tx2"/>
                </a:solidFill>
              </a:rPr>
              <a:t> </a:t>
            </a:r>
            <a:r>
              <a:rPr lang="zh-CN" altLang="zh-CN" sz="3200" dirty="0">
                <a:solidFill>
                  <a:schemeClr val="tx2"/>
                </a:solidFill>
              </a:rPr>
              <a:t>对学生的期待</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2</a:t>
            </a:fld>
            <a:endParaRPr lang="zh-CN" altLang="en-US"/>
          </a:p>
        </p:txBody>
      </p:sp>
    </p:spTree>
    <p:extLst>
      <p:ext uri="{BB962C8B-B14F-4D97-AF65-F5344CB8AC3E}">
        <p14:creationId xmlns:p14="http://schemas.microsoft.com/office/powerpoint/2010/main" val="1027609147"/>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en-US" dirty="0"/>
              <a:t>计算机</a:t>
            </a:r>
            <a:r>
              <a:rPr lang="zh-CN" altLang="zh-CN" dirty="0"/>
              <a:t>的广泛应用</a:t>
            </a:r>
            <a:endParaRPr lang="zh-CN" altLang="en-US" dirty="0"/>
          </a:p>
        </p:txBody>
      </p:sp>
      <p:grpSp>
        <p:nvGrpSpPr>
          <p:cNvPr id="4" name="Group 3"/>
          <p:cNvGrpSpPr/>
          <p:nvPr/>
        </p:nvGrpSpPr>
        <p:grpSpPr>
          <a:xfrm>
            <a:off x="1129812" y="1847784"/>
            <a:ext cx="7353300" cy="4688717"/>
            <a:chOff x="1841629" y="867154"/>
            <a:chExt cx="9258952" cy="5903409"/>
          </a:xfrm>
        </p:grpSpPr>
        <p:graphicFrame>
          <p:nvGraphicFramePr>
            <p:cNvPr id="5" name="Diagram 23"/>
            <p:cNvGraphicFramePr/>
            <p:nvPr/>
          </p:nvGraphicFramePr>
          <p:xfrm>
            <a:off x="2032142" y="1088788"/>
            <a:ext cx="8369891" cy="5438194"/>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24"/>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2873419" y="2559276"/>
              <a:ext cx="757134" cy="757081"/>
            </a:xfrm>
            <a:prstGeom prst="rect">
              <a:avLst/>
            </a:prstGeom>
          </p:spPr>
        </p:pic>
        <p:pic>
          <p:nvPicPr>
            <p:cNvPr id="7" name="Picture 25"/>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7168564" y="867154"/>
              <a:ext cx="1371995" cy="712400"/>
            </a:xfrm>
            <a:prstGeom prst="rect">
              <a:avLst/>
            </a:prstGeom>
          </p:spPr>
        </p:pic>
        <p:pic>
          <p:nvPicPr>
            <p:cNvPr id="8" name="Picture 26"/>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8701811" y="4078849"/>
              <a:ext cx="812987" cy="812931"/>
            </a:xfrm>
            <a:prstGeom prst="rect">
              <a:avLst/>
            </a:prstGeom>
          </p:spPr>
        </p:pic>
        <p:pic>
          <p:nvPicPr>
            <p:cNvPr id="9" name="Picture 27"/>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8432647" y="5227386"/>
              <a:ext cx="1351315" cy="557522"/>
            </a:xfrm>
            <a:prstGeom prst="rect">
              <a:avLst/>
            </a:prstGeom>
          </p:spPr>
        </p:pic>
        <p:pic>
          <p:nvPicPr>
            <p:cNvPr id="10" name="Picture 28"/>
            <p:cNvPicPr>
              <a:picLocks noChangeAspect="1"/>
            </p:cNvPicPr>
            <p:nvPr/>
          </p:nvPicPr>
          <p:blipFill rotWithShape="1">
            <a:blip r:embed="rId11" cstate="print">
              <a:extLst>
                <a:ext uri="{28A0092B-C50C-407E-A947-70E740481C1C}">
                  <a14:useLocalDpi xmlns:a14="http://schemas.microsoft.com/office/drawing/2010/main" val="0"/>
                </a:ext>
              </a:extLst>
            </a:blip>
            <a:srcRect l="21323" t="10270" r="21324" b="5405"/>
            <a:stretch>
              <a:fillRect/>
            </a:stretch>
          </p:blipFill>
          <p:spPr>
            <a:xfrm>
              <a:off x="7384873" y="5983650"/>
              <a:ext cx="786969" cy="786913"/>
            </a:xfrm>
            <a:prstGeom prst="rect">
              <a:avLst/>
            </a:prstGeom>
          </p:spPr>
        </p:pic>
        <p:pic>
          <p:nvPicPr>
            <p:cNvPr id="11" name="Picture 29"/>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2895283" y="4088602"/>
              <a:ext cx="713404" cy="713353"/>
            </a:xfrm>
            <a:prstGeom prst="rect">
              <a:avLst/>
            </a:prstGeom>
          </p:spPr>
        </p:pic>
        <p:pic>
          <p:nvPicPr>
            <p:cNvPr id="12" name="Picture 30"/>
            <p:cNvPicPr>
              <a:picLocks noChangeAspect="1"/>
            </p:cNvPicPr>
            <p:nvPr/>
          </p:nvPicPr>
          <p:blipFill rotWithShape="1">
            <a:blip r:embed="rId13" cstate="print">
              <a:extLst>
                <a:ext uri="{28A0092B-C50C-407E-A947-70E740481C1C}">
                  <a14:useLocalDpi xmlns:a14="http://schemas.microsoft.com/office/drawing/2010/main" val="0"/>
                </a:ext>
              </a:extLst>
            </a:blip>
            <a:srcRect r="53459" b="8966"/>
            <a:stretch>
              <a:fillRect/>
            </a:stretch>
          </p:blipFill>
          <p:spPr>
            <a:xfrm>
              <a:off x="4077010" y="5983650"/>
              <a:ext cx="763623" cy="742072"/>
            </a:xfrm>
            <a:prstGeom prst="rect">
              <a:avLst/>
            </a:prstGeom>
          </p:spPr>
        </p:pic>
        <p:pic>
          <p:nvPicPr>
            <p:cNvPr id="13" name="Picture 31"/>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8630482" y="2607263"/>
              <a:ext cx="955643" cy="955575"/>
            </a:xfrm>
            <a:prstGeom prst="rect">
              <a:avLst/>
            </a:prstGeom>
          </p:spPr>
        </p:pic>
        <p:pic>
          <p:nvPicPr>
            <p:cNvPr id="14" name="Picture 32"/>
            <p:cNvPicPr>
              <a:picLocks noChangeAspect="1"/>
            </p:cNvPicPr>
            <p:nvPr/>
          </p:nvPicPr>
          <p:blipFill>
            <a:blip r:embed="rId15" cstate="print">
              <a:extLst>
                <a:ext uri="{28A0092B-C50C-407E-A947-70E740481C1C}">
                  <a14:useLocalDpi xmlns:a14="http://schemas.microsoft.com/office/drawing/2010/main" val="0"/>
                </a:ext>
              </a:extLst>
            </a:blip>
            <a:stretch>
              <a:fillRect/>
            </a:stretch>
          </p:blipFill>
          <p:spPr>
            <a:xfrm>
              <a:off x="8310305" y="1610579"/>
              <a:ext cx="797999" cy="797943"/>
            </a:xfrm>
            <a:prstGeom prst="rect">
              <a:avLst/>
            </a:prstGeom>
          </p:spPr>
        </p:pic>
        <p:pic>
          <p:nvPicPr>
            <p:cNvPr id="15" name="Picture 33"/>
            <p:cNvPicPr>
              <a:picLocks noChangeAspect="1"/>
            </p:cNvPicPr>
            <p:nvPr/>
          </p:nvPicPr>
          <p:blipFill rotWithShape="1">
            <a:blip r:embed="rId16" cstate="print">
              <a:extLst>
                <a:ext uri="{28A0092B-C50C-407E-A947-70E740481C1C}">
                  <a14:useLocalDpi xmlns:a14="http://schemas.microsoft.com/office/drawing/2010/main" val="0"/>
                </a:ext>
              </a:extLst>
            </a:blip>
            <a:srcRect l="8600" t="32400" r="9224" b="36233"/>
            <a:stretch>
              <a:fillRect/>
            </a:stretch>
          </p:blipFill>
          <p:spPr>
            <a:xfrm>
              <a:off x="2646038" y="1710070"/>
              <a:ext cx="1588938" cy="606464"/>
            </a:xfrm>
            <a:prstGeom prst="rect">
              <a:avLst/>
            </a:prstGeom>
          </p:spPr>
        </p:pic>
        <p:pic>
          <p:nvPicPr>
            <p:cNvPr id="16" name="Picture 34"/>
            <p:cNvPicPr>
              <a:picLocks noChangeAspect="1"/>
            </p:cNvPicPr>
            <p:nvPr/>
          </p:nvPicPr>
          <p:blipFill rotWithShape="1">
            <a:blip r:embed="rId17" cstate="print">
              <a:extLst>
                <a:ext uri="{28A0092B-C50C-407E-A947-70E740481C1C}">
                  <a14:useLocalDpi xmlns:a14="http://schemas.microsoft.com/office/drawing/2010/main" val="0"/>
                </a:ext>
              </a:extLst>
            </a:blip>
            <a:srcRect l="20435" t="10986" r="20652" b="13240"/>
            <a:stretch>
              <a:fillRect/>
            </a:stretch>
          </p:blipFill>
          <p:spPr>
            <a:xfrm>
              <a:off x="4234976" y="890046"/>
              <a:ext cx="791660" cy="785762"/>
            </a:xfrm>
            <a:prstGeom prst="rect">
              <a:avLst/>
            </a:prstGeom>
          </p:spPr>
        </p:pic>
        <p:pic>
          <p:nvPicPr>
            <p:cNvPr id="17" name="Picture 35"/>
            <p:cNvPicPr>
              <a:picLocks noChangeAspect="1"/>
            </p:cNvPicPr>
            <p:nvPr/>
          </p:nvPicPr>
          <p:blipFill>
            <a:blip r:embed="rId18" cstate="print">
              <a:extLst>
                <a:ext uri="{28A0092B-C50C-407E-A947-70E740481C1C}">
                  <a14:useLocalDpi xmlns:a14="http://schemas.microsoft.com/office/drawing/2010/main" val="0"/>
                </a:ext>
              </a:extLst>
            </a:blip>
            <a:stretch>
              <a:fillRect/>
            </a:stretch>
          </p:blipFill>
          <p:spPr>
            <a:xfrm>
              <a:off x="3005265" y="5187351"/>
              <a:ext cx="1138287" cy="597560"/>
            </a:xfrm>
            <a:prstGeom prst="rect">
              <a:avLst/>
            </a:prstGeom>
          </p:spPr>
        </p:pic>
        <p:cxnSp>
          <p:nvCxnSpPr>
            <p:cNvPr id="18" name="Straight Connector 36"/>
            <p:cNvCxnSpPr/>
            <p:nvPr/>
          </p:nvCxnSpPr>
          <p:spPr>
            <a:xfrm>
              <a:off x="1841629" y="3795716"/>
              <a:ext cx="9258952" cy="12700"/>
            </a:xfrm>
            <a:prstGeom prst="line">
              <a:avLst/>
            </a:prstGeom>
            <a:ln w="1270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cxnSp>
          <p:nvCxnSpPr>
            <p:cNvPr id="19" name="Straight Connector 37"/>
            <p:cNvCxnSpPr/>
            <p:nvPr/>
          </p:nvCxnSpPr>
          <p:spPr>
            <a:xfrm>
              <a:off x="6207137" y="1004884"/>
              <a:ext cx="3163" cy="5720839"/>
            </a:xfrm>
            <a:prstGeom prst="line">
              <a:avLst/>
            </a:prstGeom>
            <a:ln w="12700">
              <a:solidFill>
                <a:schemeClr val="tx1">
                  <a:lumMod val="50000"/>
                  <a:lumOff val="50000"/>
                </a:schemeClr>
              </a:solidFill>
              <a:prstDash val="lgDash"/>
            </a:ln>
          </p:spPr>
          <p:style>
            <a:lnRef idx="1">
              <a:schemeClr val="accent1"/>
            </a:lnRef>
            <a:fillRef idx="0">
              <a:schemeClr val="accent1"/>
            </a:fillRef>
            <a:effectRef idx="0">
              <a:schemeClr val="accent1"/>
            </a:effectRef>
            <a:fontRef idx="minor">
              <a:schemeClr val="tx1"/>
            </a:fontRef>
          </p:style>
        </p:cxnSp>
      </p:grpSp>
      <p:sp>
        <p:nvSpPr>
          <p:cNvPr id="2" name="灯片编号占位符 1"/>
          <p:cNvSpPr>
            <a:spLocks noGrp="1"/>
          </p:cNvSpPr>
          <p:nvPr>
            <p:ph type="sldNum" sz="quarter" idx="12"/>
          </p:nvPr>
        </p:nvSpPr>
        <p:spPr/>
        <p:txBody>
          <a:bodyPr/>
          <a:lstStyle/>
          <a:p>
            <a:fld id="{0C913308-F349-4B6D-A68A-DD1791B4A57B}" type="slidenum">
              <a:rPr lang="zh-CN" altLang="en-US" smtClean="0"/>
              <a:t>3</a:t>
            </a:fld>
            <a:endParaRPr lang="zh-CN" altLang="en-US"/>
          </a:p>
        </p:txBody>
      </p:sp>
    </p:spTree>
    <p:extLst>
      <p:ext uri="{BB962C8B-B14F-4D97-AF65-F5344CB8AC3E}">
        <p14:creationId xmlns:p14="http://schemas.microsoft.com/office/powerpoint/2010/main" val="2978998941"/>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3933056"/>
            <a:ext cx="8640960" cy="2808312"/>
          </a:xfrm>
        </p:spPr>
        <p:txBody>
          <a:bodyPr>
            <a:normAutofit fontScale="92500" lnSpcReduction="20000"/>
          </a:bodyPr>
          <a:lstStyle/>
          <a:p>
            <a:pPr>
              <a:buFont typeface="Wingdings" panose="05000000000000000000" pitchFamily="2" charset="2"/>
              <a:buChar char="Ø"/>
            </a:pPr>
            <a:r>
              <a:rPr lang="zh-CN" altLang="en-US" dirty="0"/>
              <a:t>神威</a:t>
            </a:r>
            <a:r>
              <a:rPr lang="en-US" altLang="zh-CN" dirty="0"/>
              <a:t>·</a:t>
            </a:r>
            <a:r>
              <a:rPr lang="zh-CN" altLang="en-US" dirty="0"/>
              <a:t>太湖之光</a:t>
            </a:r>
            <a:r>
              <a:rPr lang="zh-CN" altLang="en-US" dirty="0" smtClean="0"/>
              <a:t>超级计算机是</a:t>
            </a:r>
            <a:r>
              <a:rPr lang="zh-CN" altLang="en-US" dirty="0"/>
              <a:t>由国家并行计算机工程技术研究中心研制、安装在国家超级计算无锡中心的超级计算机</a:t>
            </a:r>
            <a:r>
              <a:rPr lang="zh-CN" altLang="en-US" dirty="0" smtClean="0"/>
              <a:t>。该计算机</a:t>
            </a:r>
            <a:r>
              <a:rPr lang="zh-CN" altLang="en-US" dirty="0"/>
              <a:t>安装了</a:t>
            </a:r>
            <a:r>
              <a:rPr lang="en-US" altLang="zh-CN" dirty="0"/>
              <a:t>40960</a:t>
            </a:r>
            <a:r>
              <a:rPr lang="zh-CN" altLang="en-US" dirty="0"/>
              <a:t>个中国自主研发的“申威</a:t>
            </a:r>
            <a:r>
              <a:rPr lang="en-US" altLang="zh-CN" dirty="0"/>
              <a:t>26010”</a:t>
            </a:r>
            <a:r>
              <a:rPr lang="zh-CN" altLang="en-US" dirty="0"/>
              <a:t>众核处理器，该众核处理器采用</a:t>
            </a:r>
            <a:r>
              <a:rPr lang="en-US" altLang="zh-CN" dirty="0"/>
              <a:t>64</a:t>
            </a:r>
            <a:r>
              <a:rPr lang="zh-CN" altLang="en-US" dirty="0"/>
              <a:t>位自主申威指令系统，峰值性能为</a:t>
            </a:r>
            <a:r>
              <a:rPr lang="en-US" altLang="zh-CN" dirty="0"/>
              <a:t>12.54</a:t>
            </a:r>
            <a:r>
              <a:rPr lang="zh-CN" altLang="en-US" dirty="0"/>
              <a:t>京次</a:t>
            </a:r>
            <a:r>
              <a:rPr lang="en-US" altLang="zh-CN" dirty="0"/>
              <a:t>/</a:t>
            </a:r>
            <a:r>
              <a:rPr lang="zh-CN" altLang="en-US" dirty="0"/>
              <a:t>秒，持续性能为</a:t>
            </a:r>
            <a:r>
              <a:rPr lang="en-US" altLang="zh-CN" dirty="0"/>
              <a:t>9.3</a:t>
            </a:r>
            <a:r>
              <a:rPr lang="zh-CN" altLang="en-US" dirty="0"/>
              <a:t>京次</a:t>
            </a:r>
            <a:r>
              <a:rPr lang="en-US" altLang="zh-CN" dirty="0"/>
              <a:t>/</a:t>
            </a:r>
            <a:r>
              <a:rPr lang="zh-CN" altLang="en-US" dirty="0"/>
              <a:t>秒。（</a:t>
            </a:r>
            <a:r>
              <a:rPr lang="en-US" altLang="zh-CN" dirty="0"/>
              <a:t>1</a:t>
            </a:r>
            <a:r>
              <a:rPr lang="zh-CN" altLang="en-US" dirty="0"/>
              <a:t>京为</a:t>
            </a:r>
            <a:r>
              <a:rPr lang="en-US" altLang="zh-CN" dirty="0"/>
              <a:t>1</a:t>
            </a:r>
            <a:r>
              <a:rPr lang="zh-CN" altLang="en-US" dirty="0"/>
              <a:t>亿亿</a:t>
            </a:r>
            <a:r>
              <a:rPr lang="zh-CN" altLang="en-US" dirty="0" smtClean="0"/>
              <a:t>）</a:t>
            </a:r>
            <a:endParaRPr lang="en-US" altLang="zh-CN" dirty="0" smtClean="0"/>
          </a:p>
          <a:p>
            <a:pPr>
              <a:buFont typeface="Wingdings" panose="05000000000000000000" pitchFamily="2" charset="2"/>
              <a:buChar char="Ø"/>
            </a:pPr>
            <a:r>
              <a:rPr lang="en-US" altLang="zh-CN" dirty="0"/>
              <a:t>2018</a:t>
            </a:r>
            <a:r>
              <a:rPr lang="zh-CN" altLang="en-US" dirty="0"/>
              <a:t>年</a:t>
            </a:r>
            <a:r>
              <a:rPr lang="en-US" altLang="zh-CN" dirty="0"/>
              <a:t>11</a:t>
            </a:r>
            <a:r>
              <a:rPr lang="zh-CN" altLang="en-US" dirty="0"/>
              <a:t>月</a:t>
            </a:r>
            <a:r>
              <a:rPr lang="en-US" altLang="zh-CN" dirty="0"/>
              <a:t>12</a:t>
            </a:r>
            <a:r>
              <a:rPr lang="zh-CN" altLang="en-US" dirty="0"/>
              <a:t>日</a:t>
            </a:r>
            <a:r>
              <a:rPr lang="zh-CN" altLang="en-US" dirty="0" smtClean="0"/>
              <a:t>，全球</a:t>
            </a:r>
            <a:r>
              <a:rPr lang="zh-CN" altLang="en-US" dirty="0"/>
              <a:t>超级计算机</a:t>
            </a:r>
            <a:r>
              <a:rPr lang="en-US" altLang="zh-CN" dirty="0"/>
              <a:t>500</a:t>
            </a:r>
            <a:r>
              <a:rPr lang="zh-CN" altLang="en-US" dirty="0"/>
              <a:t>强榜单在美国达拉斯发布，中国超算“神威</a:t>
            </a:r>
            <a:r>
              <a:rPr lang="en-US" altLang="zh-CN" dirty="0"/>
              <a:t>·</a:t>
            </a:r>
            <a:r>
              <a:rPr lang="zh-CN" altLang="en-US" dirty="0"/>
              <a:t>太湖之光”位列第三名</a:t>
            </a:r>
            <a:r>
              <a:rPr lang="zh-CN" altLang="en-US" dirty="0" smtClean="0"/>
              <a:t>。</a:t>
            </a:r>
            <a:endParaRPr lang="en-US" altLang="zh-CN" dirty="0" smtClean="0"/>
          </a:p>
          <a:p>
            <a:pPr>
              <a:buFont typeface="Wingdings" panose="05000000000000000000" pitchFamily="2" charset="2"/>
              <a:buChar char="Ø"/>
            </a:pPr>
            <a:r>
              <a:rPr lang="en-US" altLang="zh-CN" dirty="0" smtClean="0"/>
              <a:t>2020</a:t>
            </a:r>
            <a:r>
              <a:rPr lang="zh-CN" altLang="en-US" dirty="0"/>
              <a:t>年</a:t>
            </a:r>
            <a:r>
              <a:rPr lang="en-US" altLang="zh-CN" dirty="0"/>
              <a:t>7</a:t>
            </a:r>
            <a:r>
              <a:rPr lang="zh-CN" altLang="en-US" dirty="0"/>
              <a:t>月，中国科大在“神威</a:t>
            </a:r>
            <a:r>
              <a:rPr lang="en-US" altLang="zh-CN" dirty="0"/>
              <a:t>·</a:t>
            </a:r>
            <a:r>
              <a:rPr lang="zh-CN" altLang="en-US" dirty="0"/>
              <a:t>太湖之光”上首次实现千万核心并行第一性原理计算模拟。</a:t>
            </a:r>
            <a:endParaRPr lang="en-US" altLang="zh-CN" dirty="0" smtClean="0"/>
          </a:p>
        </p:txBody>
      </p:sp>
      <p:sp>
        <p:nvSpPr>
          <p:cNvPr id="3" name="标题 2"/>
          <p:cNvSpPr>
            <a:spLocks noGrp="1"/>
          </p:cNvSpPr>
          <p:nvPr>
            <p:ph type="title"/>
          </p:nvPr>
        </p:nvSpPr>
        <p:spPr/>
        <p:txBody>
          <a:bodyPr>
            <a:normAutofit/>
          </a:bodyPr>
          <a:lstStyle/>
          <a:p>
            <a:r>
              <a:rPr lang="zh-CN" altLang="en-US" dirty="0"/>
              <a:t>计算机</a:t>
            </a:r>
            <a:r>
              <a:rPr lang="zh-CN" altLang="zh-CN" dirty="0"/>
              <a:t>的广泛</a:t>
            </a:r>
            <a:r>
              <a:rPr lang="zh-CN" altLang="zh-CN" dirty="0" smtClean="0"/>
              <a:t>应用</a:t>
            </a:r>
            <a:r>
              <a:rPr lang="en-US" altLang="zh-CN" dirty="0" smtClean="0"/>
              <a:t>-</a:t>
            </a:r>
            <a:r>
              <a:rPr lang="zh-CN" altLang="en-US" dirty="0" smtClean="0"/>
              <a:t>大型计算机</a:t>
            </a:r>
            <a:endParaRPr lang="zh-CN" altLang="en-US" dirty="0"/>
          </a:p>
        </p:txBody>
      </p:sp>
      <p:pic>
        <p:nvPicPr>
          <p:cNvPr id="4" name="图片 3" descr="IMG_256"/>
          <p:cNvPicPr/>
          <p:nvPr/>
        </p:nvPicPr>
        <p:blipFill>
          <a:blip r:embed="rId2"/>
          <a:stretch>
            <a:fillRect/>
          </a:stretch>
        </p:blipFill>
        <p:spPr>
          <a:xfrm>
            <a:off x="2189416" y="1412776"/>
            <a:ext cx="4762500" cy="2286000"/>
          </a:xfrm>
          <a:prstGeom prst="rect">
            <a:avLst/>
          </a:prstGeom>
          <a:noFill/>
          <a:ln w="9525">
            <a:noFill/>
          </a:ln>
        </p:spPr>
      </p:pic>
      <p:sp>
        <p:nvSpPr>
          <p:cNvPr id="5" name="灯片编号占位符 4"/>
          <p:cNvSpPr>
            <a:spLocks noGrp="1"/>
          </p:cNvSpPr>
          <p:nvPr>
            <p:ph type="sldNum" sz="quarter" idx="12"/>
          </p:nvPr>
        </p:nvSpPr>
        <p:spPr/>
        <p:txBody>
          <a:bodyPr/>
          <a:lstStyle/>
          <a:p>
            <a:fld id="{0C913308-F349-4B6D-A68A-DD1791B4A57B}" type="slidenum">
              <a:rPr lang="zh-CN" altLang="en-US" smtClean="0"/>
              <a:t>4</a:t>
            </a:fld>
            <a:endParaRPr lang="zh-CN" altLang="en-US" dirty="0"/>
          </a:p>
        </p:txBody>
      </p:sp>
    </p:spTree>
    <p:extLst>
      <p:ext uri="{BB962C8B-B14F-4D97-AF65-F5344CB8AC3E}">
        <p14:creationId xmlns:p14="http://schemas.microsoft.com/office/powerpoint/2010/main" val="1991211097"/>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283968" y="1844824"/>
            <a:ext cx="4752528" cy="4680520"/>
          </a:xfrm>
        </p:spPr>
        <p:txBody>
          <a:bodyPr>
            <a:normAutofit/>
          </a:bodyPr>
          <a:lstStyle/>
          <a:p>
            <a:pPr>
              <a:buFont typeface="Wingdings" panose="05000000000000000000" pitchFamily="2" charset="2"/>
              <a:buChar char="Ø"/>
            </a:pPr>
            <a:r>
              <a:rPr lang="zh-CN" altLang="en-US" dirty="0"/>
              <a:t>美国密歇根大学制造出了世界上最小的计算机，全长只有</a:t>
            </a:r>
            <a:r>
              <a:rPr lang="en-US" altLang="zh-CN" dirty="0"/>
              <a:t>0.3</a:t>
            </a:r>
            <a:r>
              <a:rPr lang="zh-CN" altLang="en-US" dirty="0"/>
              <a:t>毫米，超越了</a:t>
            </a:r>
            <a:r>
              <a:rPr lang="en-US" altLang="zh-CN" dirty="0"/>
              <a:t>IBM</a:t>
            </a:r>
            <a:r>
              <a:rPr lang="zh-CN" altLang="en-US" dirty="0" smtClean="0"/>
              <a:t>公司展示的</a:t>
            </a:r>
            <a:r>
              <a:rPr lang="en-US" altLang="zh-CN" dirty="0"/>
              <a:t>1x1</a:t>
            </a:r>
            <a:r>
              <a:rPr lang="zh-CN" altLang="en-US" dirty="0"/>
              <a:t>毫米大小的计算机。</a:t>
            </a:r>
          </a:p>
          <a:p>
            <a:pPr>
              <a:buFont typeface="Wingdings" panose="05000000000000000000" pitchFamily="2" charset="2"/>
              <a:buChar char="Ø"/>
            </a:pPr>
            <a:endParaRPr lang="zh-CN" altLang="en-US" dirty="0"/>
          </a:p>
          <a:p>
            <a:pPr>
              <a:buFont typeface="Wingdings" panose="05000000000000000000" pitchFamily="2" charset="2"/>
              <a:buChar char="Ø"/>
            </a:pPr>
            <a:r>
              <a:rPr lang="zh-CN" altLang="en-US" dirty="0"/>
              <a:t>密歇根大学制造的最小计算机比米粒还小，由于它太小，无法拥有传统的无线电天线，因此利用可见光接收和传输数据。</a:t>
            </a:r>
            <a:endParaRPr lang="zh-CN" altLang="zh-CN" dirty="0"/>
          </a:p>
        </p:txBody>
      </p:sp>
      <p:sp>
        <p:nvSpPr>
          <p:cNvPr id="3" name="标题 2"/>
          <p:cNvSpPr>
            <a:spLocks noGrp="1"/>
          </p:cNvSpPr>
          <p:nvPr>
            <p:ph type="title"/>
          </p:nvPr>
        </p:nvSpPr>
        <p:spPr/>
        <p:txBody>
          <a:bodyPr>
            <a:normAutofit/>
          </a:bodyPr>
          <a:lstStyle/>
          <a:p>
            <a:r>
              <a:rPr lang="zh-CN" altLang="en-US" dirty="0"/>
              <a:t>计算机</a:t>
            </a:r>
            <a:r>
              <a:rPr lang="zh-CN" altLang="zh-CN" dirty="0"/>
              <a:t>的广泛</a:t>
            </a:r>
            <a:r>
              <a:rPr lang="zh-CN" altLang="zh-CN" dirty="0" smtClean="0"/>
              <a:t>应用</a:t>
            </a:r>
            <a:r>
              <a:rPr lang="en-US" altLang="zh-CN" dirty="0" smtClean="0"/>
              <a:t>-</a:t>
            </a:r>
            <a:r>
              <a:rPr lang="zh-CN" altLang="en-US" dirty="0" smtClean="0"/>
              <a:t>最小的计算机</a:t>
            </a:r>
            <a:endParaRPr lang="zh-CN" altLang="en-US" dirty="0"/>
          </a:p>
        </p:txBody>
      </p:sp>
      <p:sp>
        <p:nvSpPr>
          <p:cNvPr id="5" name="灯片编号占位符 4"/>
          <p:cNvSpPr>
            <a:spLocks noGrp="1"/>
          </p:cNvSpPr>
          <p:nvPr>
            <p:ph type="sldNum" sz="quarter" idx="12"/>
          </p:nvPr>
        </p:nvSpPr>
        <p:spPr/>
        <p:txBody>
          <a:bodyPr/>
          <a:lstStyle/>
          <a:p>
            <a:fld id="{0C913308-F349-4B6D-A68A-DD1791B4A57B}" type="slidenum">
              <a:rPr lang="zh-CN" altLang="en-US" smtClean="0"/>
              <a:t>5</a:t>
            </a:fld>
            <a:endParaRPr lang="zh-CN" altLang="en-US"/>
          </a:p>
        </p:txBody>
      </p:sp>
      <p:pic>
        <p:nvPicPr>
          <p:cNvPr id="6" name="图片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67544" y="1720614"/>
            <a:ext cx="3617617" cy="2411745"/>
          </a:xfrm>
          <a:prstGeom prst="rect">
            <a:avLst/>
          </a:prstGeom>
        </p:spPr>
      </p:pic>
      <p:pic>
        <p:nvPicPr>
          <p:cNvPr id="8" name="图片 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3062" y="4293097"/>
            <a:ext cx="3632100" cy="2179260"/>
          </a:xfrm>
          <a:prstGeom prst="rect">
            <a:avLst/>
          </a:prstGeom>
        </p:spPr>
      </p:pic>
    </p:spTree>
    <p:extLst>
      <p:ext uri="{BB962C8B-B14F-4D97-AF65-F5344CB8AC3E}">
        <p14:creationId xmlns:p14="http://schemas.microsoft.com/office/powerpoint/2010/main" val="1437378541"/>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1772816"/>
            <a:ext cx="3528392" cy="4680520"/>
          </a:xfrm>
        </p:spPr>
        <p:txBody>
          <a:bodyPr>
            <a:normAutofit/>
          </a:bodyPr>
          <a:lstStyle/>
          <a:p>
            <a:pPr marL="0" indent="0">
              <a:lnSpc>
                <a:spcPct val="130000"/>
              </a:lnSpc>
              <a:buNone/>
            </a:pPr>
            <a:r>
              <a:rPr lang="zh-CN" altLang="en-US" dirty="0" smtClean="0"/>
              <a:t>人工智能的广泛应用：</a:t>
            </a:r>
            <a:endParaRPr lang="en-US" altLang="zh-CN" dirty="0" smtClean="0"/>
          </a:p>
          <a:p>
            <a:pPr lvl="1">
              <a:lnSpc>
                <a:spcPct val="130000"/>
              </a:lnSpc>
              <a:buFont typeface="Wingdings" panose="05000000000000000000" pitchFamily="2" charset="2"/>
              <a:buChar char="Ø"/>
            </a:pPr>
            <a:r>
              <a:rPr lang="zh-CN" altLang="en-US" dirty="0" smtClean="0"/>
              <a:t>图像技术</a:t>
            </a:r>
            <a:endParaRPr lang="en-US" altLang="zh-CN" dirty="0" smtClean="0"/>
          </a:p>
          <a:p>
            <a:pPr lvl="1">
              <a:lnSpc>
                <a:spcPct val="130000"/>
              </a:lnSpc>
              <a:buFont typeface="Wingdings" panose="05000000000000000000" pitchFamily="2" charset="2"/>
              <a:buChar char="Ø"/>
            </a:pPr>
            <a:r>
              <a:rPr lang="zh-CN" altLang="en-US" dirty="0" smtClean="0"/>
              <a:t>自然语言</a:t>
            </a:r>
            <a:endParaRPr lang="en-US" altLang="zh-CN" dirty="0" smtClean="0"/>
          </a:p>
          <a:p>
            <a:pPr lvl="1">
              <a:lnSpc>
                <a:spcPct val="130000"/>
              </a:lnSpc>
              <a:buFont typeface="Wingdings" panose="05000000000000000000" pitchFamily="2" charset="2"/>
              <a:buChar char="Ø"/>
            </a:pPr>
            <a:r>
              <a:rPr lang="zh-CN" altLang="en-US" dirty="0" smtClean="0"/>
              <a:t>语音技术</a:t>
            </a:r>
            <a:endParaRPr lang="en-US" altLang="zh-CN" dirty="0" smtClean="0"/>
          </a:p>
          <a:p>
            <a:pPr lvl="1">
              <a:lnSpc>
                <a:spcPct val="130000"/>
              </a:lnSpc>
              <a:buFont typeface="Wingdings" panose="05000000000000000000" pitchFamily="2" charset="2"/>
              <a:buChar char="Ø"/>
            </a:pPr>
            <a:r>
              <a:rPr lang="zh-CN" altLang="en-US" dirty="0" smtClean="0"/>
              <a:t>视频技术</a:t>
            </a:r>
            <a:endParaRPr lang="en-US" altLang="zh-CN" dirty="0" smtClean="0"/>
          </a:p>
          <a:p>
            <a:pPr lvl="1">
              <a:lnSpc>
                <a:spcPct val="130000"/>
              </a:lnSpc>
              <a:buFont typeface="Wingdings" panose="05000000000000000000" pitchFamily="2" charset="2"/>
              <a:buChar char="Ø"/>
            </a:pPr>
            <a:r>
              <a:rPr lang="zh-CN" altLang="en-US" dirty="0"/>
              <a:t>知识</a:t>
            </a:r>
            <a:r>
              <a:rPr lang="zh-CN" altLang="en-US" dirty="0" smtClean="0"/>
              <a:t>图谱</a:t>
            </a:r>
            <a:endParaRPr lang="en-US" altLang="zh-CN" dirty="0" smtClean="0"/>
          </a:p>
          <a:p>
            <a:pPr lvl="1">
              <a:lnSpc>
                <a:spcPct val="130000"/>
              </a:lnSpc>
              <a:buFont typeface="Wingdings" panose="05000000000000000000" pitchFamily="2" charset="2"/>
              <a:buChar char="Ø"/>
            </a:pPr>
            <a:r>
              <a:rPr lang="zh-CN" altLang="en-US" dirty="0" smtClean="0"/>
              <a:t>数据智能</a:t>
            </a:r>
            <a:endParaRPr lang="en-US" altLang="zh-CN" dirty="0" smtClean="0"/>
          </a:p>
          <a:p>
            <a:pPr lvl="1">
              <a:lnSpc>
                <a:spcPct val="130000"/>
              </a:lnSpc>
              <a:buFont typeface="Wingdings" panose="05000000000000000000" pitchFamily="2" charset="2"/>
              <a:buChar char="Ø"/>
            </a:pPr>
            <a:r>
              <a:rPr lang="zh-CN" altLang="en-US" dirty="0" smtClean="0"/>
              <a:t>增强学习</a:t>
            </a:r>
            <a:endParaRPr lang="en-US" altLang="zh-CN" dirty="0" smtClean="0"/>
          </a:p>
          <a:p>
            <a:pPr lvl="1">
              <a:lnSpc>
                <a:spcPct val="130000"/>
              </a:lnSpc>
              <a:buFont typeface="Wingdings" panose="05000000000000000000" pitchFamily="2" charset="2"/>
              <a:buChar char="Ø"/>
            </a:pPr>
            <a:r>
              <a:rPr lang="zh-CN" altLang="en-US" dirty="0" smtClean="0"/>
              <a:t>深度学习</a:t>
            </a:r>
            <a:endParaRPr lang="zh-CN" altLang="zh-CN" dirty="0"/>
          </a:p>
        </p:txBody>
      </p:sp>
      <p:sp>
        <p:nvSpPr>
          <p:cNvPr id="3" name="标题 2"/>
          <p:cNvSpPr>
            <a:spLocks noGrp="1"/>
          </p:cNvSpPr>
          <p:nvPr>
            <p:ph type="title"/>
          </p:nvPr>
        </p:nvSpPr>
        <p:spPr/>
        <p:txBody>
          <a:bodyPr/>
          <a:lstStyle/>
          <a:p>
            <a:r>
              <a:rPr lang="zh-CN" altLang="en-US" dirty="0"/>
              <a:t>计算机</a:t>
            </a:r>
            <a:r>
              <a:rPr lang="zh-CN" altLang="zh-CN" dirty="0"/>
              <a:t>的广泛</a:t>
            </a:r>
            <a:r>
              <a:rPr lang="zh-CN" altLang="zh-CN" dirty="0" smtClean="0"/>
              <a:t>应用</a:t>
            </a:r>
            <a:r>
              <a:rPr lang="zh-CN" altLang="en-US" dirty="0" smtClean="0"/>
              <a:t>（续）</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472456" y="1417711"/>
            <a:ext cx="4266600" cy="3317281"/>
          </a:xfrm>
          <a:prstGeom prst="rect">
            <a:avLst/>
          </a:prstGeom>
        </p:spPr>
      </p:pic>
      <p:pic>
        <p:nvPicPr>
          <p:cNvPr id="5" name="图片 4">
            <a:extLst>
              <a:ext uri="{FF2B5EF4-FFF2-40B4-BE49-F238E27FC236}">
                <a16:creationId xmlns="" xmlns:a16="http://schemas.microsoft.com/office/drawing/2014/main" id="{615E01DB-F8BC-451F-B4B4-632E87FDE070}"/>
              </a:ext>
            </a:extLst>
          </p:cNvPr>
          <p:cNvPicPr>
            <a:picLocks noChangeAspect="1"/>
          </p:cNvPicPr>
          <p:nvPr/>
        </p:nvPicPr>
        <p:blipFill>
          <a:blip r:embed="rId3"/>
          <a:stretch>
            <a:fillRect/>
          </a:stretch>
        </p:blipFill>
        <p:spPr>
          <a:xfrm>
            <a:off x="4427984" y="4865317"/>
            <a:ext cx="4355544" cy="1876051"/>
          </a:xfrm>
          <a:prstGeom prst="rect">
            <a:avLst/>
          </a:prstGeom>
        </p:spPr>
      </p:pic>
      <p:sp>
        <p:nvSpPr>
          <p:cNvPr id="6" name="灯片编号占位符 5"/>
          <p:cNvSpPr>
            <a:spLocks noGrp="1"/>
          </p:cNvSpPr>
          <p:nvPr>
            <p:ph type="sldNum" sz="quarter" idx="12"/>
          </p:nvPr>
        </p:nvSpPr>
        <p:spPr/>
        <p:txBody>
          <a:bodyPr/>
          <a:lstStyle/>
          <a:p>
            <a:fld id="{0C913308-F349-4B6D-A68A-DD1791B4A57B}" type="slidenum">
              <a:rPr lang="zh-CN" altLang="en-US" smtClean="0"/>
              <a:t>6</a:t>
            </a:fld>
            <a:endParaRPr lang="zh-CN" altLang="en-US"/>
          </a:p>
        </p:txBody>
      </p:sp>
    </p:spTree>
    <p:extLst>
      <p:ext uri="{BB962C8B-B14F-4D97-AF65-F5344CB8AC3E}">
        <p14:creationId xmlns:p14="http://schemas.microsoft.com/office/powerpoint/2010/main" val="618666781"/>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844824"/>
            <a:ext cx="7992888" cy="4752528"/>
          </a:xfrm>
        </p:spPr>
        <p:txBody>
          <a:bodyPr>
            <a:normAutofit/>
          </a:bodyPr>
          <a:lstStyle/>
          <a:p>
            <a:pPr lvl="0">
              <a:buFont typeface="Wingdings" panose="05000000000000000000" pitchFamily="2" charset="2"/>
              <a:buChar char="Ø"/>
            </a:pPr>
            <a:r>
              <a:rPr lang="zh-CN" altLang="zh-CN" b="1" dirty="0"/>
              <a:t>在超级计算机行业中居国际先进水平。</a:t>
            </a:r>
          </a:p>
          <a:p>
            <a:pPr lvl="1">
              <a:lnSpc>
                <a:spcPct val="150000"/>
              </a:lnSpc>
              <a:buFont typeface="Wingdings" panose="05000000000000000000" pitchFamily="2" charset="2"/>
              <a:buChar char="l"/>
            </a:pPr>
            <a:r>
              <a:rPr lang="zh-CN" altLang="zh-CN" dirty="0"/>
              <a:t>中国在</a:t>
            </a:r>
            <a:r>
              <a:rPr lang="en-US" altLang="zh-CN" dirty="0"/>
              <a:t>1983</a:t>
            </a:r>
            <a:r>
              <a:rPr lang="zh-CN" altLang="zh-CN" dirty="0"/>
              <a:t>年就研制出第一台超级计算机银河一号，使中国成为继美国、日本之后第三个能独立设计和研制超级计算机的国家</a:t>
            </a:r>
            <a:r>
              <a:rPr lang="zh-CN" altLang="en-US" dirty="0"/>
              <a:t>。</a:t>
            </a:r>
            <a:endParaRPr lang="en-US" altLang="zh-CN" dirty="0"/>
          </a:p>
          <a:p>
            <a:pPr lvl="1">
              <a:lnSpc>
                <a:spcPct val="150000"/>
              </a:lnSpc>
              <a:buFont typeface="Wingdings" panose="05000000000000000000" pitchFamily="2" charset="2"/>
              <a:buChar char="l"/>
            </a:pPr>
            <a:r>
              <a:rPr lang="en-US" altLang="zh-CN" dirty="0" smtClean="0"/>
              <a:t>2011</a:t>
            </a:r>
            <a:r>
              <a:rPr lang="zh-CN" altLang="zh-CN" dirty="0"/>
              <a:t>年中国拥有世界最快的</a:t>
            </a:r>
            <a:r>
              <a:rPr lang="en-US" altLang="zh-CN" dirty="0"/>
              <a:t>500</a:t>
            </a:r>
            <a:r>
              <a:rPr lang="zh-CN" altLang="zh-CN" dirty="0"/>
              <a:t>个超级计算机中的</a:t>
            </a:r>
            <a:r>
              <a:rPr lang="en-US" altLang="zh-CN" dirty="0"/>
              <a:t>74</a:t>
            </a:r>
            <a:r>
              <a:rPr lang="zh-CN" altLang="zh-CN" dirty="0" smtClean="0"/>
              <a:t>个</a:t>
            </a:r>
            <a:r>
              <a:rPr lang="en-US" altLang="zh-CN" dirty="0"/>
              <a:t>  </a:t>
            </a:r>
            <a:endParaRPr lang="en-US" altLang="zh-CN" dirty="0" smtClean="0"/>
          </a:p>
          <a:p>
            <a:pPr lvl="1">
              <a:lnSpc>
                <a:spcPct val="150000"/>
              </a:lnSpc>
              <a:buFont typeface="Wingdings" panose="05000000000000000000" pitchFamily="2" charset="2"/>
              <a:buChar char="l"/>
            </a:pPr>
            <a:r>
              <a:rPr lang="zh-CN" altLang="zh-CN" dirty="0" smtClean="0"/>
              <a:t>中国</a:t>
            </a:r>
            <a:r>
              <a:rPr lang="zh-CN" altLang="zh-CN" dirty="0"/>
              <a:t>以国产微处理器为基础制造出本国第一台超级计算机名为“神威蓝光”，在</a:t>
            </a:r>
            <a:r>
              <a:rPr lang="en-US" altLang="zh-CN" dirty="0"/>
              <a:t>2016</a:t>
            </a:r>
            <a:r>
              <a:rPr lang="zh-CN" altLang="zh-CN" dirty="0"/>
              <a:t>年</a:t>
            </a:r>
            <a:r>
              <a:rPr lang="en-US" altLang="zh-CN" dirty="0"/>
              <a:t>6</a:t>
            </a:r>
            <a:r>
              <a:rPr lang="zh-CN" altLang="zh-CN" dirty="0"/>
              <a:t>月</a:t>
            </a:r>
            <a:r>
              <a:rPr lang="en-US" altLang="zh-CN" dirty="0"/>
              <a:t>TOP500</a:t>
            </a:r>
            <a:r>
              <a:rPr lang="zh-CN" altLang="zh-CN" dirty="0"/>
              <a:t>组织发布的最新一期世界超级计算机</a:t>
            </a:r>
            <a:r>
              <a:rPr lang="en-US" altLang="zh-CN" dirty="0"/>
              <a:t>500</a:t>
            </a:r>
            <a:r>
              <a:rPr lang="zh-CN" altLang="zh-CN" dirty="0"/>
              <a:t>强榜单中，神威·太湖之光超级计算机和天河二号超级计算机位居前两位</a:t>
            </a:r>
            <a:r>
              <a:rPr lang="zh-CN" altLang="zh-CN" dirty="0" smtClean="0"/>
              <a:t>。</a:t>
            </a:r>
            <a:endParaRPr lang="en-US" altLang="zh-CN" dirty="0" smtClean="0"/>
          </a:p>
          <a:p>
            <a:endParaRPr lang="zh-CN" altLang="zh-CN" dirty="0"/>
          </a:p>
        </p:txBody>
      </p:sp>
      <p:sp>
        <p:nvSpPr>
          <p:cNvPr id="3" name="标题 2"/>
          <p:cNvSpPr>
            <a:spLocks noGrp="1"/>
          </p:cNvSpPr>
          <p:nvPr>
            <p:ph type="title"/>
          </p:nvPr>
        </p:nvSpPr>
        <p:spPr/>
        <p:txBody>
          <a:bodyPr/>
          <a:lstStyle/>
          <a:p>
            <a:r>
              <a:rPr lang="zh-CN" altLang="zh-CN" dirty="0"/>
              <a:t>我国</a:t>
            </a:r>
            <a:r>
              <a:rPr lang="zh-CN" altLang="en-US" dirty="0"/>
              <a:t>领先世界的计算机</a:t>
            </a:r>
            <a:r>
              <a:rPr lang="zh-CN" altLang="zh-CN" dirty="0"/>
              <a:t>技术</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7</a:t>
            </a:fld>
            <a:endParaRPr lang="zh-CN" altLang="en-US"/>
          </a:p>
        </p:txBody>
      </p:sp>
    </p:spTree>
    <p:extLst>
      <p:ext uri="{BB962C8B-B14F-4D97-AF65-F5344CB8AC3E}">
        <p14:creationId xmlns:p14="http://schemas.microsoft.com/office/powerpoint/2010/main" val="393861004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844824"/>
            <a:ext cx="7992888" cy="4752528"/>
          </a:xfrm>
        </p:spPr>
        <p:txBody>
          <a:bodyPr>
            <a:normAutofit/>
          </a:bodyPr>
          <a:lstStyle/>
          <a:p>
            <a:pPr lvl="0">
              <a:buFont typeface="Wingdings" panose="05000000000000000000" pitchFamily="2" charset="2"/>
              <a:buChar char="Ø"/>
            </a:pPr>
            <a:r>
              <a:rPr lang="zh-CN" altLang="zh-CN" b="1" dirty="0" smtClean="0"/>
              <a:t>量子</a:t>
            </a:r>
            <a:r>
              <a:rPr lang="zh-CN" altLang="zh-CN" b="1" dirty="0"/>
              <a:t>计算领域国际领先</a:t>
            </a:r>
          </a:p>
          <a:p>
            <a:pPr lvl="1">
              <a:lnSpc>
                <a:spcPct val="150000"/>
              </a:lnSpc>
              <a:buFont typeface="Wingdings" panose="05000000000000000000" pitchFamily="2" charset="2"/>
              <a:buChar char="l"/>
            </a:pPr>
            <a:r>
              <a:rPr lang="en-US" altLang="zh-CN" dirty="0"/>
              <a:t> </a:t>
            </a:r>
            <a:r>
              <a:rPr lang="en-US" altLang="zh-CN" dirty="0" smtClean="0"/>
              <a:t>2017</a:t>
            </a:r>
            <a:r>
              <a:rPr lang="zh-CN" altLang="en-US" dirty="0" smtClean="0"/>
              <a:t>年</a:t>
            </a:r>
            <a:r>
              <a:rPr lang="en-US" altLang="zh-CN" dirty="0" smtClean="0"/>
              <a:t>5</a:t>
            </a:r>
            <a:r>
              <a:rPr lang="zh-CN" altLang="zh-CN" dirty="0"/>
              <a:t>月</a:t>
            </a:r>
            <a:r>
              <a:rPr lang="en-US" altLang="zh-CN" dirty="0"/>
              <a:t>3</a:t>
            </a:r>
            <a:r>
              <a:rPr lang="zh-CN" altLang="zh-CN" dirty="0"/>
              <a:t>日</a:t>
            </a:r>
            <a:r>
              <a:rPr lang="zh-CN" altLang="zh-CN" dirty="0" smtClean="0"/>
              <a:t>，中国科学院上海</a:t>
            </a:r>
            <a:r>
              <a:rPr lang="zh-CN" altLang="zh-CN" dirty="0"/>
              <a:t>举行新闻发布会</a:t>
            </a:r>
            <a:r>
              <a:rPr lang="zh-CN" altLang="zh-CN" dirty="0" smtClean="0"/>
              <a:t>，</a:t>
            </a:r>
            <a:r>
              <a:rPr lang="zh-CN" altLang="en-US" dirty="0" smtClean="0"/>
              <a:t>宣布</a:t>
            </a:r>
            <a:r>
              <a:rPr lang="zh-CN" altLang="zh-CN" dirty="0" smtClean="0"/>
              <a:t>世界</a:t>
            </a:r>
            <a:r>
              <a:rPr lang="zh-CN" altLang="zh-CN" dirty="0"/>
              <a:t>上第一台超越早期经典计算机的光量子计算机诞生</a:t>
            </a:r>
            <a:r>
              <a:rPr lang="zh-CN" altLang="zh-CN" dirty="0" smtClean="0"/>
              <a:t>。这个</a:t>
            </a:r>
            <a:r>
              <a:rPr lang="zh-CN" altLang="zh-CN" dirty="0"/>
              <a:t>“世界首台”是货真价实的“中国造”</a:t>
            </a:r>
            <a:r>
              <a:rPr lang="zh-CN" altLang="zh-CN" dirty="0" smtClean="0"/>
              <a:t>。</a:t>
            </a:r>
            <a:endParaRPr lang="en-US" altLang="zh-CN" dirty="0" smtClean="0"/>
          </a:p>
          <a:p>
            <a:pPr lvl="1">
              <a:lnSpc>
                <a:spcPct val="150000"/>
              </a:lnSpc>
              <a:buFont typeface="Wingdings" panose="05000000000000000000" pitchFamily="2" charset="2"/>
              <a:buChar char="l"/>
            </a:pPr>
            <a:r>
              <a:rPr lang="zh-CN" altLang="en-US" dirty="0"/>
              <a:t>官方公布的实验测试声称，该原型机的取样速度比国际同行快至少</a:t>
            </a:r>
            <a:r>
              <a:rPr lang="en-US" altLang="zh-CN" dirty="0"/>
              <a:t>24000</a:t>
            </a:r>
            <a:r>
              <a:rPr lang="zh-CN" altLang="en-US" dirty="0"/>
              <a:t>倍，同时，通过和经典算法比较，也比人类历史上第一台电子管计算机</a:t>
            </a:r>
            <a:r>
              <a:rPr lang="en-US" altLang="zh-CN" dirty="0"/>
              <a:t>(ENIAC)</a:t>
            </a:r>
            <a:r>
              <a:rPr lang="zh-CN" altLang="en-US" dirty="0"/>
              <a:t>和第一台晶体管计算机</a:t>
            </a:r>
            <a:r>
              <a:rPr lang="en-US" altLang="zh-CN" dirty="0"/>
              <a:t>(TRADIC)</a:t>
            </a:r>
            <a:r>
              <a:rPr lang="zh-CN" altLang="en-US" dirty="0"/>
              <a:t>运行速度快</a:t>
            </a:r>
            <a:r>
              <a:rPr lang="en-US" altLang="zh-CN" dirty="0"/>
              <a:t>10-100</a:t>
            </a:r>
            <a:r>
              <a:rPr lang="zh-CN" altLang="en-US" dirty="0"/>
              <a:t>倍</a:t>
            </a:r>
            <a:r>
              <a:rPr lang="zh-CN" altLang="en-US" dirty="0" smtClean="0"/>
              <a:t>。</a:t>
            </a:r>
            <a:endParaRPr lang="zh-CN" altLang="zh-CN" dirty="0"/>
          </a:p>
        </p:txBody>
      </p:sp>
      <p:sp>
        <p:nvSpPr>
          <p:cNvPr id="3" name="标题 2"/>
          <p:cNvSpPr>
            <a:spLocks noGrp="1"/>
          </p:cNvSpPr>
          <p:nvPr>
            <p:ph type="title"/>
          </p:nvPr>
        </p:nvSpPr>
        <p:spPr/>
        <p:txBody>
          <a:bodyPr/>
          <a:lstStyle/>
          <a:p>
            <a:r>
              <a:rPr lang="zh-CN" altLang="zh-CN" dirty="0"/>
              <a:t>我国</a:t>
            </a:r>
            <a:r>
              <a:rPr lang="zh-CN" altLang="en-US" dirty="0"/>
              <a:t>领先世界的计算机</a:t>
            </a:r>
            <a:r>
              <a:rPr lang="zh-CN" altLang="zh-CN" dirty="0"/>
              <a:t>技术 </a:t>
            </a:r>
            <a:r>
              <a:rPr lang="zh-CN" altLang="en-US" dirty="0" smtClean="0"/>
              <a:t>（续）</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8</a:t>
            </a:fld>
            <a:endParaRPr lang="zh-CN" altLang="en-US"/>
          </a:p>
        </p:txBody>
      </p:sp>
    </p:spTree>
    <p:extLst>
      <p:ext uri="{BB962C8B-B14F-4D97-AF65-F5344CB8AC3E}">
        <p14:creationId xmlns:p14="http://schemas.microsoft.com/office/powerpoint/2010/main" val="80290441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lstStyle/>
          <a:p>
            <a:r>
              <a:rPr lang="zh-CN" altLang="zh-CN" dirty="0"/>
              <a:t>我国</a:t>
            </a:r>
            <a:r>
              <a:rPr lang="zh-CN" altLang="en-US" dirty="0"/>
              <a:t>领先世界的计算机</a:t>
            </a:r>
            <a:r>
              <a:rPr lang="zh-CN" altLang="zh-CN" dirty="0"/>
              <a:t>技术 </a:t>
            </a:r>
            <a:r>
              <a:rPr lang="zh-CN" altLang="en-US" dirty="0" smtClean="0"/>
              <a:t>（续）</a:t>
            </a:r>
            <a:endParaRPr lang="zh-CN" altLang="en-US" dirty="0"/>
          </a:p>
        </p:txBody>
      </p:sp>
      <p:sp>
        <p:nvSpPr>
          <p:cNvPr id="5" name="文本框 2">
            <a:extLst>
              <a:ext uri="{FF2B5EF4-FFF2-40B4-BE49-F238E27FC236}">
                <a16:creationId xmlns="" xmlns:a16="http://schemas.microsoft.com/office/drawing/2014/main" id="{FAE5608D-4704-4581-881B-D80482CF90E5}"/>
              </a:ext>
            </a:extLst>
          </p:cNvPr>
          <p:cNvSpPr txBox="1"/>
          <p:nvPr/>
        </p:nvSpPr>
        <p:spPr>
          <a:xfrm>
            <a:off x="179512" y="2924944"/>
            <a:ext cx="8712968" cy="3837915"/>
          </a:xfrm>
          <a:prstGeom prst="rect">
            <a:avLst/>
          </a:prstGeom>
          <a:noFill/>
        </p:spPr>
        <p:txBody>
          <a:bodyPr wrap="square" lIns="0" tIns="0" rIns="0" bIns="0" rtlCol="0">
            <a:noAutofit/>
          </a:bodyPr>
          <a:lstStyle/>
          <a:p>
            <a:pPr marL="342900" indent="-342900">
              <a:spcBef>
                <a:spcPts val="1200"/>
              </a:spcBef>
              <a:spcAft>
                <a:spcPts val="1200"/>
              </a:spcAft>
              <a:buFont typeface="Wingdings" panose="05000000000000000000" pitchFamily="2" charset="2"/>
              <a:buChar char="Ø"/>
            </a:pPr>
            <a:endParaRPr lang="en-US" altLang="zh-CN" sz="2400" dirty="0" smtClean="0"/>
          </a:p>
          <a:p>
            <a:pPr indent="-274320">
              <a:spcBef>
                <a:spcPct val="20000"/>
              </a:spcBef>
              <a:spcAft>
                <a:spcPts val="1200"/>
              </a:spcAft>
              <a:buClr>
                <a:schemeClr val="accent1"/>
              </a:buClr>
              <a:buSzPct val="100000"/>
              <a:buFont typeface="Wingdings" panose="05000000000000000000" pitchFamily="2" charset="2"/>
            </a:pPr>
            <a:r>
              <a:rPr lang="zh-CN" altLang="en-US" sz="2400" b="1" dirty="0">
                <a:solidFill>
                  <a:schemeClr val="tx2"/>
                </a:solidFill>
              </a:rPr>
              <a:t>属于我们的网络标准：</a:t>
            </a:r>
            <a:endParaRPr lang="en-US" altLang="zh-CN" sz="2400" b="1" dirty="0">
              <a:solidFill>
                <a:schemeClr val="tx2"/>
              </a:solidFill>
            </a:endParaRPr>
          </a:p>
          <a:p>
            <a:pPr marL="342900" indent="-274320">
              <a:spcBef>
                <a:spcPct val="20000"/>
              </a:spcBef>
              <a:spcAft>
                <a:spcPts val="1200"/>
              </a:spcAft>
              <a:buClr>
                <a:schemeClr val="accent1"/>
              </a:buClr>
              <a:buSzPct val="100000"/>
              <a:buFont typeface="Wingdings" panose="05000000000000000000" pitchFamily="2" charset="2"/>
              <a:buChar char="Ø"/>
            </a:pPr>
            <a:r>
              <a:rPr lang="en-US" altLang="zh-CN" sz="2400" dirty="0">
                <a:solidFill>
                  <a:schemeClr val="tx2"/>
                </a:solidFill>
              </a:rPr>
              <a:t>3G:</a:t>
            </a:r>
            <a:r>
              <a:rPr lang="zh-CN" altLang="en-US" sz="2400" dirty="0">
                <a:solidFill>
                  <a:schemeClr val="tx2"/>
                </a:solidFill>
              </a:rPr>
              <a:t> </a:t>
            </a:r>
            <a:r>
              <a:rPr lang="en-US" altLang="zh-CN" sz="2400" dirty="0">
                <a:solidFill>
                  <a:schemeClr val="tx2"/>
                </a:solidFill>
              </a:rPr>
              <a:t>TD-SCDMA</a:t>
            </a:r>
            <a:r>
              <a:rPr lang="zh-CN" altLang="en-US" sz="2400" dirty="0">
                <a:solidFill>
                  <a:schemeClr val="tx2"/>
                </a:solidFill>
              </a:rPr>
              <a:t>，邮电部电信科学技术研究院率先提出，中国移动采用</a:t>
            </a:r>
            <a:endParaRPr lang="en-US" altLang="zh-CN" sz="2400" dirty="0">
              <a:solidFill>
                <a:schemeClr val="tx2"/>
              </a:solidFill>
            </a:endParaRPr>
          </a:p>
          <a:p>
            <a:pPr marL="342900" indent="-274320">
              <a:spcBef>
                <a:spcPct val="20000"/>
              </a:spcBef>
              <a:spcAft>
                <a:spcPts val="1200"/>
              </a:spcAft>
              <a:buClr>
                <a:schemeClr val="accent1"/>
              </a:buClr>
              <a:buSzPct val="100000"/>
              <a:buFont typeface="Wingdings" panose="05000000000000000000" pitchFamily="2" charset="2"/>
              <a:buChar char="Ø"/>
            </a:pPr>
            <a:r>
              <a:rPr lang="en-US" altLang="zh-CN" sz="2400" dirty="0">
                <a:solidFill>
                  <a:schemeClr val="tx2"/>
                </a:solidFill>
              </a:rPr>
              <a:t>4G:</a:t>
            </a:r>
            <a:r>
              <a:rPr lang="zh-CN" altLang="en-US" sz="2400" dirty="0">
                <a:solidFill>
                  <a:schemeClr val="tx2"/>
                </a:solidFill>
              </a:rPr>
              <a:t> </a:t>
            </a:r>
            <a:r>
              <a:rPr lang="en-US" altLang="zh-CN" sz="2400" dirty="0">
                <a:solidFill>
                  <a:schemeClr val="tx2"/>
                </a:solidFill>
              </a:rPr>
              <a:t>TD-LTE</a:t>
            </a:r>
            <a:r>
              <a:rPr lang="zh-CN" altLang="en-US" sz="2400" dirty="0">
                <a:solidFill>
                  <a:schemeClr val="tx2"/>
                </a:solidFill>
              </a:rPr>
              <a:t>，中国移动采用</a:t>
            </a:r>
            <a:endParaRPr lang="en-US" altLang="zh-CN" sz="2400" dirty="0">
              <a:solidFill>
                <a:schemeClr val="tx2"/>
              </a:solidFill>
            </a:endParaRPr>
          </a:p>
          <a:p>
            <a:pPr marL="342900" indent="-274320">
              <a:spcBef>
                <a:spcPct val="20000"/>
              </a:spcBef>
              <a:spcAft>
                <a:spcPts val="1200"/>
              </a:spcAft>
              <a:buClr>
                <a:schemeClr val="accent1"/>
              </a:buClr>
              <a:buSzPct val="100000"/>
              <a:buFont typeface="Wingdings" panose="05000000000000000000" pitchFamily="2" charset="2"/>
              <a:buChar char="Ø"/>
            </a:pPr>
            <a:r>
              <a:rPr lang="en-US" altLang="zh-CN" sz="2400" dirty="0">
                <a:solidFill>
                  <a:schemeClr val="tx2"/>
                </a:solidFill>
              </a:rPr>
              <a:t>NB-</a:t>
            </a:r>
            <a:r>
              <a:rPr lang="en-US" altLang="zh-CN" sz="2400" dirty="0" err="1">
                <a:solidFill>
                  <a:schemeClr val="tx2"/>
                </a:solidFill>
              </a:rPr>
              <a:t>IoT</a:t>
            </a:r>
            <a:r>
              <a:rPr lang="en-US" altLang="zh-CN" sz="2400" dirty="0">
                <a:solidFill>
                  <a:schemeClr val="tx2"/>
                </a:solidFill>
              </a:rPr>
              <a:t>:</a:t>
            </a:r>
            <a:r>
              <a:rPr lang="zh-CN" altLang="en-US" sz="2400" dirty="0">
                <a:solidFill>
                  <a:schemeClr val="tx2"/>
                </a:solidFill>
              </a:rPr>
              <a:t> 华为贡献了最多的标准提案，位居全球第一；该标准上华为、中兴拥有相当比例的专利</a:t>
            </a:r>
          </a:p>
        </p:txBody>
      </p:sp>
      <p:pic>
        <p:nvPicPr>
          <p:cNvPr id="6" name="Picture 6">
            <a:extLst>
              <a:ext uri="{FF2B5EF4-FFF2-40B4-BE49-F238E27FC236}">
                <a16:creationId xmlns="" xmlns:a16="http://schemas.microsoft.com/office/drawing/2014/main" id="{993DE5C1-66C6-4B97-90D4-5DD5820665F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91880" y="1382851"/>
            <a:ext cx="4833083" cy="2691763"/>
          </a:xfrm>
          <a:prstGeom prst="rect">
            <a:avLst/>
          </a:prstGeom>
        </p:spPr>
      </p:pic>
      <p:sp>
        <p:nvSpPr>
          <p:cNvPr id="2" name="灯片编号占位符 1"/>
          <p:cNvSpPr>
            <a:spLocks noGrp="1"/>
          </p:cNvSpPr>
          <p:nvPr>
            <p:ph type="sldNum" sz="quarter" idx="12"/>
          </p:nvPr>
        </p:nvSpPr>
        <p:spPr/>
        <p:txBody>
          <a:bodyPr/>
          <a:lstStyle/>
          <a:p>
            <a:fld id="{0C913308-F349-4B6D-A68A-DD1791B4A57B}" type="slidenum">
              <a:rPr lang="zh-CN" altLang="en-US" smtClean="0"/>
              <a:t>9</a:t>
            </a:fld>
            <a:endParaRPr lang="zh-CN" altLang="en-US"/>
          </a:p>
        </p:txBody>
      </p:sp>
    </p:spTree>
    <p:extLst>
      <p:ext uri="{BB962C8B-B14F-4D97-AF65-F5344CB8AC3E}">
        <p14:creationId xmlns:p14="http://schemas.microsoft.com/office/powerpoint/2010/main" val="2201530941"/>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844824"/>
            <a:ext cx="7992888" cy="4752528"/>
          </a:xfrm>
        </p:spPr>
        <p:txBody>
          <a:bodyPr>
            <a:normAutofit/>
          </a:bodyPr>
          <a:lstStyle/>
          <a:p>
            <a:pPr lvl="0">
              <a:buFont typeface="Wingdings" panose="05000000000000000000" pitchFamily="2" charset="2"/>
              <a:buChar char="Ø"/>
            </a:pPr>
            <a:r>
              <a:rPr lang="zh-CN" altLang="en-US" dirty="0" smtClean="0"/>
              <a:t>芯片</a:t>
            </a:r>
            <a:r>
              <a:rPr lang="zh-CN" altLang="en-US" dirty="0"/>
              <a:t>的</a:t>
            </a:r>
            <a:r>
              <a:rPr lang="zh-CN" altLang="en-US" dirty="0" smtClean="0"/>
              <a:t>高端集成电路设计</a:t>
            </a:r>
            <a:r>
              <a:rPr lang="zh-CN" altLang="en-US" dirty="0"/>
              <a:t>能力不强</a:t>
            </a:r>
          </a:p>
          <a:p>
            <a:pPr lvl="1">
              <a:lnSpc>
                <a:spcPct val="150000"/>
              </a:lnSpc>
              <a:buFont typeface="Wingdings" panose="05000000000000000000" pitchFamily="2" charset="2"/>
              <a:buChar char="l"/>
            </a:pPr>
            <a:r>
              <a:rPr lang="zh-CN" altLang="en-US" dirty="0" smtClean="0"/>
              <a:t>为了</a:t>
            </a:r>
            <a:r>
              <a:rPr lang="zh-CN" altLang="en-US" dirty="0"/>
              <a:t>实现最大的投入和回报比率，国内企业一般会购买国外的知识产权，以缩短产品的开发周期。但是这也造成了对国外技术的依赖。</a:t>
            </a:r>
          </a:p>
          <a:p>
            <a:pPr lvl="1">
              <a:lnSpc>
                <a:spcPct val="150000"/>
              </a:lnSpc>
              <a:buFont typeface="Wingdings" panose="05000000000000000000" pitchFamily="2" charset="2"/>
              <a:buChar char="l"/>
            </a:pPr>
            <a:r>
              <a:rPr lang="zh-CN" altLang="en-US" dirty="0" smtClean="0"/>
              <a:t>芯片</a:t>
            </a:r>
            <a:r>
              <a:rPr lang="zh-CN" altLang="en-US" dirty="0"/>
              <a:t>研发现在已经不仅仅是硬件设计，还需要软硬件同时</a:t>
            </a:r>
            <a:r>
              <a:rPr lang="zh-CN" altLang="en-US" dirty="0" smtClean="0"/>
              <a:t>设计，也就是</a:t>
            </a:r>
            <a:r>
              <a:rPr lang="zh-CN" altLang="en-US" dirty="0"/>
              <a:t>在设计电路的同时，还需要把怎么使用这个电路的软件写好。产业链的整体发展水平和垂直整合水平也是影响国内芯片产业发展的关键因素。</a:t>
            </a:r>
          </a:p>
        </p:txBody>
      </p:sp>
      <p:sp>
        <p:nvSpPr>
          <p:cNvPr id="3" name="标题 2"/>
          <p:cNvSpPr>
            <a:spLocks noGrp="1"/>
          </p:cNvSpPr>
          <p:nvPr>
            <p:ph type="title"/>
          </p:nvPr>
        </p:nvSpPr>
        <p:spPr/>
        <p:txBody>
          <a:bodyPr>
            <a:normAutofit/>
          </a:bodyPr>
          <a:lstStyle/>
          <a:p>
            <a:r>
              <a:rPr lang="zh-CN" altLang="zh-CN" dirty="0" smtClean="0"/>
              <a:t>面临</a:t>
            </a:r>
            <a:r>
              <a:rPr lang="zh-CN" altLang="zh-CN" dirty="0"/>
              <a:t>的技术</a:t>
            </a:r>
            <a:r>
              <a:rPr lang="zh-CN" altLang="en-US" dirty="0"/>
              <a:t>和安全</a:t>
            </a:r>
            <a:r>
              <a:rPr lang="zh-CN" altLang="zh-CN" dirty="0"/>
              <a:t>挑战</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10</a:t>
            </a:fld>
            <a:endParaRPr lang="zh-CN" altLang="en-US"/>
          </a:p>
        </p:txBody>
      </p:sp>
    </p:spTree>
    <p:extLst>
      <p:ext uri="{BB962C8B-B14F-4D97-AF65-F5344CB8AC3E}">
        <p14:creationId xmlns:p14="http://schemas.microsoft.com/office/powerpoint/2010/main" val="3029864993"/>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844824"/>
            <a:ext cx="7992888" cy="4752528"/>
          </a:xfrm>
        </p:spPr>
        <p:txBody>
          <a:bodyPr>
            <a:normAutofit/>
          </a:bodyPr>
          <a:lstStyle/>
          <a:p>
            <a:pPr lvl="0">
              <a:buFont typeface="Wingdings" panose="05000000000000000000" pitchFamily="2" charset="2"/>
              <a:buChar char="Ø"/>
            </a:pPr>
            <a:r>
              <a:rPr lang="zh-CN" altLang="zh-CN" dirty="0"/>
              <a:t>制造</a:t>
            </a:r>
            <a:r>
              <a:rPr lang="zh-CN" altLang="zh-CN" dirty="0" smtClean="0"/>
              <a:t>工艺</a:t>
            </a:r>
            <a:r>
              <a:rPr lang="zh-CN" altLang="en-US" dirty="0" smtClean="0"/>
              <a:t>落后</a:t>
            </a:r>
            <a:endParaRPr lang="zh-CN" altLang="zh-CN" dirty="0"/>
          </a:p>
          <a:p>
            <a:pPr lvl="1">
              <a:lnSpc>
                <a:spcPct val="130000"/>
              </a:lnSpc>
              <a:buFont typeface="Wingdings" panose="05000000000000000000" pitchFamily="2" charset="2"/>
              <a:buChar char="l"/>
            </a:pPr>
            <a:r>
              <a:rPr lang="zh-CN" altLang="zh-CN" dirty="0" smtClean="0"/>
              <a:t>全球</a:t>
            </a:r>
            <a:r>
              <a:rPr lang="zh-CN" altLang="zh-CN" dirty="0"/>
              <a:t>五大半导体设备</a:t>
            </a:r>
            <a:r>
              <a:rPr lang="zh-CN" altLang="zh-CN" dirty="0" smtClean="0"/>
              <a:t>制造商</a:t>
            </a:r>
            <a:r>
              <a:rPr lang="zh-CN" altLang="en-US" dirty="0" smtClean="0"/>
              <a:t>（</a:t>
            </a:r>
            <a:r>
              <a:rPr lang="en-US" altLang="zh-CN" dirty="0" smtClean="0"/>
              <a:t>AM</a:t>
            </a:r>
            <a:r>
              <a:rPr lang="zh-CN" altLang="en-US" dirty="0" smtClean="0"/>
              <a:t>、</a:t>
            </a:r>
            <a:r>
              <a:rPr lang="en-US" altLang="zh-CN" dirty="0" smtClean="0"/>
              <a:t>ASML</a:t>
            </a:r>
            <a:r>
              <a:rPr lang="zh-CN" altLang="en-US" dirty="0" smtClean="0"/>
              <a:t>、</a:t>
            </a:r>
            <a:r>
              <a:rPr lang="en-US" altLang="zh-CN" dirty="0" smtClean="0"/>
              <a:t>Lam Research</a:t>
            </a:r>
            <a:r>
              <a:rPr lang="zh-CN" altLang="en-US" dirty="0" smtClean="0"/>
              <a:t>、</a:t>
            </a:r>
            <a:r>
              <a:rPr lang="en-US" altLang="zh-CN" dirty="0" smtClean="0"/>
              <a:t>KLA-Tencor</a:t>
            </a:r>
            <a:r>
              <a:rPr lang="zh-CN" altLang="en-US" dirty="0" smtClean="0"/>
              <a:t>、</a:t>
            </a:r>
            <a:r>
              <a:rPr lang="en-US" altLang="zh-CN" dirty="0" smtClean="0"/>
              <a:t>Dainippon Screen</a:t>
            </a:r>
            <a:r>
              <a:rPr lang="zh-CN" altLang="en-US" dirty="0" smtClean="0"/>
              <a:t>）</a:t>
            </a:r>
            <a:r>
              <a:rPr lang="zh-CN" altLang="zh-CN" dirty="0" smtClean="0"/>
              <a:t>，</a:t>
            </a:r>
            <a:r>
              <a:rPr lang="zh-CN" altLang="zh-CN" dirty="0"/>
              <a:t>没有一家是台湾或者大陆的</a:t>
            </a:r>
            <a:r>
              <a:rPr lang="zh-CN" altLang="zh-CN" dirty="0" smtClean="0"/>
              <a:t>。世界</a:t>
            </a:r>
            <a:r>
              <a:rPr lang="zh-CN" altLang="zh-CN" dirty="0"/>
              <a:t>上任何一个的半导体制造公司包括</a:t>
            </a:r>
            <a:r>
              <a:rPr lang="en-US" altLang="zh-CN" dirty="0"/>
              <a:t>INTEL</a:t>
            </a:r>
            <a:r>
              <a:rPr lang="zh-CN" altLang="zh-CN" dirty="0"/>
              <a:t>，都受制于这五大设备商提供的设备和</a:t>
            </a:r>
            <a:r>
              <a:rPr lang="zh-CN" altLang="zh-CN" dirty="0" smtClean="0"/>
              <a:t>技术</a:t>
            </a:r>
            <a:r>
              <a:rPr lang="zh-CN" altLang="en-US" dirty="0" smtClean="0"/>
              <a:t>。</a:t>
            </a:r>
            <a:endParaRPr lang="en-US" altLang="zh-CN" dirty="0" smtClean="0"/>
          </a:p>
          <a:p>
            <a:pPr lvl="1">
              <a:lnSpc>
                <a:spcPct val="130000"/>
              </a:lnSpc>
              <a:buFont typeface="Wingdings" panose="05000000000000000000" pitchFamily="2" charset="2"/>
              <a:buChar char="l"/>
            </a:pPr>
            <a:r>
              <a:rPr lang="en-US" altLang="zh-CN" dirty="0"/>
              <a:t> </a:t>
            </a:r>
            <a:r>
              <a:rPr lang="zh-CN" altLang="zh-CN" dirty="0" smtClean="0"/>
              <a:t>很不幸</a:t>
            </a:r>
            <a:r>
              <a:rPr lang="zh-CN" altLang="zh-CN" dirty="0"/>
              <a:t>，冷战后瓦森纳协定对中国的技术和装备禁运限制，中国能拿到的半导体生产技术设备，往往是</a:t>
            </a:r>
            <a:r>
              <a:rPr lang="en-US" altLang="zh-CN" dirty="0"/>
              <a:t>5</a:t>
            </a:r>
            <a:r>
              <a:rPr lang="zh-CN" altLang="zh-CN" dirty="0"/>
              <a:t>年以前</a:t>
            </a:r>
            <a:r>
              <a:rPr lang="zh-CN" altLang="zh-CN" dirty="0" smtClean="0"/>
              <a:t>的</a:t>
            </a:r>
            <a:r>
              <a:rPr lang="zh-CN" altLang="en-US" dirty="0" smtClean="0"/>
              <a:t>。例如：</a:t>
            </a:r>
            <a:r>
              <a:rPr lang="en-US" altLang="zh-CN" dirty="0" smtClean="0"/>
              <a:t>intel</a:t>
            </a:r>
            <a:r>
              <a:rPr lang="zh-CN" altLang="zh-CN" dirty="0"/>
              <a:t>、三星、台积电</a:t>
            </a:r>
            <a:r>
              <a:rPr lang="en-US" altLang="zh-CN" dirty="0"/>
              <a:t>2015</a:t>
            </a:r>
            <a:r>
              <a:rPr lang="zh-CN" altLang="zh-CN" dirty="0"/>
              <a:t>年能买到</a:t>
            </a:r>
            <a:r>
              <a:rPr lang="en-US" altLang="zh-CN" dirty="0" smtClean="0"/>
              <a:t>ASML 10NM</a:t>
            </a:r>
            <a:r>
              <a:rPr lang="zh-CN" altLang="zh-CN" dirty="0"/>
              <a:t>的</a:t>
            </a:r>
            <a:r>
              <a:rPr lang="zh-CN" altLang="zh-CN" dirty="0" smtClean="0"/>
              <a:t>光刻机</a:t>
            </a:r>
            <a:r>
              <a:rPr lang="zh-CN" altLang="en-US" dirty="0"/>
              <a:t>，</a:t>
            </a:r>
            <a:r>
              <a:rPr lang="zh-CN" altLang="zh-CN" dirty="0" smtClean="0"/>
              <a:t>而</a:t>
            </a:r>
            <a:r>
              <a:rPr lang="zh-CN" altLang="zh-CN" dirty="0"/>
              <a:t>大陆的中芯国际，</a:t>
            </a:r>
            <a:r>
              <a:rPr lang="en-US" altLang="zh-CN" dirty="0"/>
              <a:t>2015</a:t>
            </a:r>
            <a:r>
              <a:rPr lang="zh-CN" altLang="zh-CN" dirty="0"/>
              <a:t>年只能买到</a:t>
            </a:r>
            <a:r>
              <a:rPr lang="en-US" altLang="zh-CN" dirty="0" smtClean="0"/>
              <a:t>ASML 2010</a:t>
            </a:r>
            <a:r>
              <a:rPr lang="zh-CN" altLang="zh-CN" dirty="0"/>
              <a:t>年生产的</a:t>
            </a:r>
            <a:r>
              <a:rPr lang="en-US" altLang="zh-CN" dirty="0"/>
              <a:t>32NM</a:t>
            </a:r>
            <a:r>
              <a:rPr lang="zh-CN" altLang="zh-CN" dirty="0"/>
              <a:t>的</a:t>
            </a:r>
            <a:r>
              <a:rPr lang="zh-CN" altLang="zh-CN" dirty="0" smtClean="0"/>
              <a:t>光刻机</a:t>
            </a:r>
            <a:r>
              <a:rPr lang="zh-CN" altLang="en-US" dirty="0" smtClean="0"/>
              <a:t>。</a:t>
            </a:r>
            <a:endParaRPr lang="en-US" altLang="zh-CN" dirty="0" smtClean="0"/>
          </a:p>
        </p:txBody>
      </p:sp>
      <p:sp>
        <p:nvSpPr>
          <p:cNvPr id="3" name="标题 2"/>
          <p:cNvSpPr>
            <a:spLocks noGrp="1"/>
          </p:cNvSpPr>
          <p:nvPr>
            <p:ph type="title"/>
          </p:nvPr>
        </p:nvSpPr>
        <p:spPr/>
        <p:txBody>
          <a:bodyPr>
            <a:normAutofit/>
          </a:bodyPr>
          <a:lstStyle/>
          <a:p>
            <a:r>
              <a:rPr lang="zh-CN" altLang="zh-CN" dirty="0" smtClean="0"/>
              <a:t>面临</a:t>
            </a:r>
            <a:r>
              <a:rPr lang="zh-CN" altLang="zh-CN" dirty="0"/>
              <a:t>的技术</a:t>
            </a:r>
            <a:r>
              <a:rPr lang="zh-CN" altLang="en-US" dirty="0"/>
              <a:t>和安全</a:t>
            </a:r>
            <a:r>
              <a:rPr lang="zh-CN" altLang="zh-CN" dirty="0" smtClean="0"/>
              <a:t>挑战</a:t>
            </a:r>
            <a:r>
              <a:rPr lang="zh-CN" altLang="en-US" dirty="0" smtClean="0"/>
              <a:t>（续）</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11</a:t>
            </a:fld>
            <a:endParaRPr lang="zh-CN" altLang="en-US" dirty="0"/>
          </a:p>
        </p:txBody>
      </p:sp>
    </p:spTree>
    <p:extLst>
      <p:ext uri="{BB962C8B-B14F-4D97-AF65-F5344CB8AC3E}">
        <p14:creationId xmlns:p14="http://schemas.microsoft.com/office/powerpoint/2010/main" val="427937052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844824"/>
            <a:ext cx="8208912" cy="4752528"/>
          </a:xfrm>
        </p:spPr>
        <p:txBody>
          <a:bodyPr>
            <a:normAutofit/>
          </a:bodyPr>
          <a:lstStyle/>
          <a:p>
            <a:pPr lvl="0">
              <a:buFont typeface="Wingdings" panose="05000000000000000000" pitchFamily="2" charset="2"/>
              <a:buChar char="Ø"/>
            </a:pPr>
            <a:r>
              <a:rPr lang="zh-CN" altLang="zh-CN" dirty="0"/>
              <a:t>操作系统差距巨大</a:t>
            </a:r>
          </a:p>
          <a:p>
            <a:pPr lvl="1">
              <a:lnSpc>
                <a:spcPct val="150000"/>
              </a:lnSpc>
              <a:buFont typeface="Wingdings" panose="05000000000000000000" pitchFamily="2" charset="2"/>
              <a:buChar char="l"/>
            </a:pPr>
            <a:r>
              <a:rPr lang="en-US" altLang="zh-CN" dirty="0" smtClean="0"/>
              <a:t> </a:t>
            </a:r>
            <a:r>
              <a:rPr lang="zh-CN" altLang="zh-CN" dirty="0" smtClean="0"/>
              <a:t>在</a:t>
            </a:r>
            <a:r>
              <a:rPr lang="zh-CN" altLang="zh-CN" dirty="0"/>
              <a:t>中国市场，微软操作系统的市场份额超过了</a:t>
            </a:r>
            <a:r>
              <a:rPr lang="en-US" altLang="zh-CN" dirty="0"/>
              <a:t>90%</a:t>
            </a:r>
            <a:r>
              <a:rPr lang="zh-CN" altLang="zh-CN" dirty="0"/>
              <a:t>，而国产操作系统的份额只有</a:t>
            </a:r>
            <a:r>
              <a:rPr lang="en-US" altLang="zh-CN" dirty="0"/>
              <a:t>3%</a:t>
            </a:r>
            <a:r>
              <a:rPr lang="zh-CN" altLang="zh-CN" dirty="0"/>
              <a:t>左右。实际上，国产桌面操作系统在技术和体验方面，已经与国外产品水平相当，目前与国外的差距主要体现在生态系统方面。</a:t>
            </a:r>
          </a:p>
          <a:p>
            <a:pPr lvl="1">
              <a:lnSpc>
                <a:spcPct val="150000"/>
              </a:lnSpc>
              <a:buFont typeface="Wingdings" panose="05000000000000000000" pitchFamily="2" charset="2"/>
              <a:buChar char="l"/>
            </a:pPr>
            <a:r>
              <a:rPr lang="en-US" altLang="zh-CN" dirty="0" smtClean="0"/>
              <a:t> </a:t>
            </a:r>
            <a:r>
              <a:rPr lang="zh-CN" altLang="zh-CN" dirty="0" smtClean="0"/>
              <a:t>在</a:t>
            </a:r>
            <a:r>
              <a:rPr lang="zh-CN" altLang="zh-CN" dirty="0"/>
              <a:t>软件生态系统上的差距几乎无法弥补</a:t>
            </a:r>
            <a:r>
              <a:rPr lang="zh-CN" altLang="zh-CN" dirty="0" smtClean="0"/>
              <a:t>。</a:t>
            </a:r>
            <a:endParaRPr lang="en-US" altLang="zh-CN" dirty="0" smtClean="0"/>
          </a:p>
          <a:p>
            <a:pPr lvl="2">
              <a:lnSpc>
                <a:spcPct val="150000"/>
              </a:lnSpc>
              <a:buFont typeface="Wingdings" pitchFamily="2" charset="2"/>
              <a:buChar char="Ø"/>
            </a:pPr>
            <a:r>
              <a:rPr lang="zh-CN" altLang="en-US" dirty="0"/>
              <a:t>如果简单复制一个已有的成熟操作系统，那么用户为何不用已有的系统？如果另起炉灶开发一个全新的操作系统，那么开发者为何要选择你</a:t>
            </a:r>
            <a:r>
              <a:rPr lang="zh-CN" altLang="en-US" dirty="0" smtClean="0"/>
              <a:t>？用户</a:t>
            </a:r>
            <a:r>
              <a:rPr lang="zh-CN" altLang="en-US" dirty="0"/>
              <a:t>能有多大耐心来学习一套全新的操作逻辑？</a:t>
            </a:r>
            <a:endParaRPr lang="zh-CN" altLang="zh-CN" dirty="0"/>
          </a:p>
        </p:txBody>
      </p:sp>
      <p:sp>
        <p:nvSpPr>
          <p:cNvPr id="3" name="标题 2"/>
          <p:cNvSpPr>
            <a:spLocks noGrp="1"/>
          </p:cNvSpPr>
          <p:nvPr>
            <p:ph type="title"/>
          </p:nvPr>
        </p:nvSpPr>
        <p:spPr/>
        <p:txBody>
          <a:bodyPr>
            <a:normAutofit/>
          </a:bodyPr>
          <a:lstStyle/>
          <a:p>
            <a:r>
              <a:rPr lang="zh-CN" altLang="zh-CN" dirty="0" smtClean="0"/>
              <a:t>面临</a:t>
            </a:r>
            <a:r>
              <a:rPr lang="zh-CN" altLang="zh-CN" dirty="0"/>
              <a:t>的技术</a:t>
            </a:r>
            <a:r>
              <a:rPr lang="zh-CN" altLang="en-US" dirty="0"/>
              <a:t>和安全</a:t>
            </a:r>
            <a:r>
              <a:rPr lang="zh-CN" altLang="zh-CN" dirty="0" smtClean="0"/>
              <a:t>挑战</a:t>
            </a:r>
            <a:r>
              <a:rPr lang="zh-CN" altLang="en-US" dirty="0" smtClean="0"/>
              <a:t>（续）</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12</a:t>
            </a:fld>
            <a:endParaRPr lang="zh-CN" altLang="en-US"/>
          </a:p>
        </p:txBody>
      </p:sp>
    </p:spTree>
    <p:extLst>
      <p:ext uri="{BB962C8B-B14F-4D97-AF65-F5344CB8AC3E}">
        <p14:creationId xmlns:p14="http://schemas.microsoft.com/office/powerpoint/2010/main" val="54770061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83568" y="1844824"/>
            <a:ext cx="4608512" cy="936104"/>
          </a:xfrm>
        </p:spPr>
        <p:txBody>
          <a:bodyPr>
            <a:normAutofit/>
          </a:bodyPr>
          <a:lstStyle/>
          <a:p>
            <a:pPr lvl="0">
              <a:buFont typeface="Wingdings" panose="05000000000000000000" pitchFamily="2" charset="2"/>
              <a:buChar char="Ø"/>
            </a:pPr>
            <a:r>
              <a:rPr lang="zh-CN" altLang="en-US" dirty="0"/>
              <a:t> </a:t>
            </a:r>
            <a:r>
              <a:rPr lang="zh-CN" altLang="en-US" dirty="0" smtClean="0"/>
              <a:t>网络</a:t>
            </a:r>
            <a:r>
              <a:rPr lang="zh-CN" altLang="en-US" dirty="0"/>
              <a:t>安全面临严峻</a:t>
            </a:r>
            <a:r>
              <a:rPr lang="zh-CN" altLang="en-US" dirty="0" smtClean="0"/>
              <a:t>挑战</a:t>
            </a:r>
            <a:endParaRPr lang="zh-CN" altLang="en-US" dirty="0"/>
          </a:p>
        </p:txBody>
      </p:sp>
      <p:sp>
        <p:nvSpPr>
          <p:cNvPr id="3" name="标题 2"/>
          <p:cNvSpPr>
            <a:spLocks noGrp="1"/>
          </p:cNvSpPr>
          <p:nvPr>
            <p:ph type="title"/>
          </p:nvPr>
        </p:nvSpPr>
        <p:spPr/>
        <p:txBody>
          <a:bodyPr>
            <a:normAutofit/>
          </a:bodyPr>
          <a:lstStyle/>
          <a:p>
            <a:r>
              <a:rPr lang="zh-CN" altLang="zh-CN" dirty="0" smtClean="0"/>
              <a:t>面临</a:t>
            </a:r>
            <a:r>
              <a:rPr lang="zh-CN" altLang="zh-CN" dirty="0"/>
              <a:t>的技术</a:t>
            </a:r>
            <a:r>
              <a:rPr lang="zh-CN" altLang="en-US" dirty="0"/>
              <a:t>和安全</a:t>
            </a:r>
            <a:r>
              <a:rPr lang="zh-CN" altLang="zh-CN" dirty="0" smtClean="0"/>
              <a:t>挑战</a:t>
            </a:r>
            <a:r>
              <a:rPr lang="zh-CN" altLang="en-US" dirty="0" smtClean="0"/>
              <a:t>（续）</a:t>
            </a:r>
            <a:endParaRPr lang="zh-CN" altLang="en-US" dirty="0"/>
          </a:p>
        </p:txBody>
      </p:sp>
      <p:pic>
        <p:nvPicPr>
          <p:cNvPr id="4" name="图片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572000" y="2708920"/>
            <a:ext cx="4316769" cy="3329682"/>
          </a:xfrm>
          <a:prstGeom prst="rect">
            <a:avLst/>
          </a:prstGeom>
        </p:spPr>
      </p:pic>
      <p:pic>
        <p:nvPicPr>
          <p:cNvPr id="5" name="图片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512" y="2763684"/>
            <a:ext cx="4104456" cy="3368830"/>
          </a:xfrm>
          <a:prstGeom prst="rect">
            <a:avLst/>
          </a:prstGeom>
        </p:spPr>
      </p:pic>
      <p:sp>
        <p:nvSpPr>
          <p:cNvPr id="7" name="灯片编号占位符 6"/>
          <p:cNvSpPr>
            <a:spLocks noGrp="1"/>
          </p:cNvSpPr>
          <p:nvPr>
            <p:ph type="sldNum" sz="quarter" idx="12"/>
          </p:nvPr>
        </p:nvSpPr>
        <p:spPr/>
        <p:txBody>
          <a:bodyPr/>
          <a:lstStyle/>
          <a:p>
            <a:fld id="{0C913308-F349-4B6D-A68A-DD1791B4A57B}" type="slidenum">
              <a:rPr lang="zh-CN" altLang="en-US" smtClean="0"/>
              <a:t>13</a:t>
            </a:fld>
            <a:endParaRPr lang="zh-CN" altLang="en-US"/>
          </a:p>
        </p:txBody>
      </p:sp>
    </p:spTree>
    <p:extLst>
      <p:ext uri="{BB962C8B-B14F-4D97-AF65-F5344CB8AC3E}">
        <p14:creationId xmlns:p14="http://schemas.microsoft.com/office/powerpoint/2010/main" val="99758432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700808"/>
            <a:ext cx="8507288" cy="5040560"/>
          </a:xfrm>
        </p:spPr>
        <p:txBody>
          <a:bodyPr>
            <a:normAutofit/>
          </a:bodyPr>
          <a:lstStyle/>
          <a:p>
            <a:r>
              <a:rPr lang="zh-CN" altLang="en-US" sz="2600" dirty="0">
                <a:solidFill>
                  <a:srgbClr val="FF0000"/>
                </a:solidFill>
              </a:rPr>
              <a:t>战略产业</a:t>
            </a:r>
            <a:r>
              <a:rPr lang="zh-CN" altLang="en-US" sz="2600" dirty="0"/>
              <a:t>是指关系国家安全，支撑国民经济，</a:t>
            </a:r>
            <a:r>
              <a:rPr lang="zh-CN" altLang="en-US" sz="2600" dirty="0" smtClean="0"/>
              <a:t>能够影响</a:t>
            </a:r>
            <a:r>
              <a:rPr lang="zh-CN" altLang="en-US" sz="2600" dirty="0"/>
              <a:t>国计民生的一组产业群</a:t>
            </a:r>
            <a:r>
              <a:rPr lang="zh-CN" altLang="en-US" sz="2600" dirty="0" smtClean="0"/>
              <a:t>。战略产业具有鲜明的政治需求，应担当保障国家安全的责任，具有战略全局性意义。同时，战略</a:t>
            </a:r>
            <a:r>
              <a:rPr lang="zh-CN" altLang="en-US" sz="2600" dirty="0"/>
              <a:t>产业又应具有支撑与带动</a:t>
            </a:r>
            <a:r>
              <a:rPr lang="zh-CN" altLang="en-US" sz="2600" dirty="0" smtClean="0"/>
              <a:t>国民经济的</a:t>
            </a:r>
            <a:r>
              <a:rPr lang="zh-CN" altLang="en-US" sz="2600" dirty="0"/>
              <a:t>作用，对于国家的经济增长起到支撑作用，通过对</a:t>
            </a:r>
            <a:r>
              <a:rPr lang="zh-CN" altLang="en-US" sz="2600" dirty="0" smtClean="0"/>
              <a:t>战略</a:t>
            </a:r>
            <a:r>
              <a:rPr lang="zh-CN" altLang="en-US" sz="2600" dirty="0"/>
              <a:t>产业有直接供需关系的产业发挥引导、带头作用</a:t>
            </a:r>
            <a:r>
              <a:rPr lang="zh-CN" altLang="en-US" sz="2600" dirty="0" smtClean="0"/>
              <a:t>。</a:t>
            </a:r>
            <a:endParaRPr lang="en-US" altLang="zh-CN" sz="2600" dirty="0"/>
          </a:p>
          <a:p>
            <a:r>
              <a:rPr lang="zh-CN" altLang="en-US" sz="2600" dirty="0">
                <a:solidFill>
                  <a:srgbClr val="FF0000"/>
                </a:solidFill>
              </a:rPr>
              <a:t>战略产业</a:t>
            </a:r>
            <a:r>
              <a:rPr lang="zh-CN" altLang="en-US" sz="2600" dirty="0" smtClean="0">
                <a:solidFill>
                  <a:srgbClr val="FF0000"/>
                </a:solidFill>
              </a:rPr>
              <a:t>安全</a:t>
            </a:r>
            <a:r>
              <a:rPr lang="zh-CN" altLang="en-US" sz="2600" dirty="0" smtClean="0"/>
              <a:t>是</a:t>
            </a:r>
            <a:r>
              <a:rPr lang="zh-CN" altLang="en-US" sz="2600" dirty="0"/>
              <a:t>指战略产业能够</a:t>
            </a:r>
            <a:r>
              <a:rPr lang="zh-CN" altLang="en-US" sz="2600" dirty="0" smtClean="0"/>
              <a:t>保持持续</a:t>
            </a:r>
            <a:r>
              <a:rPr lang="zh-CN" altLang="en-US" sz="2600" dirty="0"/>
              <a:t>生存与发展，始终保持本国资本对于战略产业</a:t>
            </a:r>
            <a:r>
              <a:rPr lang="zh-CN" altLang="en-US" sz="2600" dirty="0" smtClean="0"/>
              <a:t>主体</a:t>
            </a:r>
            <a:r>
              <a:rPr lang="zh-CN" altLang="en-US" sz="2600" dirty="0"/>
              <a:t>控制的状态。战略产业安全是国家安全的有效</a:t>
            </a:r>
            <a:r>
              <a:rPr lang="zh-CN" altLang="en-US" sz="2600" dirty="0" smtClean="0"/>
              <a:t>组成部分。战略</a:t>
            </a:r>
            <a:r>
              <a:rPr lang="zh-CN" altLang="en-US" sz="2600" dirty="0"/>
              <a:t>产业安全的最终目标是</a:t>
            </a:r>
            <a:r>
              <a:rPr lang="zh-CN" altLang="en-US" sz="2600" dirty="0" smtClean="0"/>
              <a:t>能够</a:t>
            </a:r>
            <a:r>
              <a:rPr lang="zh-CN" altLang="en-US" sz="2600" dirty="0"/>
              <a:t>有效保障国家的战略意图，保证国家在战争或者</a:t>
            </a:r>
            <a:r>
              <a:rPr lang="zh-CN" altLang="en-US" sz="2600" dirty="0" smtClean="0"/>
              <a:t>其他</a:t>
            </a:r>
            <a:r>
              <a:rPr lang="zh-CN" altLang="en-US" sz="2600" dirty="0"/>
              <a:t>紧急状态中战略产业能够正常运行，以及有效</a:t>
            </a:r>
            <a:r>
              <a:rPr lang="zh-CN" altLang="en-US" sz="2600" dirty="0" smtClean="0"/>
              <a:t>稳固国家</a:t>
            </a:r>
            <a:r>
              <a:rPr lang="zh-CN" altLang="en-US" sz="2600" dirty="0"/>
              <a:t>经济安全。</a:t>
            </a:r>
            <a:endParaRPr lang="zh-CN" altLang="en-US" sz="2600" dirty="0" smtClean="0"/>
          </a:p>
        </p:txBody>
      </p:sp>
      <p:sp>
        <p:nvSpPr>
          <p:cNvPr id="3" name="标题 2"/>
          <p:cNvSpPr>
            <a:spLocks noGrp="1"/>
          </p:cNvSpPr>
          <p:nvPr>
            <p:ph type="title"/>
          </p:nvPr>
        </p:nvSpPr>
        <p:spPr/>
        <p:txBody>
          <a:bodyPr/>
          <a:lstStyle/>
          <a:p>
            <a:pPr algn="l"/>
            <a:r>
              <a:rPr lang="zh-CN" altLang="en-US" dirty="0" smtClean="0"/>
              <a:t>产业安全概念（课程指标点）</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14</a:t>
            </a:fld>
            <a:endParaRPr lang="zh-CN" altLang="en-US"/>
          </a:p>
        </p:txBody>
      </p:sp>
    </p:spTree>
    <p:extLst>
      <p:ext uri="{BB962C8B-B14F-4D97-AF65-F5344CB8AC3E}">
        <p14:creationId xmlns:p14="http://schemas.microsoft.com/office/powerpoint/2010/main" val="291564769"/>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3" y="1772816"/>
            <a:ext cx="7740848" cy="4353347"/>
          </a:xfrm>
        </p:spPr>
        <p:txBody>
          <a:bodyPr>
            <a:normAutofit/>
          </a:bodyPr>
          <a:lstStyle/>
          <a:p>
            <a:pPr marL="0" indent="0">
              <a:buNone/>
            </a:pPr>
            <a:r>
              <a:rPr lang="zh-CN" altLang="en-US" sz="3200" dirty="0" smtClean="0"/>
              <a:t>产业安全现状</a:t>
            </a:r>
            <a:endParaRPr lang="en-US" altLang="zh-CN" sz="3200" dirty="0" smtClean="0"/>
          </a:p>
          <a:p>
            <a:pPr lvl="1"/>
            <a:r>
              <a:rPr lang="zh-CN" altLang="en-US" sz="2400" dirty="0" smtClean="0"/>
              <a:t>跨国公司</a:t>
            </a:r>
            <a:r>
              <a:rPr lang="zh-CN" altLang="en-US" sz="2400" dirty="0"/>
              <a:t>的</a:t>
            </a:r>
            <a:r>
              <a:rPr lang="zh-CN" altLang="en-US" sz="2400" dirty="0" smtClean="0"/>
              <a:t>威胁</a:t>
            </a:r>
            <a:endParaRPr lang="en-US" altLang="zh-CN" sz="2400" dirty="0" smtClean="0"/>
          </a:p>
          <a:p>
            <a:pPr lvl="1"/>
            <a:r>
              <a:rPr lang="zh-CN" altLang="en-US" sz="2400" dirty="0" smtClean="0"/>
              <a:t>人才的流失</a:t>
            </a:r>
            <a:endParaRPr lang="en-US" altLang="zh-CN" sz="2400" dirty="0" smtClean="0"/>
          </a:p>
          <a:p>
            <a:pPr lvl="1"/>
            <a:r>
              <a:rPr lang="zh-CN" altLang="en-US" sz="2400" dirty="0"/>
              <a:t>市场集中度的</a:t>
            </a:r>
            <a:r>
              <a:rPr lang="zh-CN" altLang="en-US" sz="2400" dirty="0" smtClean="0"/>
              <a:t>降低</a:t>
            </a:r>
            <a:endParaRPr lang="en-US" altLang="zh-CN" sz="2400" dirty="0" smtClean="0"/>
          </a:p>
          <a:p>
            <a:pPr lvl="1"/>
            <a:r>
              <a:rPr lang="zh-CN" altLang="en-US" sz="2400" dirty="0"/>
              <a:t>企业的</a:t>
            </a:r>
            <a:r>
              <a:rPr lang="zh-CN" altLang="en-US" sz="2400" dirty="0" smtClean="0"/>
              <a:t>并购</a:t>
            </a:r>
            <a:endParaRPr lang="en-US" altLang="zh-CN" sz="2400" dirty="0" smtClean="0"/>
          </a:p>
          <a:p>
            <a:pPr marL="0" lvl="1" indent="0">
              <a:buNone/>
            </a:pPr>
            <a:r>
              <a:rPr lang="zh-CN" altLang="en-US" sz="2600" dirty="0" smtClean="0"/>
              <a:t>相应措施</a:t>
            </a:r>
            <a:endParaRPr lang="en-US" altLang="zh-CN" sz="2600" dirty="0"/>
          </a:p>
          <a:p>
            <a:pPr lvl="1"/>
            <a:r>
              <a:rPr lang="zh-CN" altLang="en-US" sz="2600" dirty="0"/>
              <a:t>建立健全的法律法规</a:t>
            </a:r>
            <a:endParaRPr lang="en-US" altLang="zh-CN" sz="2600" dirty="0"/>
          </a:p>
          <a:p>
            <a:pPr lvl="1"/>
            <a:r>
              <a:rPr lang="zh-CN" altLang="en-US" sz="2600" dirty="0"/>
              <a:t>完善产业损害预警机制</a:t>
            </a:r>
            <a:endParaRPr lang="en-US" altLang="zh-CN" sz="2600" dirty="0"/>
          </a:p>
          <a:p>
            <a:pPr lvl="1"/>
            <a:r>
              <a:rPr lang="zh-CN" altLang="en-US" sz="2600" dirty="0"/>
              <a:t>制定措施减少贸易摩擦</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15</a:t>
            </a:fld>
            <a:endParaRPr lang="zh-CN" altLang="en-US"/>
          </a:p>
        </p:txBody>
      </p:sp>
      <p:sp>
        <p:nvSpPr>
          <p:cNvPr id="4" name="标题 3"/>
          <p:cNvSpPr>
            <a:spLocks noGrp="1"/>
          </p:cNvSpPr>
          <p:nvPr>
            <p:ph type="title"/>
          </p:nvPr>
        </p:nvSpPr>
        <p:spPr/>
        <p:txBody>
          <a:bodyPr/>
          <a:lstStyle/>
          <a:p>
            <a:pPr algn="l"/>
            <a:r>
              <a:rPr lang="zh-CN" altLang="en-US" dirty="0" smtClean="0"/>
              <a:t>中国产业</a:t>
            </a:r>
            <a:r>
              <a:rPr lang="zh-CN" altLang="en-US" dirty="0"/>
              <a:t>安全</a:t>
            </a:r>
            <a:r>
              <a:rPr lang="zh-CN" altLang="en-US" dirty="0" smtClean="0"/>
              <a:t>现状及相应措施</a:t>
            </a:r>
            <a:endParaRPr lang="zh-CN" altLang="en-US" dirty="0"/>
          </a:p>
        </p:txBody>
      </p:sp>
    </p:spTree>
    <p:extLst>
      <p:ext uri="{BB962C8B-B14F-4D97-AF65-F5344CB8AC3E}">
        <p14:creationId xmlns:p14="http://schemas.microsoft.com/office/powerpoint/2010/main" val="378145474"/>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8"/>
            <a:ext cx="8579296" cy="5260040"/>
          </a:xfrm>
        </p:spPr>
        <p:txBody>
          <a:bodyPr>
            <a:noAutofit/>
          </a:bodyPr>
          <a:lstStyle/>
          <a:p>
            <a:r>
              <a:rPr lang="en-US" altLang="zh-CN" sz="2200" dirty="0" smtClean="0"/>
              <a:t>2018</a:t>
            </a:r>
            <a:r>
              <a:rPr lang="zh-CN" altLang="en-US" sz="2200" dirty="0"/>
              <a:t>年</a:t>
            </a:r>
            <a:r>
              <a:rPr lang="en-US" altLang="zh-CN" sz="2200" dirty="0"/>
              <a:t>1</a:t>
            </a:r>
            <a:r>
              <a:rPr lang="zh-CN" altLang="en-US" sz="2200" dirty="0"/>
              <a:t>月</a:t>
            </a:r>
            <a:r>
              <a:rPr lang="en-US" altLang="zh-CN" sz="2200" dirty="0"/>
              <a:t>9</a:t>
            </a:r>
            <a:r>
              <a:rPr lang="zh-CN" altLang="en-US" sz="2200" dirty="0"/>
              <a:t>日</a:t>
            </a:r>
            <a:r>
              <a:rPr lang="en-US" altLang="zh-CN" sz="2200" dirty="0"/>
              <a:t>:</a:t>
            </a:r>
            <a:r>
              <a:rPr lang="zh-CN" altLang="en-US" sz="2200" dirty="0"/>
              <a:t>在消费电子展上，华为首席执行官俞敏洪谈到了失去</a:t>
            </a:r>
            <a:r>
              <a:rPr lang="en-US" altLang="zh-CN" sz="2200" dirty="0"/>
              <a:t>AT&amp;T</a:t>
            </a:r>
            <a:r>
              <a:rPr lang="zh-CN" altLang="en-US" sz="2200" dirty="0"/>
              <a:t>支持的问题，这是美国对华为首个恶意行为</a:t>
            </a:r>
            <a:r>
              <a:rPr lang="zh-CN" altLang="en-US" sz="2200" dirty="0" smtClean="0"/>
              <a:t>。</a:t>
            </a:r>
            <a:endParaRPr lang="zh-CN" altLang="en-US" sz="2200" dirty="0"/>
          </a:p>
          <a:p>
            <a:r>
              <a:rPr lang="en-US" altLang="zh-CN" sz="2200" dirty="0" smtClean="0"/>
              <a:t>2018</a:t>
            </a:r>
            <a:r>
              <a:rPr lang="zh-CN" altLang="en-US" sz="2200" dirty="0" smtClean="0"/>
              <a:t>年</a:t>
            </a:r>
            <a:r>
              <a:rPr lang="en-US" altLang="zh-CN" sz="2200" dirty="0" smtClean="0"/>
              <a:t>12</a:t>
            </a:r>
            <a:r>
              <a:rPr lang="zh-CN" altLang="en-US" sz="2200" dirty="0"/>
              <a:t>月</a:t>
            </a:r>
            <a:r>
              <a:rPr lang="en-US" altLang="zh-CN" sz="2200" dirty="0"/>
              <a:t>5</a:t>
            </a:r>
            <a:r>
              <a:rPr lang="zh-CN" altLang="en-US" sz="2200" dirty="0"/>
              <a:t>日</a:t>
            </a:r>
            <a:r>
              <a:rPr lang="en-US" altLang="zh-CN" sz="2200" dirty="0"/>
              <a:t>:</a:t>
            </a:r>
            <a:r>
              <a:rPr lang="zh-CN" altLang="en-US" sz="2200" dirty="0" smtClean="0"/>
              <a:t>英国电信表示，到</a:t>
            </a:r>
            <a:r>
              <a:rPr lang="en-US" altLang="zh-CN" sz="2200" dirty="0"/>
              <a:t>2021</a:t>
            </a:r>
            <a:r>
              <a:rPr lang="zh-CN" altLang="en-US" sz="2200" dirty="0"/>
              <a:t>年</a:t>
            </a:r>
            <a:r>
              <a:rPr lang="zh-CN" altLang="en-US" sz="2200" dirty="0" smtClean="0"/>
              <a:t>，将</a:t>
            </a:r>
            <a:r>
              <a:rPr lang="zh-CN" altLang="en-US" sz="2200" dirty="0"/>
              <a:t>把华</a:t>
            </a:r>
            <a:r>
              <a:rPr lang="zh-CN" altLang="en-US" sz="2200" dirty="0" smtClean="0"/>
              <a:t>为设备从</a:t>
            </a:r>
            <a:r>
              <a:rPr lang="en-US" altLang="zh-CN" sz="2200" dirty="0"/>
              <a:t>4G</a:t>
            </a:r>
            <a:r>
              <a:rPr lang="zh-CN" altLang="en-US" sz="2200" dirty="0"/>
              <a:t>网络中剥离</a:t>
            </a:r>
            <a:r>
              <a:rPr lang="zh-CN" altLang="en-US" sz="2200" dirty="0" smtClean="0"/>
              <a:t>，并且不会</a:t>
            </a:r>
            <a:r>
              <a:rPr lang="zh-CN" altLang="en-US" sz="2200" dirty="0"/>
              <a:t>在</a:t>
            </a:r>
            <a:r>
              <a:rPr lang="en-US" altLang="zh-CN" sz="2200" dirty="0"/>
              <a:t>5G</a:t>
            </a:r>
            <a:r>
              <a:rPr lang="zh-CN" altLang="en-US" sz="2200" dirty="0"/>
              <a:t>核心中使用</a:t>
            </a:r>
            <a:r>
              <a:rPr lang="zh-CN" altLang="en-US" sz="2200" dirty="0" smtClean="0"/>
              <a:t>。</a:t>
            </a:r>
            <a:endParaRPr lang="zh-CN" altLang="en-US" sz="2200" dirty="0"/>
          </a:p>
          <a:p>
            <a:r>
              <a:rPr lang="en-US" altLang="zh-CN" sz="2200" dirty="0" smtClean="0"/>
              <a:t>2018</a:t>
            </a:r>
            <a:r>
              <a:rPr lang="zh-CN" altLang="en-US" sz="2200" dirty="0" smtClean="0"/>
              <a:t>年</a:t>
            </a:r>
            <a:r>
              <a:rPr lang="en-US" altLang="zh-CN" sz="2200" dirty="0" smtClean="0"/>
              <a:t>12</a:t>
            </a:r>
            <a:r>
              <a:rPr lang="zh-CN" altLang="en-US" sz="2200" dirty="0"/>
              <a:t>月</a:t>
            </a:r>
            <a:r>
              <a:rPr lang="en-US" altLang="zh-CN" sz="2200" dirty="0"/>
              <a:t>6</a:t>
            </a:r>
            <a:r>
              <a:rPr lang="zh-CN" altLang="en-US" sz="2200" dirty="0"/>
              <a:t>日</a:t>
            </a:r>
            <a:r>
              <a:rPr lang="en-US" altLang="zh-CN" sz="2200" dirty="0"/>
              <a:t>:</a:t>
            </a:r>
            <a:r>
              <a:rPr lang="zh-CN" altLang="en-US" sz="2200" dirty="0"/>
              <a:t>华为首席财务官孟晚舟应美国请求在加拿大被捕</a:t>
            </a:r>
            <a:r>
              <a:rPr lang="zh-CN" altLang="en-US" sz="2200" dirty="0" smtClean="0"/>
              <a:t>。</a:t>
            </a:r>
            <a:endParaRPr lang="zh-CN" altLang="en-US" sz="2200" dirty="0"/>
          </a:p>
          <a:p>
            <a:r>
              <a:rPr lang="en-US" altLang="zh-CN" sz="2200" dirty="0"/>
              <a:t>2019</a:t>
            </a:r>
            <a:r>
              <a:rPr lang="zh-CN" altLang="en-US" sz="2200" dirty="0"/>
              <a:t>年</a:t>
            </a:r>
            <a:r>
              <a:rPr lang="en-US" altLang="zh-CN" sz="2200" dirty="0"/>
              <a:t>5</a:t>
            </a:r>
            <a:r>
              <a:rPr lang="zh-CN" altLang="en-US" sz="2200" dirty="0"/>
              <a:t>月</a:t>
            </a:r>
            <a:r>
              <a:rPr lang="en-US" altLang="zh-CN" sz="2200" dirty="0"/>
              <a:t>15</a:t>
            </a:r>
            <a:r>
              <a:rPr lang="zh-CN" altLang="en-US" sz="2200" dirty="0"/>
              <a:t>日，美国商务部表示，将把华为及</a:t>
            </a:r>
            <a:r>
              <a:rPr lang="en-US" altLang="zh-CN" sz="2200" dirty="0"/>
              <a:t>70</a:t>
            </a:r>
            <a:r>
              <a:rPr lang="zh-CN" altLang="en-US" sz="2200" dirty="0"/>
              <a:t>家关联企业列入“实体清单”。今后如果没有美国政府的批准，华为将无法向美国企业购买元器件</a:t>
            </a:r>
            <a:r>
              <a:rPr lang="zh-CN" altLang="en-US" sz="2200" dirty="0" smtClean="0"/>
              <a:t>。</a:t>
            </a:r>
            <a:endParaRPr lang="en-US" altLang="zh-CN" sz="2200" dirty="0" smtClean="0"/>
          </a:p>
          <a:p>
            <a:r>
              <a:rPr lang="en-US" altLang="zh-CN" sz="2200" dirty="0" smtClean="0"/>
              <a:t>2019</a:t>
            </a:r>
            <a:r>
              <a:rPr lang="zh-CN" altLang="en-US" sz="2200" dirty="0"/>
              <a:t>年</a:t>
            </a:r>
            <a:r>
              <a:rPr lang="en-US" altLang="zh-CN" sz="2200" dirty="0"/>
              <a:t>8</a:t>
            </a:r>
            <a:r>
              <a:rPr lang="zh-CN" altLang="en-US" sz="2200" dirty="0"/>
              <a:t>月</a:t>
            </a:r>
            <a:r>
              <a:rPr lang="en-US" altLang="zh-CN" sz="2200" dirty="0"/>
              <a:t>7</a:t>
            </a:r>
            <a:r>
              <a:rPr lang="zh-CN" altLang="en-US" sz="2200" dirty="0"/>
              <a:t>日，白宫宣布禁止美国政府部门购买华为的设备和服务。</a:t>
            </a:r>
            <a:endParaRPr lang="en-US" altLang="zh-CN" sz="2200" dirty="0" smtClean="0"/>
          </a:p>
          <a:p>
            <a:r>
              <a:rPr lang="en-US" altLang="zh-CN" sz="2200" dirty="0"/>
              <a:t>2020</a:t>
            </a:r>
            <a:r>
              <a:rPr lang="zh-CN" altLang="en-US" sz="2200" dirty="0"/>
              <a:t>年</a:t>
            </a:r>
            <a:r>
              <a:rPr lang="en-US" altLang="zh-CN" sz="2200" dirty="0"/>
              <a:t>5</a:t>
            </a:r>
            <a:r>
              <a:rPr lang="zh-CN" altLang="en-US" sz="2200" dirty="0"/>
              <a:t>月</a:t>
            </a:r>
            <a:r>
              <a:rPr lang="en-US" altLang="zh-CN" sz="2200" dirty="0"/>
              <a:t>15</a:t>
            </a:r>
            <a:r>
              <a:rPr lang="zh-CN" altLang="en-US" sz="2200" dirty="0"/>
              <a:t>日，美国商务部延长华为临时许可</a:t>
            </a:r>
            <a:r>
              <a:rPr lang="en-US" altLang="zh-CN" sz="2200" dirty="0"/>
              <a:t>90</a:t>
            </a:r>
            <a:r>
              <a:rPr lang="zh-CN" altLang="en-US" sz="2200" dirty="0"/>
              <a:t>天。同日，美国商务部要求使用美国设备和技术的外国半导体公司，须获美国政府许可，才可向华为出口供货。</a:t>
            </a:r>
            <a:endParaRPr lang="en-US" altLang="zh-CN" sz="2200" dirty="0" smtClean="0"/>
          </a:p>
          <a:p>
            <a:r>
              <a:rPr lang="en-US" altLang="zh-CN" sz="2200" dirty="0" smtClean="0"/>
              <a:t>2020</a:t>
            </a:r>
            <a:r>
              <a:rPr lang="zh-CN" altLang="en-US" sz="2200" dirty="0"/>
              <a:t>年</a:t>
            </a:r>
            <a:r>
              <a:rPr lang="en-US" altLang="zh-CN" sz="2200" dirty="0"/>
              <a:t>7</a:t>
            </a:r>
            <a:r>
              <a:rPr lang="zh-CN" altLang="en-US" sz="2200" dirty="0"/>
              <a:t>月</a:t>
            </a:r>
            <a:r>
              <a:rPr lang="en-US" altLang="zh-CN" sz="2200" dirty="0"/>
              <a:t>15</a:t>
            </a:r>
            <a:r>
              <a:rPr lang="zh-CN" altLang="en-US" sz="2200" dirty="0"/>
              <a:t>日，美国国务卿蓬佩奥宣布，将对侵犯人权的中国科技公司的雇员实施入境签证限制，其中包括华为</a:t>
            </a:r>
            <a:r>
              <a:rPr lang="zh-CN" altLang="en-US" sz="2200" dirty="0" smtClean="0"/>
              <a:t>。</a:t>
            </a:r>
            <a:endParaRPr lang="zh-CN" altLang="en-US" sz="22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16</a:t>
            </a:fld>
            <a:endParaRPr lang="zh-CN" altLang="en-US"/>
          </a:p>
        </p:txBody>
      </p:sp>
      <p:sp>
        <p:nvSpPr>
          <p:cNvPr id="4" name="标题 3"/>
          <p:cNvSpPr>
            <a:spLocks noGrp="1"/>
          </p:cNvSpPr>
          <p:nvPr>
            <p:ph type="title"/>
          </p:nvPr>
        </p:nvSpPr>
        <p:spPr/>
        <p:txBody>
          <a:bodyPr/>
          <a:lstStyle/>
          <a:p>
            <a:r>
              <a:rPr lang="zh-CN" altLang="en-US" dirty="0" smtClean="0"/>
              <a:t>华为事件大事簿</a:t>
            </a:r>
            <a:endParaRPr lang="zh-CN" altLang="en-US" dirty="0"/>
          </a:p>
        </p:txBody>
      </p:sp>
    </p:spTree>
    <p:extLst>
      <p:ext uri="{BB962C8B-B14F-4D97-AF65-F5344CB8AC3E}">
        <p14:creationId xmlns:p14="http://schemas.microsoft.com/office/powerpoint/2010/main" val="117177170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611560" y="1412776"/>
            <a:ext cx="8208911" cy="5040560"/>
          </a:xfrm>
        </p:spPr>
        <p:txBody>
          <a:bodyPr>
            <a:normAutofit fontScale="92500"/>
          </a:bodyPr>
          <a:lstStyle/>
          <a:p>
            <a:r>
              <a:rPr lang="zh-CN" altLang="en-US" sz="2800" dirty="0" smtClean="0"/>
              <a:t>中国工程院</a:t>
            </a:r>
            <a:r>
              <a:rPr lang="zh-CN" altLang="en-US" sz="2800" dirty="0"/>
              <a:t>院士倪光南在</a:t>
            </a:r>
            <a:r>
              <a:rPr lang="en-US" altLang="zh-CN" sz="2800" dirty="0"/>
              <a:t>2019</a:t>
            </a:r>
            <a:r>
              <a:rPr lang="zh-CN" altLang="en-US" sz="2800" dirty="0"/>
              <a:t>数博会数字孪生城市建设与产业创新全球论坛</a:t>
            </a:r>
            <a:r>
              <a:rPr lang="zh-CN" altLang="en-US" sz="2800" dirty="0" smtClean="0"/>
              <a:t>上指出，</a:t>
            </a:r>
            <a:r>
              <a:rPr lang="zh-CN" altLang="en-US" sz="2800" dirty="0"/>
              <a:t>中兴事件和华为事件暴露出中国</a:t>
            </a:r>
            <a:r>
              <a:rPr lang="zh-CN" altLang="en-US" sz="2800" dirty="0" smtClean="0"/>
              <a:t>的芯片问题和软件问题两大短</a:t>
            </a:r>
            <a:r>
              <a:rPr lang="zh-CN" altLang="en-US" sz="2800" dirty="0"/>
              <a:t>板，我们一定要防患于未然，把短板补齐</a:t>
            </a:r>
            <a:r>
              <a:rPr lang="zh-CN" altLang="en-US" sz="2800" dirty="0" smtClean="0"/>
              <a:t>。</a:t>
            </a:r>
            <a:endParaRPr lang="en-US" altLang="zh-CN" sz="2800" dirty="0" smtClean="0"/>
          </a:p>
          <a:p>
            <a:r>
              <a:rPr lang="zh-CN" altLang="en-US" sz="2800" dirty="0"/>
              <a:t>关键核心技术是买不来</a:t>
            </a:r>
            <a:r>
              <a:rPr lang="zh-CN" altLang="en-US" sz="2800" dirty="0" smtClean="0"/>
              <a:t>的，必须</a:t>
            </a:r>
            <a:r>
              <a:rPr lang="zh-CN" altLang="en-US" sz="2800" dirty="0"/>
              <a:t>实现</a:t>
            </a:r>
            <a:r>
              <a:rPr lang="zh-CN" altLang="en-US" sz="2800" dirty="0" smtClean="0"/>
              <a:t>“国产化替代”</a:t>
            </a:r>
            <a:endParaRPr lang="en-US" altLang="zh-CN" sz="2800" dirty="0" smtClean="0"/>
          </a:p>
          <a:p>
            <a:r>
              <a:rPr lang="en-US" altLang="zh-CN" sz="2800" dirty="0" smtClean="0"/>
              <a:t>2020</a:t>
            </a:r>
            <a:r>
              <a:rPr lang="zh-CN" altLang="en-US" sz="2800" dirty="0" smtClean="0"/>
              <a:t>年</a:t>
            </a:r>
            <a:r>
              <a:rPr lang="en-US" altLang="zh-CN" sz="2800" dirty="0" smtClean="0"/>
              <a:t>9</a:t>
            </a:r>
            <a:r>
              <a:rPr lang="zh-CN" altLang="en-US" sz="2800" dirty="0" smtClean="0"/>
              <a:t>月</a:t>
            </a:r>
            <a:r>
              <a:rPr lang="en-US" altLang="zh-CN" sz="2800" dirty="0" smtClean="0"/>
              <a:t>16</a:t>
            </a:r>
            <a:r>
              <a:rPr lang="zh-CN" altLang="en-US" sz="2800" dirty="0"/>
              <a:t>日国务院新闻办公室发布会上，中科院院长白春礼表示，面临美国对中国高科技产业的打压，将把美国“卡脖子”的清单变成科研清单进行布局，比如航空轮胎、轴承钢、光刻机等，争取在第二期聚焦在国家最关注的重大的领域，希望</a:t>
            </a:r>
            <a:r>
              <a:rPr lang="en-US" altLang="zh-CN" sz="2800" dirty="0"/>
              <a:t>2035</a:t>
            </a:r>
            <a:r>
              <a:rPr lang="zh-CN" altLang="en-US" sz="2800" dirty="0"/>
              <a:t>年中国进入创新型国家的前列，一直到</a:t>
            </a:r>
            <a:r>
              <a:rPr lang="en-US" altLang="zh-CN" sz="2800" dirty="0"/>
              <a:t>2050</a:t>
            </a:r>
            <a:r>
              <a:rPr lang="zh-CN" altLang="en-US" sz="2800" dirty="0"/>
              <a:t>年建成世界科技强国。</a:t>
            </a:r>
          </a:p>
        </p:txBody>
      </p:sp>
      <p:sp>
        <p:nvSpPr>
          <p:cNvPr id="3" name="灯片编号占位符 2"/>
          <p:cNvSpPr>
            <a:spLocks noGrp="1"/>
          </p:cNvSpPr>
          <p:nvPr>
            <p:ph type="sldNum" sz="quarter" idx="12"/>
          </p:nvPr>
        </p:nvSpPr>
        <p:spPr/>
        <p:txBody>
          <a:bodyPr/>
          <a:lstStyle/>
          <a:p>
            <a:fld id="{0C913308-F349-4B6D-A68A-DD1791B4A57B}" type="slidenum">
              <a:rPr lang="zh-CN" altLang="en-US" smtClean="0"/>
              <a:t>17</a:t>
            </a:fld>
            <a:endParaRPr lang="zh-CN" altLang="en-US"/>
          </a:p>
        </p:txBody>
      </p:sp>
      <p:sp>
        <p:nvSpPr>
          <p:cNvPr id="4" name="标题 3"/>
          <p:cNvSpPr>
            <a:spLocks noGrp="1"/>
          </p:cNvSpPr>
          <p:nvPr>
            <p:ph type="title"/>
          </p:nvPr>
        </p:nvSpPr>
        <p:spPr/>
        <p:txBody>
          <a:bodyPr/>
          <a:lstStyle/>
          <a:p>
            <a:r>
              <a:rPr lang="zh-CN" altLang="en-US" dirty="0" smtClean="0"/>
              <a:t>华为</a:t>
            </a:r>
            <a:r>
              <a:rPr lang="en-US" altLang="zh-CN" dirty="0" smtClean="0"/>
              <a:t>&amp;</a:t>
            </a:r>
            <a:r>
              <a:rPr lang="zh-CN" altLang="en-US" dirty="0" smtClean="0"/>
              <a:t>中兴事件反思</a:t>
            </a:r>
            <a:endParaRPr lang="zh-CN" altLang="en-US" dirty="0"/>
          </a:p>
        </p:txBody>
      </p:sp>
    </p:spTree>
    <p:extLst>
      <p:ext uri="{BB962C8B-B14F-4D97-AF65-F5344CB8AC3E}">
        <p14:creationId xmlns:p14="http://schemas.microsoft.com/office/powerpoint/2010/main" val="2470112582"/>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539552" y="1700808"/>
            <a:ext cx="8352927" cy="4425355"/>
          </a:xfrm>
        </p:spPr>
        <p:txBody>
          <a:bodyPr>
            <a:normAutofit/>
          </a:bodyPr>
          <a:lstStyle/>
          <a:p>
            <a:r>
              <a:rPr lang="zh-CN" altLang="en-US" dirty="0">
                <a:solidFill>
                  <a:srgbClr val="FF0000"/>
                </a:solidFill>
              </a:rPr>
              <a:t>知识产权</a:t>
            </a:r>
            <a:r>
              <a:rPr lang="zh-CN" altLang="en-US" dirty="0"/>
              <a:t>是指人们就其智力劳动成果所依法</a:t>
            </a:r>
            <a:r>
              <a:rPr lang="zh-CN" altLang="en-US" dirty="0" smtClean="0"/>
              <a:t>享有</a:t>
            </a:r>
            <a:r>
              <a:rPr lang="zh-CN" altLang="en-US" dirty="0"/>
              <a:t>的专有权利，通常是国家赋予创造者对其智力</a:t>
            </a:r>
            <a:r>
              <a:rPr lang="zh-CN" altLang="en-US" dirty="0" smtClean="0"/>
              <a:t>成果</a:t>
            </a:r>
            <a:r>
              <a:rPr lang="zh-CN" altLang="en-US" dirty="0"/>
              <a:t>在一定时期内享有的专有权或独占权。</a:t>
            </a:r>
          </a:p>
          <a:p>
            <a:r>
              <a:rPr lang="zh-CN" altLang="en-US" dirty="0"/>
              <a:t>知识产权从本质上说是一种无形财产权，它</a:t>
            </a:r>
            <a:r>
              <a:rPr lang="zh-CN" altLang="en-US" dirty="0" smtClean="0"/>
              <a:t>的客体</a:t>
            </a:r>
            <a:r>
              <a:rPr lang="zh-CN" altLang="en-US" dirty="0"/>
              <a:t>是智力成果或是知识产品，是一种无形财产</a:t>
            </a:r>
            <a:r>
              <a:rPr lang="zh-CN" altLang="en-US" dirty="0" smtClean="0"/>
              <a:t>或者</a:t>
            </a:r>
            <a:r>
              <a:rPr lang="zh-CN" altLang="en-US" dirty="0"/>
              <a:t>一种没有形体的精神财富，是创造性的智力</a:t>
            </a:r>
            <a:r>
              <a:rPr lang="zh-CN" altLang="en-US" dirty="0" smtClean="0"/>
              <a:t>劳动所</a:t>
            </a:r>
            <a:r>
              <a:rPr lang="zh-CN" altLang="en-US" dirty="0"/>
              <a:t>创造的劳动成果。它与房屋、汽车等有形财产</a:t>
            </a:r>
            <a:r>
              <a:rPr lang="zh-CN" altLang="en-US" dirty="0" smtClean="0"/>
              <a:t>一样</a:t>
            </a:r>
            <a:r>
              <a:rPr lang="zh-CN" altLang="en-US" dirty="0"/>
              <a:t>，都受到国家法律的保护，都具有价值和</a:t>
            </a:r>
            <a:r>
              <a:rPr lang="zh-CN" altLang="en-US" dirty="0" smtClean="0"/>
              <a:t>使用价值</a:t>
            </a:r>
            <a:r>
              <a:rPr lang="zh-CN" altLang="en-US" dirty="0"/>
              <a:t>。有些重大专利、驰名商标或作品的价值也</a:t>
            </a:r>
            <a:r>
              <a:rPr lang="zh-CN" altLang="en-US" dirty="0" smtClean="0"/>
              <a:t>远远高于</a:t>
            </a:r>
            <a:r>
              <a:rPr lang="zh-CN" altLang="en-US" dirty="0"/>
              <a:t>房屋、汽车等有形财产</a:t>
            </a:r>
            <a:r>
              <a:rPr lang="zh-CN" altLang="en-US" dirty="0" smtClean="0"/>
              <a:t>。</a:t>
            </a:r>
            <a:endParaRPr lang="en-US" altLang="zh-CN" dirty="0" smtClean="0"/>
          </a:p>
          <a:p>
            <a:r>
              <a:rPr lang="zh-CN" altLang="en-US" dirty="0"/>
              <a:t>知识产权可获利的范畴通常为两部分</a:t>
            </a:r>
            <a:r>
              <a:rPr lang="en-US" altLang="zh-CN" dirty="0"/>
              <a:t>: </a:t>
            </a:r>
            <a:r>
              <a:rPr lang="zh-CN" altLang="en-US" dirty="0"/>
              <a:t>即</a:t>
            </a:r>
            <a:r>
              <a:rPr lang="zh-CN" altLang="en-US" dirty="0" smtClean="0"/>
              <a:t>“</a:t>
            </a:r>
            <a:r>
              <a:rPr lang="zh-CN" altLang="en-US" dirty="0" smtClean="0">
                <a:solidFill>
                  <a:srgbClr val="FF0000"/>
                </a:solidFill>
              </a:rPr>
              <a:t>工业产权</a:t>
            </a:r>
            <a:r>
              <a:rPr lang="zh-CN" altLang="en-US" dirty="0" smtClean="0"/>
              <a:t>”</a:t>
            </a:r>
            <a:r>
              <a:rPr lang="zh-CN" altLang="en-US" dirty="0"/>
              <a:t>和“</a:t>
            </a:r>
            <a:r>
              <a:rPr lang="zh-CN" altLang="en-US" dirty="0">
                <a:solidFill>
                  <a:srgbClr val="FF0000"/>
                </a:solidFill>
              </a:rPr>
              <a:t>著作权</a:t>
            </a:r>
            <a:r>
              <a:rPr lang="en-US" altLang="zh-CN" dirty="0"/>
              <a:t>( </a:t>
            </a:r>
            <a:r>
              <a:rPr lang="zh-CN" altLang="en-US" dirty="0"/>
              <a:t>也称版权、文学产权</a:t>
            </a:r>
            <a:r>
              <a:rPr lang="en-US" altLang="zh-CN" dirty="0"/>
              <a:t>)</a:t>
            </a:r>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18</a:t>
            </a:fld>
            <a:endParaRPr lang="zh-CN" altLang="en-US"/>
          </a:p>
        </p:txBody>
      </p:sp>
      <p:sp>
        <p:nvSpPr>
          <p:cNvPr id="4" name="标题 3"/>
          <p:cNvSpPr>
            <a:spLocks noGrp="1"/>
          </p:cNvSpPr>
          <p:nvPr>
            <p:ph type="title"/>
          </p:nvPr>
        </p:nvSpPr>
        <p:spPr/>
        <p:txBody>
          <a:bodyPr/>
          <a:lstStyle/>
          <a:p>
            <a:pPr algn="l"/>
            <a:r>
              <a:rPr lang="zh-CN" altLang="en-US" dirty="0" smtClean="0"/>
              <a:t>知识产权概念（课程指标点）</a:t>
            </a:r>
            <a:endParaRPr lang="zh-CN" altLang="en-US" dirty="0"/>
          </a:p>
        </p:txBody>
      </p:sp>
    </p:spTree>
    <p:extLst>
      <p:ext uri="{BB962C8B-B14F-4D97-AF65-F5344CB8AC3E}">
        <p14:creationId xmlns:p14="http://schemas.microsoft.com/office/powerpoint/2010/main" val="60953639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57200" y="1481328"/>
            <a:ext cx="8579296" cy="5260040"/>
          </a:xfrm>
        </p:spPr>
        <p:txBody>
          <a:bodyPr>
            <a:normAutofit lnSpcReduction="10000"/>
          </a:bodyPr>
          <a:lstStyle/>
          <a:p>
            <a:r>
              <a:rPr lang="zh-CN" altLang="en-US" dirty="0"/>
              <a:t>据权威统计，中国在</a:t>
            </a:r>
            <a:r>
              <a:rPr lang="zh-CN" altLang="en-US" dirty="0" smtClean="0"/>
              <a:t>商标</a:t>
            </a:r>
            <a:r>
              <a:rPr lang="zh-CN" altLang="en-US" dirty="0"/>
              <a:t>注册和发明专利数近年均列世界第一，知识</a:t>
            </a:r>
            <a:r>
              <a:rPr lang="zh-CN" altLang="en-US" dirty="0" smtClean="0"/>
              <a:t>创新成果</a:t>
            </a:r>
            <a:r>
              <a:rPr lang="en-US" altLang="zh-CN" dirty="0" smtClean="0"/>
              <a:t>2018 </a:t>
            </a:r>
            <a:r>
              <a:rPr lang="zh-CN" altLang="en-US" dirty="0" smtClean="0"/>
              <a:t>年居世界第</a:t>
            </a:r>
            <a:r>
              <a:rPr lang="en-US" altLang="zh-CN" dirty="0" smtClean="0"/>
              <a:t>17 </a:t>
            </a:r>
            <a:r>
              <a:rPr lang="zh-CN" altLang="en-US" dirty="0" smtClean="0"/>
              <a:t>位。</a:t>
            </a:r>
            <a:endParaRPr lang="en-US" altLang="zh-CN" dirty="0" smtClean="0"/>
          </a:p>
          <a:p>
            <a:r>
              <a:rPr lang="zh-CN" altLang="en-US" dirty="0" smtClean="0"/>
              <a:t>相关法律法规：</a:t>
            </a:r>
            <a:endParaRPr lang="en-US" altLang="zh-CN" dirty="0" smtClean="0"/>
          </a:p>
          <a:p>
            <a:pPr lvl="1"/>
            <a:r>
              <a:rPr lang="en-US" altLang="zh-CN" dirty="0" smtClean="0"/>
              <a:t>《</a:t>
            </a:r>
            <a:r>
              <a:rPr lang="zh-CN" altLang="en-US" dirty="0" smtClean="0">
                <a:solidFill>
                  <a:srgbClr val="FF0000"/>
                </a:solidFill>
              </a:rPr>
              <a:t>专利法</a:t>
            </a:r>
            <a:r>
              <a:rPr lang="en-US" altLang="zh-CN" dirty="0" smtClean="0"/>
              <a:t>》1985 </a:t>
            </a:r>
            <a:r>
              <a:rPr lang="zh-CN" altLang="en-US" dirty="0"/>
              <a:t>年</a:t>
            </a:r>
            <a:r>
              <a:rPr lang="en-US" altLang="zh-CN" dirty="0"/>
              <a:t>4 </a:t>
            </a:r>
            <a:r>
              <a:rPr lang="zh-CN" altLang="en-US" dirty="0"/>
              <a:t>月</a:t>
            </a:r>
            <a:r>
              <a:rPr lang="en-US" altLang="zh-CN" dirty="0"/>
              <a:t>1 </a:t>
            </a:r>
            <a:r>
              <a:rPr lang="zh-CN" altLang="en-US" dirty="0"/>
              <a:t>日于正式</a:t>
            </a:r>
            <a:r>
              <a:rPr lang="zh-CN" altLang="en-US" dirty="0" smtClean="0"/>
              <a:t>实施</a:t>
            </a:r>
            <a:r>
              <a:rPr lang="zh-CN" altLang="en-US" dirty="0"/>
              <a:t>，并分别于</a:t>
            </a:r>
            <a:r>
              <a:rPr lang="en-US" altLang="zh-CN" dirty="0"/>
              <a:t>1992 </a:t>
            </a:r>
            <a:r>
              <a:rPr lang="zh-CN" altLang="en-US" dirty="0"/>
              <a:t>年</a:t>
            </a:r>
            <a:r>
              <a:rPr lang="en-US" altLang="zh-CN" dirty="0"/>
              <a:t>9 </a:t>
            </a:r>
            <a:r>
              <a:rPr lang="zh-CN" altLang="en-US" dirty="0"/>
              <a:t>月</a:t>
            </a:r>
            <a:r>
              <a:rPr lang="en-US" altLang="zh-CN" dirty="0"/>
              <a:t>4 </a:t>
            </a:r>
            <a:r>
              <a:rPr lang="zh-CN" altLang="en-US" dirty="0"/>
              <a:t>日和</a:t>
            </a:r>
            <a:r>
              <a:rPr lang="en-US" altLang="zh-CN" dirty="0" smtClean="0"/>
              <a:t>2000</a:t>
            </a:r>
            <a:r>
              <a:rPr lang="zh-CN" altLang="en-US" dirty="0" smtClean="0"/>
              <a:t>年</a:t>
            </a:r>
            <a:r>
              <a:rPr lang="en-US" altLang="zh-CN" dirty="0"/>
              <a:t>8 </a:t>
            </a:r>
            <a:r>
              <a:rPr lang="zh-CN" altLang="en-US" dirty="0"/>
              <a:t>月</a:t>
            </a:r>
            <a:r>
              <a:rPr lang="en-US" altLang="zh-CN" dirty="0"/>
              <a:t>25 </a:t>
            </a:r>
            <a:r>
              <a:rPr lang="zh-CN" altLang="en-US" dirty="0"/>
              <a:t>日进行两次修改、</a:t>
            </a:r>
            <a:r>
              <a:rPr lang="zh-CN" altLang="en-US" dirty="0" smtClean="0"/>
              <a:t>完善。</a:t>
            </a:r>
            <a:endParaRPr lang="zh-CN" altLang="en-US" dirty="0"/>
          </a:p>
          <a:p>
            <a:pPr lvl="1"/>
            <a:r>
              <a:rPr lang="en-US" altLang="zh-CN" dirty="0" smtClean="0"/>
              <a:t>《</a:t>
            </a:r>
            <a:r>
              <a:rPr lang="zh-CN" altLang="en-US" dirty="0" smtClean="0">
                <a:solidFill>
                  <a:srgbClr val="FF0000"/>
                </a:solidFill>
              </a:rPr>
              <a:t>商标法</a:t>
            </a:r>
            <a:r>
              <a:rPr lang="en-US" altLang="zh-CN" dirty="0" smtClean="0"/>
              <a:t>》</a:t>
            </a:r>
            <a:r>
              <a:rPr lang="zh-CN" altLang="en-US" dirty="0" smtClean="0"/>
              <a:t>分别</a:t>
            </a:r>
            <a:r>
              <a:rPr lang="zh-CN" altLang="en-US" dirty="0"/>
              <a:t>于</a:t>
            </a:r>
            <a:r>
              <a:rPr lang="en-US" altLang="zh-CN" dirty="0"/>
              <a:t>1993 </a:t>
            </a:r>
            <a:r>
              <a:rPr lang="zh-CN" altLang="en-US" dirty="0"/>
              <a:t>年</a:t>
            </a:r>
            <a:r>
              <a:rPr lang="en-US" altLang="zh-CN" dirty="0"/>
              <a:t>2 </a:t>
            </a:r>
            <a:r>
              <a:rPr lang="zh-CN" altLang="en-US" dirty="0"/>
              <a:t>月</a:t>
            </a:r>
            <a:r>
              <a:rPr lang="en-US" altLang="zh-CN" dirty="0"/>
              <a:t>22 </a:t>
            </a:r>
            <a:r>
              <a:rPr lang="zh-CN" altLang="en-US" dirty="0" smtClean="0"/>
              <a:t>日和</a:t>
            </a:r>
            <a:r>
              <a:rPr lang="en-US" altLang="zh-CN" dirty="0"/>
              <a:t>2001 </a:t>
            </a:r>
            <a:r>
              <a:rPr lang="zh-CN" altLang="en-US" dirty="0"/>
              <a:t>年</a:t>
            </a:r>
            <a:r>
              <a:rPr lang="en-US" altLang="zh-CN" dirty="0"/>
              <a:t>10 </a:t>
            </a:r>
            <a:r>
              <a:rPr lang="zh-CN" altLang="en-US" dirty="0"/>
              <a:t>月</a:t>
            </a:r>
            <a:r>
              <a:rPr lang="en-US" altLang="zh-CN" dirty="0"/>
              <a:t>27 </a:t>
            </a:r>
            <a:r>
              <a:rPr lang="zh-CN" altLang="en-US" dirty="0"/>
              <a:t>日进行两次修改</a:t>
            </a:r>
            <a:r>
              <a:rPr lang="zh-CN" altLang="en-US" dirty="0" smtClean="0"/>
              <a:t>、完善</a:t>
            </a:r>
            <a:r>
              <a:rPr lang="zh-CN" altLang="en-US" dirty="0"/>
              <a:t>，</a:t>
            </a:r>
            <a:r>
              <a:rPr lang="en-US" altLang="zh-CN" dirty="0"/>
              <a:t>2014 </a:t>
            </a:r>
            <a:r>
              <a:rPr lang="zh-CN" altLang="en-US" dirty="0"/>
              <a:t>年</a:t>
            </a:r>
            <a:r>
              <a:rPr lang="en-US" altLang="zh-CN" dirty="0"/>
              <a:t>5 </a:t>
            </a:r>
            <a:r>
              <a:rPr lang="zh-CN" altLang="en-US" dirty="0"/>
              <a:t>月</a:t>
            </a:r>
            <a:r>
              <a:rPr lang="en-US" altLang="zh-CN" dirty="0"/>
              <a:t>1 </a:t>
            </a:r>
            <a:r>
              <a:rPr lang="zh-CN" altLang="en-US" dirty="0"/>
              <a:t>日起，新</a:t>
            </a:r>
            <a:r>
              <a:rPr lang="en-US" altLang="zh-CN" dirty="0"/>
              <a:t>《</a:t>
            </a:r>
            <a:r>
              <a:rPr lang="zh-CN" altLang="en-US" dirty="0"/>
              <a:t>商标法</a:t>
            </a:r>
            <a:r>
              <a:rPr lang="en-US" altLang="zh-CN" dirty="0" smtClean="0"/>
              <a:t>》</a:t>
            </a:r>
            <a:r>
              <a:rPr lang="zh-CN" altLang="en-US" dirty="0" smtClean="0"/>
              <a:t>实施。</a:t>
            </a:r>
            <a:endParaRPr lang="zh-CN" altLang="en-US" dirty="0"/>
          </a:p>
          <a:p>
            <a:pPr lvl="1"/>
            <a:r>
              <a:rPr lang="en-US" altLang="zh-CN" dirty="0" smtClean="0"/>
              <a:t>《</a:t>
            </a:r>
            <a:r>
              <a:rPr lang="zh-CN" altLang="en-US" dirty="0" smtClean="0">
                <a:solidFill>
                  <a:srgbClr val="FF0000"/>
                </a:solidFill>
              </a:rPr>
              <a:t>著作权法</a:t>
            </a:r>
            <a:r>
              <a:rPr lang="en-US" altLang="zh-CN" dirty="0" smtClean="0"/>
              <a:t>》</a:t>
            </a:r>
            <a:r>
              <a:rPr lang="zh-CN" altLang="en-US" dirty="0" smtClean="0"/>
              <a:t>制定</a:t>
            </a:r>
            <a:r>
              <a:rPr lang="zh-CN" altLang="en-US" dirty="0"/>
              <a:t>于</a:t>
            </a:r>
            <a:r>
              <a:rPr lang="en-US" altLang="zh-CN" dirty="0"/>
              <a:t>1990 </a:t>
            </a:r>
            <a:r>
              <a:rPr lang="zh-CN" altLang="en-US" dirty="0"/>
              <a:t>年</a:t>
            </a:r>
            <a:r>
              <a:rPr lang="en-US" altLang="zh-CN" dirty="0"/>
              <a:t>9 </a:t>
            </a:r>
            <a:r>
              <a:rPr lang="zh-CN" altLang="en-US" dirty="0"/>
              <a:t>月</a:t>
            </a:r>
            <a:r>
              <a:rPr lang="en-US" altLang="zh-CN" dirty="0"/>
              <a:t>7 </a:t>
            </a:r>
            <a:r>
              <a:rPr lang="zh-CN" altLang="en-US" dirty="0"/>
              <a:t>日</a:t>
            </a:r>
            <a:r>
              <a:rPr lang="zh-CN" altLang="en-US" dirty="0" smtClean="0"/>
              <a:t>，并</a:t>
            </a:r>
            <a:r>
              <a:rPr lang="zh-CN" altLang="en-US" dirty="0"/>
              <a:t>分别于</a:t>
            </a:r>
            <a:r>
              <a:rPr lang="en-US" altLang="zh-CN" dirty="0"/>
              <a:t>2001 </a:t>
            </a:r>
            <a:r>
              <a:rPr lang="zh-CN" altLang="en-US" dirty="0"/>
              <a:t>年</a:t>
            </a:r>
            <a:r>
              <a:rPr lang="en-US" altLang="zh-CN" dirty="0"/>
              <a:t>10 </a:t>
            </a:r>
            <a:r>
              <a:rPr lang="zh-CN" altLang="en-US" dirty="0"/>
              <a:t>月</a:t>
            </a:r>
            <a:r>
              <a:rPr lang="en-US" altLang="zh-CN" dirty="0"/>
              <a:t>27 </a:t>
            </a:r>
            <a:r>
              <a:rPr lang="zh-CN" altLang="en-US" dirty="0"/>
              <a:t>日、</a:t>
            </a:r>
            <a:r>
              <a:rPr lang="en-US" altLang="zh-CN" dirty="0"/>
              <a:t>2010 </a:t>
            </a:r>
            <a:r>
              <a:rPr lang="zh-CN" altLang="en-US" dirty="0" smtClean="0"/>
              <a:t>年</a:t>
            </a:r>
            <a:r>
              <a:rPr lang="en-US" altLang="zh-CN" dirty="0" smtClean="0"/>
              <a:t>2 </a:t>
            </a:r>
            <a:r>
              <a:rPr lang="zh-CN" altLang="en-US" dirty="0"/>
              <a:t>月</a:t>
            </a:r>
            <a:r>
              <a:rPr lang="en-US" altLang="zh-CN" dirty="0"/>
              <a:t>26 </a:t>
            </a:r>
            <a:r>
              <a:rPr lang="zh-CN" altLang="en-US" dirty="0"/>
              <a:t>日和</a:t>
            </a:r>
            <a:r>
              <a:rPr lang="en-US" altLang="zh-CN" dirty="0"/>
              <a:t>2012 </a:t>
            </a:r>
            <a:r>
              <a:rPr lang="zh-CN" altLang="en-US" dirty="0"/>
              <a:t>年</a:t>
            </a:r>
            <a:r>
              <a:rPr lang="en-US" altLang="zh-CN" dirty="0"/>
              <a:t>12 </a:t>
            </a:r>
            <a:r>
              <a:rPr lang="zh-CN" altLang="en-US" dirty="0"/>
              <a:t>月</a:t>
            </a:r>
            <a:r>
              <a:rPr lang="en-US" altLang="zh-CN" dirty="0"/>
              <a:t>28 </a:t>
            </a:r>
            <a:r>
              <a:rPr lang="zh-CN" altLang="en-US" dirty="0"/>
              <a:t>日进行</a:t>
            </a:r>
            <a:r>
              <a:rPr lang="zh-CN" altLang="en-US" dirty="0" smtClean="0"/>
              <a:t>三次</a:t>
            </a:r>
            <a:r>
              <a:rPr lang="zh-CN" altLang="en-US" dirty="0"/>
              <a:t>修改、完善，有效保护文学、艺术</a:t>
            </a:r>
            <a:r>
              <a:rPr lang="zh-CN" altLang="en-US" dirty="0" smtClean="0"/>
              <a:t>和科学</a:t>
            </a:r>
            <a:r>
              <a:rPr lang="zh-CN" altLang="en-US" dirty="0"/>
              <a:t>作品作者的著作权以及与著作权</a:t>
            </a:r>
            <a:r>
              <a:rPr lang="zh-CN" altLang="en-US" dirty="0" smtClean="0"/>
              <a:t>有关</a:t>
            </a:r>
            <a:r>
              <a:rPr lang="zh-CN" altLang="en-US" dirty="0"/>
              <a:t>的权益。</a:t>
            </a:r>
          </a:p>
          <a:p>
            <a:pPr lvl="1"/>
            <a:r>
              <a:rPr lang="zh-CN" altLang="en-US" dirty="0"/>
              <a:t>此外还有一系列其他知识产权</a:t>
            </a:r>
            <a:r>
              <a:rPr lang="zh-CN" altLang="en-US" dirty="0" smtClean="0"/>
              <a:t>法律</a:t>
            </a:r>
            <a:r>
              <a:rPr lang="zh-CN" altLang="en-US" dirty="0"/>
              <a:t>、法规在此期间制定和完善。</a:t>
            </a:r>
            <a:r>
              <a:rPr lang="zh-CN" altLang="en-US" dirty="0" smtClean="0"/>
              <a:t>知识产权</a:t>
            </a:r>
            <a:r>
              <a:rPr lang="zh-CN" altLang="en-US" dirty="0"/>
              <a:t>制度的建立和实施，规范了市场秩序</a:t>
            </a:r>
            <a:r>
              <a:rPr lang="zh-CN" altLang="en-US" dirty="0" smtClean="0"/>
              <a:t>，激励</a:t>
            </a:r>
            <a:r>
              <a:rPr lang="zh-CN" altLang="en-US" dirty="0"/>
              <a:t>了发明创造和文化创作，促进了</a:t>
            </a:r>
            <a:r>
              <a:rPr lang="zh-CN" altLang="en-US" dirty="0" smtClean="0"/>
              <a:t>对外开放</a:t>
            </a:r>
            <a:r>
              <a:rPr lang="zh-CN" altLang="en-US" dirty="0"/>
              <a:t>和知识资源的引进，对经济</a:t>
            </a:r>
            <a:r>
              <a:rPr lang="zh-CN" altLang="en-US" dirty="0" smtClean="0"/>
              <a:t>社会发展</a:t>
            </a:r>
            <a:r>
              <a:rPr lang="zh-CN" altLang="en-US" dirty="0"/>
              <a:t>发挥了重要作用。</a:t>
            </a:r>
            <a:endParaRPr lang="en-US" altLang="zh-CN" dirty="0" smtClean="0"/>
          </a:p>
          <a:p>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19</a:t>
            </a:fld>
            <a:endParaRPr lang="zh-CN" altLang="en-US"/>
          </a:p>
        </p:txBody>
      </p:sp>
      <p:sp>
        <p:nvSpPr>
          <p:cNvPr id="4" name="标题 3"/>
          <p:cNvSpPr>
            <a:spLocks noGrp="1"/>
          </p:cNvSpPr>
          <p:nvPr>
            <p:ph type="title"/>
          </p:nvPr>
        </p:nvSpPr>
        <p:spPr/>
        <p:txBody>
          <a:bodyPr/>
          <a:lstStyle/>
          <a:p>
            <a:r>
              <a:rPr lang="zh-CN" altLang="en-US" dirty="0" smtClean="0"/>
              <a:t>我国知识产权保护现状</a:t>
            </a:r>
            <a:endParaRPr lang="zh-CN" altLang="en-US" dirty="0"/>
          </a:p>
        </p:txBody>
      </p:sp>
    </p:spTree>
    <p:extLst>
      <p:ext uri="{BB962C8B-B14F-4D97-AF65-F5344CB8AC3E}">
        <p14:creationId xmlns:p14="http://schemas.microsoft.com/office/powerpoint/2010/main" val="281333887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467544" y="1772816"/>
            <a:ext cx="8435280" cy="4525963"/>
          </a:xfrm>
        </p:spPr>
        <p:txBody>
          <a:bodyPr>
            <a:noAutofit/>
          </a:bodyPr>
          <a:lstStyle/>
          <a:p>
            <a:r>
              <a:rPr lang="zh-CN" altLang="en-US" sz="2600" dirty="0"/>
              <a:t>知识产权概念模糊，</a:t>
            </a:r>
            <a:r>
              <a:rPr lang="zh-CN" altLang="en-US" sz="2600" dirty="0" smtClean="0"/>
              <a:t>知识产权</a:t>
            </a:r>
            <a:r>
              <a:rPr lang="zh-CN" altLang="en-US" sz="2600" dirty="0"/>
              <a:t>保护意识淡薄</a:t>
            </a:r>
            <a:r>
              <a:rPr lang="zh-CN" altLang="en-US" sz="2600" dirty="0" smtClean="0"/>
              <a:t>。</a:t>
            </a:r>
            <a:endParaRPr lang="en-US" altLang="zh-CN" sz="2600" dirty="0" smtClean="0"/>
          </a:p>
          <a:p>
            <a:r>
              <a:rPr lang="zh-CN" altLang="en-US" sz="2600" dirty="0"/>
              <a:t>知识产权侵权行为</a:t>
            </a:r>
            <a:r>
              <a:rPr lang="zh-CN" altLang="en-US" sz="2600" dirty="0" smtClean="0"/>
              <a:t>层出不穷</a:t>
            </a:r>
            <a:r>
              <a:rPr lang="zh-CN" altLang="en-US" sz="2600" dirty="0"/>
              <a:t>，一般包括商标侵权、专利侵权、</a:t>
            </a:r>
            <a:r>
              <a:rPr lang="zh-CN" altLang="en-US" sz="2600" dirty="0" smtClean="0"/>
              <a:t>著作权</a:t>
            </a:r>
            <a:r>
              <a:rPr lang="zh-CN" altLang="en-US" sz="2600" dirty="0"/>
              <a:t>（即版权）的侵权</a:t>
            </a:r>
            <a:r>
              <a:rPr lang="zh-CN" altLang="en-US" sz="2600" dirty="0" smtClean="0"/>
              <a:t>。</a:t>
            </a:r>
            <a:endParaRPr lang="en-US" altLang="zh-CN" sz="2600" dirty="0" smtClean="0"/>
          </a:p>
          <a:p>
            <a:r>
              <a:rPr lang="zh-CN" altLang="en-US" sz="2600" dirty="0"/>
              <a:t>知识产权保护能力不足</a:t>
            </a:r>
            <a:r>
              <a:rPr lang="zh-CN" altLang="en-US" sz="2600" dirty="0" smtClean="0"/>
              <a:t>，企业管理</a:t>
            </a:r>
            <a:r>
              <a:rPr lang="zh-CN" altLang="en-US" sz="2600" dirty="0"/>
              <a:t>水平</a:t>
            </a:r>
            <a:r>
              <a:rPr lang="zh-CN" altLang="en-US" sz="2600" dirty="0" smtClean="0"/>
              <a:t>低下。</a:t>
            </a:r>
            <a:endParaRPr lang="en-US" altLang="zh-CN" sz="2600" dirty="0" smtClean="0"/>
          </a:p>
          <a:p>
            <a:r>
              <a:rPr lang="zh-CN" altLang="en-US" sz="2600" dirty="0"/>
              <a:t>现行法律对于知识产权</a:t>
            </a:r>
            <a:r>
              <a:rPr lang="zh-CN" altLang="en-US" sz="2600" dirty="0" smtClean="0"/>
              <a:t>侵权</a:t>
            </a:r>
            <a:r>
              <a:rPr lang="zh-CN" altLang="en-US" sz="2600" dirty="0"/>
              <a:t>惩罚力度不强，难以发挥震慑作用</a:t>
            </a:r>
            <a:r>
              <a:rPr lang="zh-CN" altLang="en-US" sz="2600" dirty="0" smtClean="0"/>
              <a:t>。</a:t>
            </a:r>
            <a:endParaRPr lang="en-US" altLang="zh-CN" sz="2600" dirty="0" smtClean="0"/>
          </a:p>
          <a:p>
            <a:r>
              <a:rPr lang="zh-CN" altLang="en-US" sz="2600" dirty="0"/>
              <a:t>执法机关执法不够严格，</a:t>
            </a:r>
            <a:r>
              <a:rPr lang="zh-CN" altLang="en-US" sz="2600" dirty="0" smtClean="0"/>
              <a:t>管理</a:t>
            </a:r>
            <a:r>
              <a:rPr lang="zh-CN" altLang="en-US" sz="2600" dirty="0"/>
              <a:t>分散，缺乏协调机制</a:t>
            </a:r>
            <a:r>
              <a:rPr lang="zh-CN" altLang="en-US" sz="2600" dirty="0" smtClean="0"/>
              <a:t>。</a:t>
            </a:r>
            <a:endParaRPr lang="en-US" altLang="zh-CN" sz="2600" dirty="0" smtClean="0"/>
          </a:p>
          <a:p>
            <a:r>
              <a:rPr lang="zh-CN" altLang="en-US" sz="2600" dirty="0"/>
              <a:t>知识产权内容不完善，</a:t>
            </a:r>
            <a:r>
              <a:rPr lang="zh-CN" altLang="en-US" sz="2600" dirty="0" smtClean="0"/>
              <a:t>立法程序</a:t>
            </a:r>
            <a:r>
              <a:rPr lang="zh-CN" altLang="en-US" sz="2600" dirty="0"/>
              <a:t>透明度低，征求意见不广泛</a:t>
            </a:r>
            <a:r>
              <a:rPr lang="zh-CN" altLang="en-US" sz="2600" dirty="0" smtClean="0"/>
              <a:t>。</a:t>
            </a:r>
            <a:endParaRPr lang="en-US" altLang="zh-CN" sz="2600" dirty="0" smtClean="0"/>
          </a:p>
          <a:p>
            <a:r>
              <a:rPr lang="zh-CN" altLang="en-US" sz="2600" dirty="0"/>
              <a:t>知识产权从业人员缺失</a:t>
            </a:r>
            <a:r>
              <a:rPr lang="zh-CN" altLang="en-US" sz="2600" dirty="0" smtClean="0"/>
              <a:t>，人才</a:t>
            </a:r>
            <a:r>
              <a:rPr lang="zh-CN" altLang="en-US" sz="2600" dirty="0"/>
              <a:t>队伍建设不健全。</a:t>
            </a:r>
            <a:endParaRPr lang="en-US" altLang="zh-CN" sz="2600" dirty="0" smtClean="0"/>
          </a:p>
        </p:txBody>
      </p:sp>
      <p:sp>
        <p:nvSpPr>
          <p:cNvPr id="3" name="灯片编号占位符 2"/>
          <p:cNvSpPr>
            <a:spLocks noGrp="1"/>
          </p:cNvSpPr>
          <p:nvPr>
            <p:ph type="sldNum" sz="quarter" idx="12"/>
          </p:nvPr>
        </p:nvSpPr>
        <p:spPr/>
        <p:txBody>
          <a:bodyPr/>
          <a:lstStyle/>
          <a:p>
            <a:fld id="{0C913308-F349-4B6D-A68A-DD1791B4A57B}" type="slidenum">
              <a:rPr lang="zh-CN" altLang="en-US" smtClean="0"/>
              <a:t>20</a:t>
            </a:fld>
            <a:endParaRPr lang="zh-CN" altLang="en-US"/>
          </a:p>
        </p:txBody>
      </p:sp>
      <p:sp>
        <p:nvSpPr>
          <p:cNvPr id="4" name="标题 3"/>
          <p:cNvSpPr>
            <a:spLocks noGrp="1"/>
          </p:cNvSpPr>
          <p:nvPr>
            <p:ph type="title"/>
          </p:nvPr>
        </p:nvSpPr>
        <p:spPr/>
        <p:txBody>
          <a:bodyPr/>
          <a:lstStyle/>
          <a:p>
            <a:r>
              <a:rPr lang="zh-CN" altLang="en-US" dirty="0" smtClean="0"/>
              <a:t>存在的问题</a:t>
            </a:r>
            <a:endParaRPr lang="zh-CN" altLang="en-US" dirty="0"/>
          </a:p>
        </p:txBody>
      </p:sp>
    </p:spTree>
    <p:extLst>
      <p:ext uri="{BB962C8B-B14F-4D97-AF65-F5344CB8AC3E}">
        <p14:creationId xmlns:p14="http://schemas.microsoft.com/office/powerpoint/2010/main" val="1212577910"/>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481328"/>
            <a:ext cx="9144000" cy="5260040"/>
          </a:xfrm>
        </p:spPr>
        <p:txBody>
          <a:bodyPr>
            <a:noAutofit/>
          </a:bodyPr>
          <a:lstStyle/>
          <a:p>
            <a:r>
              <a:rPr lang="zh-CN" altLang="en-US" sz="2800" dirty="0"/>
              <a:t>北京易查无限信息技术有限公司、于东侵犯著作权</a:t>
            </a:r>
            <a:r>
              <a:rPr lang="zh-CN" altLang="en-US" sz="2800" dirty="0" smtClean="0"/>
              <a:t>罪案</a:t>
            </a:r>
            <a:endParaRPr lang="en-US" altLang="zh-CN" sz="2800" dirty="0"/>
          </a:p>
          <a:p>
            <a:r>
              <a:rPr lang="zh-CN" altLang="en-US" sz="2800" dirty="0"/>
              <a:t>结果：法院认定，“易查网”直接向网络用户提供了涉案文字作品。易查公司未经著作权人许可，通过“易查网”传播他人享有著作权的文字作品</a:t>
            </a:r>
            <a:r>
              <a:rPr lang="en-US" altLang="zh-CN" sz="2800" dirty="0"/>
              <a:t>500</a:t>
            </a:r>
            <a:r>
              <a:rPr lang="zh-CN" altLang="en-US" sz="2800" dirty="0"/>
              <a:t>余部，情节严重，已构成侵犯著作权罪</a:t>
            </a:r>
            <a:r>
              <a:rPr lang="zh-CN" altLang="en-US" sz="2800" dirty="0" smtClean="0"/>
              <a:t>。依法</a:t>
            </a:r>
            <a:r>
              <a:rPr lang="zh-CN" altLang="en-US" sz="2800" dirty="0"/>
              <a:t>判处单位罚金，判处于东缓刑及罚金</a:t>
            </a:r>
            <a:r>
              <a:rPr lang="zh-CN" altLang="en-US" sz="2800" dirty="0" smtClean="0"/>
              <a:t>。</a:t>
            </a:r>
            <a:endParaRPr lang="zh-CN" altLang="en-US" sz="2800" dirty="0"/>
          </a:p>
          <a:p>
            <a:r>
              <a:rPr lang="zh-CN" altLang="en-US" sz="2800" dirty="0" smtClean="0"/>
              <a:t>权威解读：本</a:t>
            </a:r>
            <a:r>
              <a:rPr lang="zh-CN" altLang="en-US" sz="2800" dirty="0"/>
              <a:t>案较好地展现了在技术飞速发展的时代背景下，知识产权司法保护在坚持技术中立的同时，如何结合技术事实认真厘清有关技术是否超越法律范围、侵犯他人合法权利的标准</a:t>
            </a:r>
            <a:r>
              <a:rPr lang="zh-CN" altLang="en-US" sz="2800" dirty="0" smtClean="0"/>
              <a:t>。</a:t>
            </a:r>
            <a:endParaRPr lang="zh-CN" altLang="en-US" sz="2800"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21</a:t>
            </a:fld>
            <a:endParaRPr lang="zh-CN" altLang="en-US"/>
          </a:p>
        </p:txBody>
      </p:sp>
      <p:sp>
        <p:nvSpPr>
          <p:cNvPr id="4" name="标题 3"/>
          <p:cNvSpPr>
            <a:spLocks noGrp="1"/>
          </p:cNvSpPr>
          <p:nvPr>
            <p:ph type="title"/>
          </p:nvPr>
        </p:nvSpPr>
        <p:spPr/>
        <p:txBody>
          <a:bodyPr/>
          <a:lstStyle/>
          <a:p>
            <a:r>
              <a:rPr lang="zh-CN" altLang="en-US" dirty="0" smtClean="0"/>
              <a:t>典型案例</a:t>
            </a:r>
            <a:r>
              <a:rPr lang="en-US" altLang="zh-CN" dirty="0" smtClean="0"/>
              <a:t>1</a:t>
            </a:r>
            <a:endParaRPr lang="zh-CN" altLang="en-US" dirty="0"/>
          </a:p>
        </p:txBody>
      </p:sp>
    </p:spTree>
    <p:extLst>
      <p:ext uri="{BB962C8B-B14F-4D97-AF65-F5344CB8AC3E}">
        <p14:creationId xmlns:p14="http://schemas.microsoft.com/office/powerpoint/2010/main" val="2007525147"/>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0" y="1481328"/>
            <a:ext cx="9144000" cy="5116024"/>
          </a:xfrm>
        </p:spPr>
        <p:txBody>
          <a:bodyPr>
            <a:normAutofit lnSpcReduction="10000"/>
          </a:bodyPr>
          <a:lstStyle/>
          <a:p>
            <a:r>
              <a:rPr lang="zh-CN" altLang="en-US" sz="2800" dirty="0"/>
              <a:t>“销售盗版网络游戏”侵犯著作权罪案</a:t>
            </a:r>
            <a:endParaRPr lang="en-US" altLang="zh-CN" sz="2800" dirty="0" smtClean="0"/>
          </a:p>
          <a:p>
            <a:r>
              <a:rPr lang="en-US" altLang="zh-CN" sz="2800" dirty="0" smtClean="0"/>
              <a:t>2016</a:t>
            </a:r>
            <a:r>
              <a:rPr lang="zh-CN" altLang="en-US" sz="2800" dirty="0" smtClean="0"/>
              <a:t>年以来，</a:t>
            </a:r>
            <a:r>
              <a:rPr lang="zh-CN" altLang="en-US" sz="2800" dirty="0"/>
              <a:t>黄明伙同他人，未经著作权人北京闲徕互娱网络科技</a:t>
            </a:r>
            <a:r>
              <a:rPr lang="zh-CN" altLang="en-US" sz="2800" dirty="0" smtClean="0"/>
              <a:t>有限公司许可</a:t>
            </a:r>
            <a:r>
              <a:rPr lang="zh-CN" altLang="en-US" sz="2800" dirty="0"/>
              <a:t>，运营</a:t>
            </a:r>
            <a:r>
              <a:rPr lang="zh-CN" altLang="en-US" sz="2800" dirty="0" smtClean="0"/>
              <a:t>与该公司</a:t>
            </a:r>
            <a:r>
              <a:rPr lang="zh-CN" altLang="en-US" sz="2800" dirty="0"/>
              <a:t>享有著作权的“闲徕琼崖海南麻将”游戏源代码具有高度同一性的“巨石海南麻将”游戏，并通过代理人员销售用于启动游戏的虚拟货币的方式进行非法营利，非法经营数额</a:t>
            </a:r>
            <a:r>
              <a:rPr lang="en-US" altLang="zh-CN" sz="2800" dirty="0" smtClean="0"/>
              <a:t>162912.9</a:t>
            </a:r>
            <a:r>
              <a:rPr lang="zh-CN" altLang="en-US" sz="2800" dirty="0"/>
              <a:t>元</a:t>
            </a:r>
            <a:r>
              <a:rPr lang="zh-CN" altLang="en-US" sz="2800" dirty="0" smtClean="0"/>
              <a:t>。法院认为</a:t>
            </a:r>
            <a:r>
              <a:rPr lang="zh-CN" altLang="en-US" sz="2800" dirty="0"/>
              <a:t>巨石在线（北京）科技</a:t>
            </a:r>
            <a:r>
              <a:rPr lang="zh-CN" altLang="en-US" sz="2800" dirty="0" smtClean="0"/>
              <a:t>有限公司、</a:t>
            </a:r>
            <a:r>
              <a:rPr lang="zh-CN" altLang="en-US" sz="2800" dirty="0"/>
              <a:t>黄明的行为触犯了刑法第二百一十七条、第三十一条之规定，已构成侵犯著作权罪，提请依法惩处</a:t>
            </a:r>
            <a:r>
              <a:rPr lang="zh-CN" altLang="en-US" sz="2800" dirty="0" smtClean="0"/>
              <a:t>。</a:t>
            </a:r>
            <a:endParaRPr lang="en-US" altLang="zh-CN" sz="2800" dirty="0" smtClean="0"/>
          </a:p>
          <a:p>
            <a:r>
              <a:rPr lang="zh-CN" altLang="en-US" sz="2800" dirty="0" smtClean="0"/>
              <a:t>依照</a:t>
            </a:r>
            <a:r>
              <a:rPr lang="zh-CN" altLang="en-US" sz="2800" dirty="0"/>
              <a:t>刑法有关规定，判决：巨石在线公司犯侵犯著作权罪，判处罚金</a:t>
            </a:r>
            <a:r>
              <a:rPr lang="en-US" altLang="zh-CN" sz="2800" dirty="0"/>
              <a:t>20</a:t>
            </a:r>
            <a:r>
              <a:rPr lang="zh-CN" altLang="en-US" sz="2800" dirty="0"/>
              <a:t>万元；黄明犯侵犯著作权罪，判处有期徒刑</a:t>
            </a:r>
            <a:r>
              <a:rPr lang="en-US" altLang="zh-CN" sz="2800" dirty="0"/>
              <a:t>1</a:t>
            </a:r>
            <a:r>
              <a:rPr lang="zh-CN" altLang="en-US" sz="2800" dirty="0"/>
              <a:t>年，罚金</a:t>
            </a:r>
            <a:r>
              <a:rPr lang="en-US" altLang="zh-CN" sz="2800" dirty="0"/>
              <a:t>10</a:t>
            </a:r>
            <a:r>
              <a:rPr lang="zh-CN" altLang="en-US" sz="2800" dirty="0"/>
              <a:t>万元</a:t>
            </a:r>
            <a:r>
              <a:rPr lang="zh-CN" altLang="en-US" sz="2800" dirty="0" smtClean="0"/>
              <a:t>。</a:t>
            </a:r>
            <a:endParaRPr lang="zh-CN" altLang="en-US" sz="2800" dirty="0"/>
          </a:p>
          <a:p>
            <a:endParaRPr lang="zh-CN" altLang="en-US" dirty="0"/>
          </a:p>
          <a:p>
            <a:endParaRPr lang="zh-CN" altLang="en-US" dirty="0"/>
          </a:p>
          <a:p>
            <a:endParaRPr lang="zh-CN" altLang="en-US" dirty="0"/>
          </a:p>
        </p:txBody>
      </p:sp>
      <p:sp>
        <p:nvSpPr>
          <p:cNvPr id="3" name="灯片编号占位符 2"/>
          <p:cNvSpPr>
            <a:spLocks noGrp="1"/>
          </p:cNvSpPr>
          <p:nvPr>
            <p:ph type="sldNum" sz="quarter" idx="12"/>
          </p:nvPr>
        </p:nvSpPr>
        <p:spPr/>
        <p:txBody>
          <a:bodyPr/>
          <a:lstStyle/>
          <a:p>
            <a:fld id="{0C913308-F349-4B6D-A68A-DD1791B4A57B}" type="slidenum">
              <a:rPr lang="zh-CN" altLang="en-US" smtClean="0"/>
              <a:t>22</a:t>
            </a:fld>
            <a:endParaRPr lang="zh-CN" altLang="en-US"/>
          </a:p>
        </p:txBody>
      </p:sp>
      <p:sp>
        <p:nvSpPr>
          <p:cNvPr id="4" name="标题 3"/>
          <p:cNvSpPr>
            <a:spLocks noGrp="1"/>
          </p:cNvSpPr>
          <p:nvPr>
            <p:ph type="title"/>
          </p:nvPr>
        </p:nvSpPr>
        <p:spPr/>
        <p:txBody>
          <a:bodyPr/>
          <a:lstStyle/>
          <a:p>
            <a:r>
              <a:rPr lang="zh-CN" altLang="en-US" dirty="0" smtClean="0"/>
              <a:t>典型案例</a:t>
            </a:r>
            <a:r>
              <a:rPr lang="en-US" altLang="zh-CN" dirty="0" smtClean="0"/>
              <a:t>2</a:t>
            </a:r>
            <a:endParaRPr lang="zh-CN" altLang="en-US" dirty="0"/>
          </a:p>
        </p:txBody>
      </p:sp>
    </p:spTree>
    <p:extLst>
      <p:ext uri="{BB962C8B-B14F-4D97-AF65-F5344CB8AC3E}">
        <p14:creationId xmlns:p14="http://schemas.microsoft.com/office/powerpoint/2010/main" val="137293169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3275AD3A-F682-4507-A536-021C2F2EC3BB}"/>
              </a:ext>
            </a:extLst>
          </p:cNvPr>
          <p:cNvSpPr>
            <a:spLocks noGrp="1"/>
          </p:cNvSpPr>
          <p:nvPr>
            <p:ph idx="1"/>
          </p:nvPr>
        </p:nvSpPr>
        <p:spPr>
          <a:xfrm>
            <a:off x="683569" y="1844824"/>
            <a:ext cx="8064896" cy="4281339"/>
          </a:xfrm>
        </p:spPr>
        <p:txBody>
          <a:bodyPr>
            <a:normAutofit/>
          </a:bodyPr>
          <a:lstStyle/>
          <a:p>
            <a:pPr>
              <a:lnSpc>
                <a:spcPct val="150000"/>
              </a:lnSpc>
            </a:pPr>
            <a:r>
              <a:rPr lang="zh-CN" altLang="en-US" sz="2800" dirty="0"/>
              <a:t>我们中的大多数将会成为计算机专业的从业人员。</a:t>
            </a:r>
            <a:endParaRPr lang="en-US" altLang="zh-CN" sz="2800" dirty="0"/>
          </a:p>
          <a:p>
            <a:pPr>
              <a:lnSpc>
                <a:spcPct val="150000"/>
              </a:lnSpc>
            </a:pPr>
            <a:r>
              <a:rPr lang="en-US" altLang="zh-CN" sz="2800" dirty="0"/>
              <a:t>IT</a:t>
            </a:r>
            <a:r>
              <a:rPr lang="zh-CN" altLang="zh-CN" sz="2800" dirty="0"/>
              <a:t>行业的</a:t>
            </a:r>
            <a:r>
              <a:rPr lang="zh-CN" altLang="en-US" sz="2800" dirty="0"/>
              <a:t>显著</a:t>
            </a:r>
            <a:r>
              <a:rPr lang="zh-CN" altLang="zh-CN" sz="2800" dirty="0"/>
              <a:t>特点：高科技、知识密集、发展速度快、创新速度快</a:t>
            </a:r>
            <a:r>
              <a:rPr lang="zh-CN" altLang="en-US" sz="2800" dirty="0"/>
              <a:t>。</a:t>
            </a:r>
            <a:endParaRPr lang="en-US" altLang="zh-CN" sz="2800" dirty="0"/>
          </a:p>
          <a:p>
            <a:pPr>
              <a:lnSpc>
                <a:spcPct val="150000"/>
              </a:lnSpc>
            </a:pPr>
            <a:r>
              <a:rPr lang="zh-CN" altLang="en-US" sz="2800" dirty="0" smtClean="0"/>
              <a:t>作为计算机专业的一名大学生，你是否了解</a:t>
            </a:r>
            <a:r>
              <a:rPr lang="zh-CN" altLang="zh-CN" sz="2800" dirty="0" smtClean="0"/>
              <a:t>从事</a:t>
            </a:r>
            <a:r>
              <a:rPr lang="en-US" altLang="zh-CN" sz="2800" dirty="0" smtClean="0"/>
              <a:t>IT</a:t>
            </a:r>
            <a:r>
              <a:rPr lang="zh-CN" altLang="zh-CN" sz="2800" dirty="0" smtClean="0"/>
              <a:t>职业的人员需要什么职业素养呢？</a:t>
            </a:r>
          </a:p>
          <a:p>
            <a:pPr>
              <a:lnSpc>
                <a:spcPct val="150000"/>
              </a:lnSpc>
            </a:pPr>
            <a:endParaRPr lang="zh-CN" altLang="zh-CN" dirty="0"/>
          </a:p>
          <a:p>
            <a:endParaRPr lang="zh-CN" altLang="en-US" dirty="0"/>
          </a:p>
        </p:txBody>
      </p:sp>
      <p:sp>
        <p:nvSpPr>
          <p:cNvPr id="3" name="标题 2">
            <a:extLst>
              <a:ext uri="{FF2B5EF4-FFF2-40B4-BE49-F238E27FC236}">
                <a16:creationId xmlns:a16="http://schemas.microsoft.com/office/drawing/2014/main" xmlns="" id="{D55F7D01-C9A7-4A2C-97E3-0C5B88EFDA57}"/>
              </a:ext>
            </a:extLst>
          </p:cNvPr>
          <p:cNvSpPr>
            <a:spLocks noGrp="1"/>
          </p:cNvSpPr>
          <p:nvPr>
            <p:ph type="title"/>
          </p:nvPr>
        </p:nvSpPr>
        <p:spPr/>
        <p:txBody>
          <a:bodyPr>
            <a:normAutofit fontScale="90000"/>
          </a:bodyPr>
          <a:lstStyle/>
          <a:p>
            <a:pPr lvl="1" algn="ctr" rtl="0">
              <a:spcBef>
                <a:spcPct val="0"/>
              </a:spcBef>
            </a:pPr>
            <a:r>
              <a:rPr lang="zh-CN" altLang="en-US" sz="4400" kern="1200" dirty="0" smtClean="0">
                <a:solidFill>
                  <a:srgbClr val="FFFFFF"/>
                </a:solidFill>
                <a:latin typeface="+mj-lt"/>
                <a:ea typeface="+mj-ea"/>
                <a:cs typeface="+mj-cs"/>
              </a:rPr>
              <a:t>职业规范与职业素养（课程指标点）</a:t>
            </a:r>
            <a:r>
              <a:rPr lang="zh-CN" altLang="zh-CN" sz="2400" dirty="0"/>
              <a:t/>
            </a:r>
            <a:br>
              <a:rPr lang="zh-CN" altLang="zh-CN" sz="2400" dirty="0"/>
            </a:b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23</a:t>
            </a:fld>
            <a:endParaRPr lang="zh-CN" altLang="en-US"/>
          </a:p>
        </p:txBody>
      </p:sp>
    </p:spTree>
    <p:extLst>
      <p:ext uri="{BB962C8B-B14F-4D97-AF65-F5344CB8AC3E}">
        <p14:creationId xmlns:p14="http://schemas.microsoft.com/office/powerpoint/2010/main" val="63902749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722A1CA2-D6F9-42C2-801C-824AEA31B7E3}"/>
              </a:ext>
            </a:extLst>
          </p:cNvPr>
          <p:cNvSpPr>
            <a:spLocks noGrp="1"/>
          </p:cNvSpPr>
          <p:nvPr>
            <p:ph idx="1"/>
          </p:nvPr>
        </p:nvSpPr>
        <p:spPr>
          <a:xfrm>
            <a:off x="539552" y="1844824"/>
            <a:ext cx="8208911" cy="4281339"/>
          </a:xfrm>
        </p:spPr>
        <p:txBody>
          <a:bodyPr>
            <a:noAutofit/>
          </a:bodyPr>
          <a:lstStyle/>
          <a:p>
            <a:pPr>
              <a:lnSpc>
                <a:spcPct val="150000"/>
              </a:lnSpc>
            </a:pPr>
            <a:r>
              <a:rPr lang="zh-CN" altLang="zh-CN" sz="2800" b="1" dirty="0">
                <a:solidFill>
                  <a:srgbClr val="FF0000"/>
                </a:solidFill>
              </a:rPr>
              <a:t>职业素养</a:t>
            </a:r>
            <a:r>
              <a:rPr lang="zh-CN" altLang="zh-CN" sz="2800" dirty="0"/>
              <a:t>是指职业内在的规范和要求</a:t>
            </a:r>
            <a:r>
              <a:rPr lang="zh-CN" altLang="en-US" sz="2800" dirty="0"/>
              <a:t>，</a:t>
            </a:r>
            <a:r>
              <a:rPr lang="zh-CN" altLang="zh-CN" sz="2800" dirty="0"/>
              <a:t>是在职业过程中表现出来的综合品质，包含</a:t>
            </a:r>
            <a:r>
              <a:rPr lang="zh-CN" altLang="zh-CN" sz="2800" dirty="0">
                <a:solidFill>
                  <a:srgbClr val="FF0000"/>
                </a:solidFill>
              </a:rPr>
              <a:t>职业道德</a:t>
            </a:r>
            <a:r>
              <a:rPr lang="zh-CN" altLang="zh-CN" sz="2800" dirty="0"/>
              <a:t>、</a:t>
            </a:r>
            <a:r>
              <a:rPr lang="zh-CN" altLang="zh-CN" sz="2800" dirty="0">
                <a:solidFill>
                  <a:srgbClr val="FF0000"/>
                </a:solidFill>
              </a:rPr>
              <a:t>职业技能</a:t>
            </a:r>
            <a:r>
              <a:rPr lang="zh-CN" altLang="zh-CN" sz="2800" dirty="0"/>
              <a:t>、</a:t>
            </a:r>
            <a:r>
              <a:rPr lang="zh-CN" altLang="zh-CN" sz="2800" dirty="0">
                <a:solidFill>
                  <a:srgbClr val="FF0000"/>
                </a:solidFill>
              </a:rPr>
              <a:t>职业行为</a:t>
            </a:r>
            <a:r>
              <a:rPr lang="zh-CN" altLang="zh-CN" sz="2800" dirty="0"/>
              <a:t>、</a:t>
            </a:r>
            <a:r>
              <a:rPr lang="zh-CN" altLang="zh-CN" sz="2800" dirty="0">
                <a:solidFill>
                  <a:srgbClr val="FF0000"/>
                </a:solidFill>
              </a:rPr>
              <a:t>职业作风</a:t>
            </a:r>
            <a:r>
              <a:rPr lang="zh-CN" altLang="zh-CN" sz="2800" dirty="0"/>
              <a:t>和</a:t>
            </a:r>
            <a:r>
              <a:rPr lang="zh-CN" altLang="zh-CN" sz="2800" dirty="0">
                <a:solidFill>
                  <a:srgbClr val="FF0000"/>
                </a:solidFill>
              </a:rPr>
              <a:t>职业意识</a:t>
            </a:r>
            <a:r>
              <a:rPr lang="zh-CN" altLang="zh-CN" sz="2800" dirty="0"/>
              <a:t>等方面 。</a:t>
            </a:r>
            <a:endParaRPr lang="en-US" altLang="zh-CN" sz="2800" dirty="0"/>
          </a:p>
          <a:p>
            <a:pPr>
              <a:lnSpc>
                <a:spcPct val="150000"/>
              </a:lnSpc>
            </a:pPr>
            <a:r>
              <a:rPr lang="en-US" altLang="zh-CN" sz="2800" dirty="0"/>
              <a:t>IT</a:t>
            </a:r>
            <a:r>
              <a:rPr lang="zh-CN" altLang="zh-CN" sz="2800" dirty="0"/>
              <a:t>职业人的职业素养包括三个核心内容：</a:t>
            </a:r>
            <a:r>
              <a:rPr lang="zh-CN" altLang="zh-CN" sz="2800" dirty="0">
                <a:solidFill>
                  <a:srgbClr val="FF0000"/>
                </a:solidFill>
              </a:rPr>
              <a:t>职业信念</a:t>
            </a:r>
            <a:r>
              <a:rPr lang="zh-CN" altLang="zh-CN" sz="2800" dirty="0"/>
              <a:t>，</a:t>
            </a:r>
            <a:r>
              <a:rPr lang="zh-CN" altLang="zh-CN" sz="2800" dirty="0">
                <a:solidFill>
                  <a:srgbClr val="FF0000"/>
                </a:solidFill>
              </a:rPr>
              <a:t>职业知识技能</a:t>
            </a:r>
            <a:r>
              <a:rPr lang="zh-CN" altLang="zh-CN" sz="2800" dirty="0"/>
              <a:t>和</a:t>
            </a:r>
            <a:r>
              <a:rPr lang="zh-CN" altLang="zh-CN" sz="2800" dirty="0">
                <a:solidFill>
                  <a:srgbClr val="FF0000"/>
                </a:solidFill>
              </a:rPr>
              <a:t>职业行为习惯</a:t>
            </a:r>
            <a:r>
              <a:rPr lang="zh-CN" altLang="zh-CN" sz="2800" dirty="0"/>
              <a:t>。</a:t>
            </a:r>
            <a:endParaRPr lang="zh-CN" altLang="en-US" sz="2800" dirty="0"/>
          </a:p>
        </p:txBody>
      </p:sp>
      <p:sp>
        <p:nvSpPr>
          <p:cNvPr id="3" name="标题 2">
            <a:extLst>
              <a:ext uri="{FF2B5EF4-FFF2-40B4-BE49-F238E27FC236}">
                <a16:creationId xmlns:a16="http://schemas.microsoft.com/office/drawing/2014/main" xmlns="" id="{B45AAB02-AF8D-4A79-9246-3D4C0E457F25}"/>
              </a:ext>
            </a:extLst>
          </p:cNvPr>
          <p:cNvSpPr>
            <a:spLocks noGrp="1"/>
          </p:cNvSpPr>
          <p:nvPr>
            <p:ph type="title"/>
          </p:nvPr>
        </p:nvSpPr>
        <p:spPr/>
        <p:txBody>
          <a:bodyPr/>
          <a:lstStyle/>
          <a:p>
            <a:r>
              <a:rPr lang="zh-CN" altLang="en-US" dirty="0"/>
              <a:t>职业</a:t>
            </a:r>
            <a:r>
              <a:rPr lang="zh-CN" altLang="en-US" dirty="0" smtClean="0"/>
              <a:t>素养概念</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24</a:t>
            </a:fld>
            <a:endParaRPr lang="zh-CN" altLang="en-US"/>
          </a:p>
        </p:txBody>
      </p:sp>
    </p:spTree>
    <p:extLst>
      <p:ext uri="{BB962C8B-B14F-4D97-AF65-F5344CB8AC3E}">
        <p14:creationId xmlns:p14="http://schemas.microsoft.com/office/powerpoint/2010/main" val="20209812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FF1DD8D2-8D2F-4667-9DA4-4A780E634165}"/>
              </a:ext>
            </a:extLst>
          </p:cNvPr>
          <p:cNvSpPr>
            <a:spLocks noGrp="1"/>
          </p:cNvSpPr>
          <p:nvPr>
            <p:ph idx="1"/>
          </p:nvPr>
        </p:nvSpPr>
        <p:spPr>
          <a:xfrm>
            <a:off x="467544" y="1628800"/>
            <a:ext cx="8352928" cy="5040560"/>
          </a:xfrm>
        </p:spPr>
        <p:txBody>
          <a:bodyPr>
            <a:noAutofit/>
          </a:bodyPr>
          <a:lstStyle/>
          <a:p>
            <a:pPr>
              <a:lnSpc>
                <a:spcPct val="140000"/>
              </a:lnSpc>
            </a:pPr>
            <a:r>
              <a:rPr lang="zh-CN" altLang="zh-CN" sz="2800" dirty="0">
                <a:solidFill>
                  <a:srgbClr val="FF0000"/>
                </a:solidFill>
              </a:rPr>
              <a:t>职业信念</a:t>
            </a:r>
            <a:r>
              <a:rPr lang="zh-CN" altLang="zh-CN" sz="2800" dirty="0"/>
              <a:t>是职业素养的核心。良好的职业道德，正面积极的职业心态和正确的职业价值观意识，是一个成功职业人必须具备的核心素养。</a:t>
            </a:r>
            <a:endParaRPr lang="en-US" altLang="zh-CN" sz="2800" dirty="0"/>
          </a:p>
          <a:p>
            <a:pPr>
              <a:lnSpc>
                <a:spcPct val="140000"/>
              </a:lnSpc>
            </a:pPr>
            <a:r>
              <a:rPr lang="zh-CN" altLang="zh-CN" sz="2800" dirty="0">
                <a:solidFill>
                  <a:srgbClr val="FF0000"/>
                </a:solidFill>
              </a:rPr>
              <a:t>职业知识技能</a:t>
            </a:r>
            <a:r>
              <a:rPr lang="zh-CN" altLang="zh-CN" sz="2800" dirty="0"/>
              <a:t>是做好一个职业应该具备的专业知识和能力。</a:t>
            </a:r>
            <a:endParaRPr lang="en-US" altLang="zh-CN" sz="2800" dirty="0"/>
          </a:p>
          <a:p>
            <a:pPr>
              <a:lnSpc>
                <a:spcPct val="140000"/>
              </a:lnSpc>
            </a:pPr>
            <a:r>
              <a:rPr lang="zh-CN" altLang="zh-CN" sz="2800" dirty="0">
                <a:solidFill>
                  <a:srgbClr val="FF0000"/>
                </a:solidFill>
              </a:rPr>
              <a:t>职业行为习惯</a:t>
            </a:r>
            <a:r>
              <a:rPr lang="zh-CN" altLang="zh-CN" sz="2800" dirty="0"/>
              <a:t>，职业素养就是在职场上通过长时间地学习、改变、形成，最后变成习惯的一种职场综合素质。</a:t>
            </a:r>
            <a:endParaRPr lang="zh-CN" altLang="en-US" sz="2800" dirty="0"/>
          </a:p>
        </p:txBody>
      </p:sp>
      <p:sp>
        <p:nvSpPr>
          <p:cNvPr id="3" name="标题 2">
            <a:extLst>
              <a:ext uri="{FF2B5EF4-FFF2-40B4-BE49-F238E27FC236}">
                <a16:creationId xmlns:a16="http://schemas.microsoft.com/office/drawing/2014/main" xmlns="" id="{B275D3DB-F355-4501-87D7-474B8D9BBDFB}"/>
              </a:ext>
            </a:extLst>
          </p:cNvPr>
          <p:cNvSpPr>
            <a:spLocks noGrp="1"/>
          </p:cNvSpPr>
          <p:nvPr>
            <p:ph type="title"/>
          </p:nvPr>
        </p:nvSpPr>
        <p:spPr/>
        <p:txBody>
          <a:bodyPr/>
          <a:lstStyle/>
          <a:p>
            <a:r>
              <a:rPr lang="zh-CN" altLang="en-US" dirty="0"/>
              <a:t>职业素养</a:t>
            </a:r>
            <a:r>
              <a:rPr lang="zh-CN" altLang="en-US" dirty="0" smtClean="0"/>
              <a:t>概念（续）</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25</a:t>
            </a:fld>
            <a:endParaRPr lang="zh-CN" altLang="en-US"/>
          </a:p>
        </p:txBody>
      </p:sp>
    </p:spTree>
    <p:extLst>
      <p:ext uri="{BB962C8B-B14F-4D97-AF65-F5344CB8AC3E}">
        <p14:creationId xmlns:p14="http://schemas.microsoft.com/office/powerpoint/2010/main" val="244843592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7" y="1700808"/>
            <a:ext cx="8291264" cy="4896543"/>
          </a:xfrm>
        </p:spPr>
        <p:txBody>
          <a:bodyPr>
            <a:normAutofit/>
          </a:bodyPr>
          <a:lstStyle/>
          <a:p>
            <a:pPr>
              <a:lnSpc>
                <a:spcPct val="150000"/>
              </a:lnSpc>
            </a:pPr>
            <a:r>
              <a:rPr lang="zh-CN" altLang="zh-CN" sz="2600" dirty="0"/>
              <a:t>世界知名的计算机道德规范组织</a:t>
            </a:r>
            <a:r>
              <a:rPr lang="en-US" altLang="zh-CN" sz="2600" dirty="0"/>
              <a:t>IEEECSACM</a:t>
            </a:r>
            <a:r>
              <a:rPr lang="zh-CN" altLang="zh-CN" sz="2600" dirty="0"/>
              <a:t>软件工程师道德规范和职业实践</a:t>
            </a:r>
            <a:r>
              <a:rPr lang="en-US" altLang="zh-CN" sz="2600" dirty="0"/>
              <a:t>(SEEPP)</a:t>
            </a:r>
            <a:r>
              <a:rPr lang="zh-CN" altLang="zh-CN" sz="2600" dirty="0"/>
              <a:t>联合工作组曾就此专门制订过一个</a:t>
            </a:r>
            <a:r>
              <a:rPr lang="zh-CN" altLang="zh-CN" sz="2600" dirty="0" smtClean="0"/>
              <a:t>规范</a:t>
            </a:r>
            <a:r>
              <a:rPr lang="zh-CN" altLang="en-US" sz="2600" dirty="0" smtClean="0"/>
              <a:t>。该</a:t>
            </a:r>
            <a:r>
              <a:rPr lang="zh-CN" altLang="zh-CN" sz="2600" dirty="0" smtClean="0"/>
              <a:t>规范</a:t>
            </a:r>
            <a:r>
              <a:rPr lang="zh-CN" altLang="zh-CN" sz="2600" dirty="0"/>
              <a:t>计算机职业从业人员职业道德的核心原则包括两</a:t>
            </a:r>
            <a:r>
              <a:rPr lang="zh-CN" altLang="zh-CN" sz="2600" dirty="0" smtClean="0"/>
              <a:t>项</a:t>
            </a:r>
            <a:r>
              <a:rPr lang="zh-CN" altLang="en-US" sz="2600" dirty="0" smtClean="0"/>
              <a:t>：</a:t>
            </a:r>
            <a:endParaRPr lang="en-US" altLang="zh-CN" sz="2600" dirty="0" smtClean="0"/>
          </a:p>
          <a:p>
            <a:pPr lvl="1">
              <a:lnSpc>
                <a:spcPct val="150000"/>
              </a:lnSpc>
            </a:pPr>
            <a:r>
              <a:rPr lang="zh-CN" altLang="zh-CN" sz="2600" dirty="0" smtClean="0"/>
              <a:t>一</a:t>
            </a:r>
            <a:r>
              <a:rPr lang="zh-CN" altLang="zh-CN" sz="2600" dirty="0"/>
              <a:t>是计算机专业人员应当以公众利益为最高目标</a:t>
            </a:r>
            <a:r>
              <a:rPr lang="zh-CN" altLang="zh-CN" sz="2600" dirty="0" smtClean="0"/>
              <a:t>。</a:t>
            </a:r>
            <a:endParaRPr lang="en-US" altLang="zh-CN" sz="2600" dirty="0" smtClean="0"/>
          </a:p>
          <a:p>
            <a:pPr lvl="1">
              <a:lnSpc>
                <a:spcPct val="150000"/>
              </a:lnSpc>
            </a:pPr>
            <a:r>
              <a:rPr lang="zh-CN" altLang="zh-CN" sz="2600" dirty="0" smtClean="0"/>
              <a:t>二</a:t>
            </a:r>
            <a:r>
              <a:rPr lang="zh-CN" altLang="zh-CN" sz="2600" dirty="0"/>
              <a:t>是客户和雇主在保持与公众利益一致的原则下</a:t>
            </a:r>
            <a:r>
              <a:rPr lang="en-US" altLang="zh-CN" sz="2600" dirty="0"/>
              <a:t>,</a:t>
            </a:r>
            <a:r>
              <a:rPr lang="zh-CN" altLang="zh-CN" sz="2600" dirty="0"/>
              <a:t>计算机专业人员应注意满足客户和雇主的最高利益。</a:t>
            </a:r>
          </a:p>
          <a:p>
            <a:endParaRPr lang="zh-CN" altLang="en-US" dirty="0"/>
          </a:p>
        </p:txBody>
      </p:sp>
      <p:sp>
        <p:nvSpPr>
          <p:cNvPr id="3" name="标题 2"/>
          <p:cNvSpPr>
            <a:spLocks noGrp="1"/>
          </p:cNvSpPr>
          <p:nvPr>
            <p:ph type="title"/>
          </p:nvPr>
        </p:nvSpPr>
        <p:spPr/>
        <p:txBody>
          <a:bodyPr/>
          <a:lstStyle/>
          <a:p>
            <a:r>
              <a:rPr lang="zh-CN" altLang="en-US" dirty="0" smtClean="0"/>
              <a:t>职业规范</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26</a:t>
            </a:fld>
            <a:endParaRPr lang="zh-CN" altLang="en-US"/>
          </a:p>
        </p:txBody>
      </p:sp>
    </p:spTree>
    <p:extLst>
      <p:ext uri="{BB962C8B-B14F-4D97-AF65-F5344CB8AC3E}">
        <p14:creationId xmlns:p14="http://schemas.microsoft.com/office/powerpoint/2010/main" val="263816390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251520" y="1628800"/>
            <a:ext cx="8856984" cy="5112567"/>
          </a:xfrm>
        </p:spPr>
        <p:txBody>
          <a:bodyPr>
            <a:normAutofit fontScale="92500" lnSpcReduction="20000"/>
          </a:bodyPr>
          <a:lstStyle/>
          <a:p>
            <a:r>
              <a:rPr lang="zh-CN" altLang="zh-CN" sz="2800" dirty="0"/>
              <a:t>《刑法》规定的计算机类的犯罪有</a:t>
            </a:r>
            <a:r>
              <a:rPr lang="zh-CN" altLang="zh-CN" sz="2800" dirty="0" smtClean="0"/>
              <a:t>两种</a:t>
            </a:r>
            <a:r>
              <a:rPr lang="zh-CN" altLang="en-US" sz="2800" dirty="0" smtClean="0"/>
              <a:t>：</a:t>
            </a:r>
            <a:r>
              <a:rPr lang="zh-CN" altLang="zh-CN" sz="2800" dirty="0" smtClean="0"/>
              <a:t>非法</a:t>
            </a:r>
            <a:r>
              <a:rPr lang="zh-CN" altLang="zh-CN" sz="2800" dirty="0"/>
              <a:t>侵入计算机信息系统罪和破坏计算机信息系统罪</a:t>
            </a:r>
            <a:r>
              <a:rPr lang="zh-CN" altLang="zh-CN" sz="2800" dirty="0" smtClean="0"/>
              <a:t>。</a:t>
            </a:r>
            <a:r>
              <a:rPr lang="zh-CN" altLang="en-US" sz="2800" dirty="0" smtClean="0"/>
              <a:t>相关规定包括：</a:t>
            </a:r>
            <a:endParaRPr lang="zh-CN" altLang="zh-CN" sz="2800" dirty="0"/>
          </a:p>
          <a:p>
            <a:pPr lvl="1"/>
            <a:r>
              <a:rPr lang="zh-CN" altLang="zh-CN" sz="2500" dirty="0">
                <a:solidFill>
                  <a:srgbClr val="FF0000"/>
                </a:solidFill>
              </a:rPr>
              <a:t>第二百八十五条</a:t>
            </a:r>
            <a:r>
              <a:rPr lang="zh-CN" altLang="zh-CN" sz="2500" dirty="0"/>
              <a:t>规定：“违反国家规定，侵入国家事务、国防建设、尖端科学技术领域的计算机信息系统的，处三年以下有期徒刑或者拘役。</a:t>
            </a:r>
            <a:r>
              <a:rPr lang="zh-CN" altLang="zh-CN" sz="2500" dirty="0" smtClean="0"/>
              <a:t>”</a:t>
            </a:r>
            <a:endParaRPr lang="en-US" altLang="zh-CN" sz="2500" dirty="0" smtClean="0"/>
          </a:p>
          <a:p>
            <a:pPr lvl="1"/>
            <a:r>
              <a:rPr lang="zh-CN" altLang="zh-CN" sz="2500" dirty="0" smtClean="0">
                <a:solidFill>
                  <a:srgbClr val="FF0000"/>
                </a:solidFill>
              </a:rPr>
              <a:t>第二百八十六</a:t>
            </a:r>
            <a:r>
              <a:rPr lang="zh-CN" altLang="zh-CN" sz="2500" dirty="0">
                <a:solidFill>
                  <a:srgbClr val="FF0000"/>
                </a:solidFill>
              </a:rPr>
              <a:t>条</a:t>
            </a:r>
            <a:r>
              <a:rPr lang="zh-CN" altLang="zh-CN" sz="2500" dirty="0"/>
              <a:t>规定：“违反国家规定，对计算机信息系统功能进行删除、修改、增加、干扰，造成计算机信息系统不能正常运行，后果严重的，处五年以下有期徒刑或者拘役；后果特别严重的，处五年以上有期徒刑。违反国家规定，对计算机信息系统中存储、处理或者传输的数据和应用程序进行删除、修改、增加的操作，后果严重的，依照前款的规定处罚。故意制作、传播计算机病毒等破坏性程序，影响计算机系统正常运行，后果严重的，依照第一款的规定处罚。</a:t>
            </a:r>
            <a:r>
              <a:rPr lang="zh-CN" altLang="zh-CN" sz="2500" dirty="0" smtClean="0"/>
              <a:t>”</a:t>
            </a:r>
            <a:endParaRPr lang="en-US" altLang="zh-CN" sz="2500" dirty="0" smtClean="0"/>
          </a:p>
          <a:p>
            <a:pPr lvl="1"/>
            <a:r>
              <a:rPr lang="zh-CN" altLang="zh-CN" sz="2500" dirty="0" smtClean="0">
                <a:solidFill>
                  <a:srgbClr val="FF0000"/>
                </a:solidFill>
              </a:rPr>
              <a:t>第二百八十七</a:t>
            </a:r>
            <a:r>
              <a:rPr lang="zh-CN" altLang="zh-CN" sz="2500" dirty="0">
                <a:solidFill>
                  <a:srgbClr val="FF0000"/>
                </a:solidFill>
              </a:rPr>
              <a:t>条</a:t>
            </a:r>
            <a:r>
              <a:rPr lang="zh-CN" altLang="zh-CN" sz="2500" dirty="0"/>
              <a:t>规定：“利用计算机实施金融诈骗、盗窃、贪污、挪用公款、窃取国家秘密或者其他犯罪的，依照本法有关规定定罪处罚。”</a:t>
            </a:r>
          </a:p>
          <a:p>
            <a:endParaRPr lang="zh-CN" altLang="en-US" dirty="0"/>
          </a:p>
        </p:txBody>
      </p:sp>
      <p:sp>
        <p:nvSpPr>
          <p:cNvPr id="3" name="标题 2"/>
          <p:cNvSpPr>
            <a:spLocks noGrp="1"/>
          </p:cNvSpPr>
          <p:nvPr>
            <p:ph type="title"/>
          </p:nvPr>
        </p:nvSpPr>
        <p:spPr/>
        <p:txBody>
          <a:bodyPr/>
          <a:lstStyle/>
          <a:p>
            <a:r>
              <a:rPr lang="zh-CN" altLang="en-US" dirty="0" smtClean="0"/>
              <a:t>相关法律法规</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27</a:t>
            </a:fld>
            <a:endParaRPr lang="zh-CN" altLang="en-US"/>
          </a:p>
        </p:txBody>
      </p:sp>
    </p:spTree>
    <p:extLst>
      <p:ext uri="{BB962C8B-B14F-4D97-AF65-F5344CB8AC3E}">
        <p14:creationId xmlns:p14="http://schemas.microsoft.com/office/powerpoint/2010/main" val="289727294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395536" y="1628800"/>
            <a:ext cx="8352927" cy="4497363"/>
          </a:xfrm>
        </p:spPr>
        <p:txBody>
          <a:bodyPr>
            <a:normAutofit/>
          </a:bodyPr>
          <a:lstStyle/>
          <a:p>
            <a:r>
              <a:rPr lang="en-US" altLang="zh-CN" sz="3200" dirty="0"/>
              <a:t>2016</a:t>
            </a:r>
            <a:r>
              <a:rPr lang="zh-CN" altLang="zh-CN" sz="3200" dirty="0"/>
              <a:t>年至</a:t>
            </a:r>
            <a:r>
              <a:rPr lang="en-US" altLang="zh-CN" sz="3200" dirty="0"/>
              <a:t>2018</a:t>
            </a:r>
            <a:r>
              <a:rPr lang="zh-CN" altLang="zh-CN" sz="3200" dirty="0"/>
              <a:t>年间，被告人</a:t>
            </a:r>
            <a:r>
              <a:rPr lang="zh-CN" altLang="zh-CN" sz="3200" dirty="0" smtClean="0"/>
              <a:t>王某、关某、关某、王某四</a:t>
            </a:r>
            <a:r>
              <a:rPr lang="zh-CN" altLang="zh-CN" sz="3200" dirty="0"/>
              <a:t>人共谋利用违规登录、下载的方式，侵入被害单位北京某远程教育中心有限公司系统，获取该计算机系统中存储的学生个人信息十余万条、公司秘密文件等数据用于牟利，违法所得共计人民币</a:t>
            </a:r>
            <a:r>
              <a:rPr lang="en-US" altLang="zh-CN" sz="3200" dirty="0"/>
              <a:t>100</a:t>
            </a:r>
            <a:r>
              <a:rPr lang="zh-CN" altLang="zh-CN" sz="3200" dirty="0"/>
              <a:t>余万</a:t>
            </a:r>
            <a:r>
              <a:rPr lang="zh-CN" altLang="zh-CN" sz="3200" dirty="0" smtClean="0"/>
              <a:t>元。四</a:t>
            </a:r>
            <a:r>
              <a:rPr lang="zh-CN" altLang="zh-CN" sz="3200" dirty="0"/>
              <a:t>名被告人被公安机关</a:t>
            </a:r>
            <a:r>
              <a:rPr lang="zh-CN" altLang="zh-CN" sz="3200" dirty="0" smtClean="0"/>
              <a:t>抓获</a:t>
            </a:r>
            <a:r>
              <a:rPr lang="zh-CN" altLang="en-US" sz="3200" dirty="0" smtClean="0"/>
              <a:t>，</a:t>
            </a:r>
            <a:r>
              <a:rPr lang="zh-CN" altLang="zh-CN" sz="3200" dirty="0" smtClean="0"/>
              <a:t>以</a:t>
            </a:r>
            <a:r>
              <a:rPr lang="zh-CN" altLang="zh-CN" sz="3200" dirty="0"/>
              <a:t>非法获取计算机信息系统罪追究其四人的</a:t>
            </a:r>
            <a:r>
              <a:rPr lang="zh-CN" altLang="zh-CN" sz="3200" dirty="0" smtClean="0"/>
              <a:t>刑事责任。</a:t>
            </a:r>
            <a:endParaRPr lang="zh-CN" altLang="zh-CN" sz="3200" dirty="0"/>
          </a:p>
          <a:p>
            <a:endParaRPr lang="zh-CN" altLang="en-US" dirty="0"/>
          </a:p>
        </p:txBody>
      </p:sp>
      <p:sp>
        <p:nvSpPr>
          <p:cNvPr id="3" name="标题 2"/>
          <p:cNvSpPr>
            <a:spLocks noGrp="1"/>
          </p:cNvSpPr>
          <p:nvPr>
            <p:ph type="title"/>
          </p:nvPr>
        </p:nvSpPr>
        <p:spPr/>
        <p:txBody>
          <a:bodyPr/>
          <a:lstStyle/>
          <a:p>
            <a:r>
              <a:rPr lang="zh-CN" altLang="en-US" dirty="0"/>
              <a:t>典型案例</a:t>
            </a:r>
            <a:r>
              <a:rPr lang="en-US" altLang="zh-CN" dirty="0"/>
              <a:t>1</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28</a:t>
            </a:fld>
            <a:endParaRPr lang="zh-CN" altLang="en-US"/>
          </a:p>
        </p:txBody>
      </p:sp>
    </p:spTree>
    <p:extLst>
      <p:ext uri="{BB962C8B-B14F-4D97-AF65-F5344CB8AC3E}">
        <p14:creationId xmlns:p14="http://schemas.microsoft.com/office/powerpoint/2010/main" val="435546754"/>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p:cNvSpPr>
            <a:spLocks noGrp="1"/>
          </p:cNvSpPr>
          <p:nvPr>
            <p:ph idx="1"/>
          </p:nvPr>
        </p:nvSpPr>
        <p:spPr>
          <a:xfrm>
            <a:off x="107504" y="1556792"/>
            <a:ext cx="8928992" cy="5040560"/>
          </a:xfrm>
        </p:spPr>
        <p:txBody>
          <a:bodyPr>
            <a:noAutofit/>
          </a:bodyPr>
          <a:lstStyle/>
          <a:p>
            <a:r>
              <a:rPr lang="en-US" altLang="zh-CN" sz="2700" dirty="0"/>
              <a:t>2018</a:t>
            </a:r>
            <a:r>
              <a:rPr lang="zh-CN" altLang="en-US" sz="2700" dirty="0"/>
              <a:t>年</a:t>
            </a:r>
            <a:r>
              <a:rPr lang="en-US" altLang="zh-CN" sz="2700" dirty="0"/>
              <a:t>4</a:t>
            </a:r>
            <a:r>
              <a:rPr lang="zh-CN" altLang="en-US" sz="2700" dirty="0"/>
              <a:t>月，北京知识产权法院对“搜狗诉百度专利侵权案</a:t>
            </a:r>
            <a:r>
              <a:rPr lang="zh-CN" altLang="en-US" sz="2700" dirty="0" smtClean="0"/>
              <a:t>” 做出</a:t>
            </a:r>
            <a:r>
              <a:rPr lang="zh-CN" altLang="en-US" sz="2700" dirty="0"/>
              <a:t>一审判决，历时两年，最终以搜狗</a:t>
            </a:r>
            <a:r>
              <a:rPr lang="en-US" altLang="zh-CN" sz="2700" dirty="0"/>
              <a:t>14</a:t>
            </a:r>
            <a:r>
              <a:rPr lang="zh-CN" altLang="en-US" sz="2700" dirty="0"/>
              <a:t>败</a:t>
            </a:r>
            <a:r>
              <a:rPr lang="en-US" altLang="zh-CN" sz="2700" dirty="0"/>
              <a:t>3</a:t>
            </a:r>
            <a:r>
              <a:rPr lang="zh-CN" altLang="en-US" sz="2700" dirty="0"/>
              <a:t>胜、</a:t>
            </a:r>
            <a:r>
              <a:rPr lang="en-US" altLang="zh-CN" sz="2700" dirty="0"/>
              <a:t>11</a:t>
            </a:r>
            <a:r>
              <a:rPr lang="zh-CN" altLang="en-US" sz="2700" dirty="0"/>
              <a:t>项专利全部或部分无效结尾。</a:t>
            </a:r>
            <a:endParaRPr lang="en-US" altLang="zh-CN" sz="2700" dirty="0"/>
          </a:p>
          <a:p>
            <a:r>
              <a:rPr lang="zh-CN" altLang="en-US" sz="2700" dirty="0"/>
              <a:t>该系列案件源于</a:t>
            </a:r>
            <a:r>
              <a:rPr lang="en-US" altLang="zh-CN" sz="2700" dirty="0"/>
              <a:t>2014</a:t>
            </a:r>
            <a:r>
              <a:rPr lang="zh-CN" altLang="en-US" sz="2700" dirty="0"/>
              <a:t>年，百度就搜狗流量劫持行为对搜狗提起诉讼，北京海淀区法院一审判决搜狗输入法为不正当竞争行为。随后，搜狗和百度都分别向北京知识产权法院提起专利侵权诉讼，双方的专利诉讼之战全面拉开序幕。</a:t>
            </a:r>
            <a:endParaRPr lang="en-US" altLang="zh-CN" sz="2700" dirty="0"/>
          </a:p>
          <a:p>
            <a:r>
              <a:rPr lang="zh-CN" altLang="en-US" sz="2700" dirty="0"/>
              <a:t>本案的宣判进一步推动了互联网行业知识产权保护制度建设，对整个行业建立正确维权意识、促进良性竞争、鼓励技术创新、净化行业风气</a:t>
            </a:r>
            <a:r>
              <a:rPr lang="zh-CN" altLang="en-US" sz="2700" dirty="0" smtClean="0"/>
              <a:t>，具有</a:t>
            </a:r>
            <a:r>
              <a:rPr lang="zh-CN" altLang="en-US" sz="2700" dirty="0"/>
              <a:t>积极而深远的影响。</a:t>
            </a:r>
          </a:p>
        </p:txBody>
      </p:sp>
      <p:sp>
        <p:nvSpPr>
          <p:cNvPr id="3" name="标题 2"/>
          <p:cNvSpPr>
            <a:spLocks noGrp="1"/>
          </p:cNvSpPr>
          <p:nvPr>
            <p:ph type="title"/>
          </p:nvPr>
        </p:nvSpPr>
        <p:spPr/>
        <p:txBody>
          <a:bodyPr/>
          <a:lstStyle/>
          <a:p>
            <a:r>
              <a:rPr lang="zh-CN" altLang="en-US" dirty="0"/>
              <a:t>典型</a:t>
            </a:r>
            <a:r>
              <a:rPr lang="zh-CN" altLang="en-US" dirty="0" smtClean="0"/>
              <a:t>案例</a:t>
            </a:r>
            <a:r>
              <a:rPr lang="en-US" altLang="zh-CN" dirty="0" smtClean="0"/>
              <a:t>2</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29</a:t>
            </a:fld>
            <a:endParaRPr lang="zh-CN" altLang="en-US"/>
          </a:p>
        </p:txBody>
      </p:sp>
    </p:spTree>
    <p:extLst>
      <p:ext uri="{BB962C8B-B14F-4D97-AF65-F5344CB8AC3E}">
        <p14:creationId xmlns:p14="http://schemas.microsoft.com/office/powerpoint/2010/main" val="346134005"/>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65EBAF41-27D7-46E3-94E4-CB0EB5A975FB}"/>
              </a:ext>
            </a:extLst>
          </p:cNvPr>
          <p:cNvSpPr>
            <a:spLocks noGrp="1"/>
          </p:cNvSpPr>
          <p:nvPr>
            <p:ph idx="1"/>
          </p:nvPr>
        </p:nvSpPr>
        <p:spPr>
          <a:xfrm>
            <a:off x="0" y="1412776"/>
            <a:ext cx="9144000" cy="5445224"/>
          </a:xfrm>
        </p:spPr>
        <p:txBody>
          <a:bodyPr>
            <a:normAutofit fontScale="92500" lnSpcReduction="10000"/>
          </a:bodyPr>
          <a:lstStyle/>
          <a:p>
            <a:pPr marL="0" indent="0">
              <a:lnSpc>
                <a:spcPct val="160000"/>
              </a:lnSpc>
              <a:buNone/>
            </a:pPr>
            <a:r>
              <a:rPr lang="zh-CN" altLang="zh-CN" sz="2800" b="1" dirty="0"/>
              <a:t>计算机科学与技术专业培养目标：</a:t>
            </a:r>
          </a:p>
          <a:p>
            <a:pPr marL="0" indent="0">
              <a:lnSpc>
                <a:spcPct val="160000"/>
              </a:lnSpc>
              <a:buNone/>
            </a:pPr>
            <a:r>
              <a:rPr lang="en-US" altLang="zh-CN" dirty="0" smtClean="0"/>
              <a:t>         </a:t>
            </a:r>
            <a:r>
              <a:rPr lang="zh-CN" altLang="zh-CN" dirty="0" smtClean="0"/>
              <a:t>培养</a:t>
            </a:r>
            <a:r>
              <a:rPr lang="zh-CN" altLang="zh-CN" dirty="0"/>
              <a:t>具有良好科学素质、人文素养、社会责任感和职业道德，遵守法律法规</a:t>
            </a:r>
            <a:r>
              <a:rPr lang="zh-CN" altLang="en-US" dirty="0"/>
              <a:t>，</a:t>
            </a:r>
            <a:r>
              <a:rPr lang="zh-CN" altLang="zh-CN" dirty="0"/>
              <a:t>社会和环境意识强，掌握扎实的数理基础、自然科学、信息学科工程基础知识以及计算机系统相关的基础理论知识和专业技能，具备包括计算思维和软</a:t>
            </a:r>
            <a:r>
              <a:rPr lang="en-AU" altLang="zh-CN" dirty="0"/>
              <a:t>/</a:t>
            </a:r>
            <a:r>
              <a:rPr lang="zh-CN" altLang="zh-CN" dirty="0"/>
              <a:t>硬件协同的系统思维在内的科学思维能力，具备分析、设计与实现计算解决方案及基于计算原理的系统的能力，综合素质高，表达与组织能力强，在团队中有效发挥作用，能通过继续深造或其他的终身学习途径不断拓展专业技能，跟踪计算机及相关学科发展方向，在复杂计算机系统研究、开发与应用等相关领域</a:t>
            </a:r>
            <a:r>
              <a:rPr lang="zh-CN" altLang="zh-CN" dirty="0">
                <a:solidFill>
                  <a:srgbClr val="FF0000"/>
                </a:solidFill>
              </a:rPr>
              <a:t>具有竞争力的高素质专门技术人才</a:t>
            </a:r>
            <a:r>
              <a:rPr lang="zh-CN" altLang="zh-CN" dirty="0"/>
              <a:t>。毕业五年左右成为单位技术骨干。</a:t>
            </a:r>
          </a:p>
          <a:p>
            <a:endParaRPr lang="zh-CN" altLang="en-US" dirty="0"/>
          </a:p>
        </p:txBody>
      </p:sp>
      <p:sp>
        <p:nvSpPr>
          <p:cNvPr id="3" name="标题 2">
            <a:extLst>
              <a:ext uri="{FF2B5EF4-FFF2-40B4-BE49-F238E27FC236}">
                <a16:creationId xmlns:a16="http://schemas.microsoft.com/office/drawing/2014/main" xmlns="" id="{B0863B24-EF2E-4771-8185-BD0D947ED593}"/>
              </a:ext>
            </a:extLst>
          </p:cNvPr>
          <p:cNvSpPr>
            <a:spLocks noGrp="1"/>
          </p:cNvSpPr>
          <p:nvPr>
            <p:ph type="title"/>
          </p:nvPr>
        </p:nvSpPr>
        <p:spPr/>
        <p:txBody>
          <a:bodyPr/>
          <a:lstStyle/>
          <a:p>
            <a:r>
              <a:rPr lang="zh-CN" altLang="en-US" dirty="0" smtClean="0"/>
              <a:t>专业培养目标</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30</a:t>
            </a:fld>
            <a:endParaRPr lang="zh-CN" altLang="en-US"/>
          </a:p>
        </p:txBody>
      </p:sp>
    </p:spTree>
    <p:extLst>
      <p:ext uri="{BB962C8B-B14F-4D97-AF65-F5344CB8AC3E}">
        <p14:creationId xmlns:p14="http://schemas.microsoft.com/office/powerpoint/2010/main" val="308282953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内容占位符 1">
            <a:extLst>
              <a:ext uri="{FF2B5EF4-FFF2-40B4-BE49-F238E27FC236}">
                <a16:creationId xmlns:a16="http://schemas.microsoft.com/office/drawing/2014/main" xmlns="" id="{11AC5EBE-85DA-41FF-A60D-1BBC34DD3B39}"/>
              </a:ext>
            </a:extLst>
          </p:cNvPr>
          <p:cNvSpPr>
            <a:spLocks noGrp="1"/>
          </p:cNvSpPr>
          <p:nvPr>
            <p:ph idx="1"/>
          </p:nvPr>
        </p:nvSpPr>
        <p:spPr>
          <a:xfrm>
            <a:off x="539553" y="1988840"/>
            <a:ext cx="7740848" cy="4137323"/>
          </a:xfrm>
        </p:spPr>
        <p:txBody>
          <a:bodyPr/>
          <a:lstStyle/>
          <a:p>
            <a:pPr>
              <a:lnSpc>
                <a:spcPct val="150000"/>
              </a:lnSpc>
            </a:pPr>
            <a:r>
              <a:rPr lang="zh-CN" altLang="en-US" sz="2800" dirty="0"/>
              <a:t>计算机</a:t>
            </a:r>
            <a:r>
              <a:rPr lang="zh-CN" altLang="en-US" sz="2800" dirty="0" smtClean="0"/>
              <a:t>专业学生更</a:t>
            </a:r>
            <a:r>
              <a:rPr lang="zh-CN" altLang="en-US" sz="2800" dirty="0"/>
              <a:t>需要三种能力：</a:t>
            </a:r>
            <a:endParaRPr lang="en-US" altLang="zh-CN" sz="2800" dirty="0"/>
          </a:p>
          <a:p>
            <a:pPr lvl="1">
              <a:lnSpc>
                <a:spcPct val="150000"/>
              </a:lnSpc>
            </a:pPr>
            <a:r>
              <a:rPr lang="zh-CN" altLang="zh-CN" sz="2800" dirty="0"/>
              <a:t>一是</a:t>
            </a:r>
            <a:r>
              <a:rPr lang="zh-CN" altLang="zh-CN" sz="2800" dirty="0">
                <a:solidFill>
                  <a:srgbClr val="FF0000"/>
                </a:solidFill>
              </a:rPr>
              <a:t>持续学习的能力</a:t>
            </a:r>
            <a:r>
              <a:rPr lang="zh-CN" altLang="zh-CN" sz="2800" dirty="0"/>
              <a:t>；</a:t>
            </a:r>
            <a:endParaRPr lang="en-US" altLang="zh-CN" sz="2800" dirty="0"/>
          </a:p>
          <a:p>
            <a:pPr lvl="1">
              <a:lnSpc>
                <a:spcPct val="150000"/>
              </a:lnSpc>
            </a:pPr>
            <a:r>
              <a:rPr lang="zh-CN" altLang="zh-CN" sz="2800" dirty="0"/>
              <a:t>二是</a:t>
            </a:r>
            <a:r>
              <a:rPr lang="zh-CN" altLang="zh-CN" sz="2800" dirty="0">
                <a:solidFill>
                  <a:srgbClr val="FF0000"/>
                </a:solidFill>
              </a:rPr>
              <a:t>快速接受新生事物的能力</a:t>
            </a:r>
            <a:r>
              <a:rPr lang="zh-CN" altLang="zh-CN" sz="2800" dirty="0"/>
              <a:t>；</a:t>
            </a:r>
            <a:endParaRPr lang="en-US" altLang="zh-CN" sz="2800" dirty="0"/>
          </a:p>
          <a:p>
            <a:pPr lvl="1">
              <a:lnSpc>
                <a:spcPct val="150000"/>
              </a:lnSpc>
            </a:pPr>
            <a:r>
              <a:rPr lang="zh-CN" altLang="zh-CN" sz="2800" dirty="0"/>
              <a:t>三时</a:t>
            </a:r>
            <a:r>
              <a:rPr lang="zh-CN" altLang="zh-CN" sz="2800" dirty="0">
                <a:solidFill>
                  <a:srgbClr val="FF0000"/>
                </a:solidFill>
              </a:rPr>
              <a:t>交流沟通的能力</a:t>
            </a:r>
            <a:r>
              <a:rPr lang="zh-CN" altLang="zh-CN" sz="2800" dirty="0"/>
              <a:t>。</a:t>
            </a:r>
          </a:p>
          <a:p>
            <a:endParaRPr lang="zh-CN" altLang="en-US" dirty="0"/>
          </a:p>
        </p:txBody>
      </p:sp>
      <p:sp>
        <p:nvSpPr>
          <p:cNvPr id="3" name="标题 2">
            <a:extLst>
              <a:ext uri="{FF2B5EF4-FFF2-40B4-BE49-F238E27FC236}">
                <a16:creationId xmlns:a16="http://schemas.microsoft.com/office/drawing/2014/main" xmlns="" id="{C91CBCFE-DE08-4B43-B8A8-CCD5ECB09743}"/>
              </a:ext>
            </a:extLst>
          </p:cNvPr>
          <p:cNvSpPr>
            <a:spLocks noGrp="1"/>
          </p:cNvSpPr>
          <p:nvPr>
            <p:ph type="title"/>
          </p:nvPr>
        </p:nvSpPr>
        <p:spPr/>
        <p:txBody>
          <a:bodyPr/>
          <a:lstStyle/>
          <a:p>
            <a:r>
              <a:rPr lang="zh-CN" altLang="en-US" dirty="0" smtClean="0"/>
              <a:t>专业能力要求</a:t>
            </a:r>
            <a:endParaRPr lang="zh-CN" altLang="en-US" dirty="0"/>
          </a:p>
        </p:txBody>
      </p:sp>
      <p:sp>
        <p:nvSpPr>
          <p:cNvPr id="4" name="灯片编号占位符 3"/>
          <p:cNvSpPr>
            <a:spLocks noGrp="1"/>
          </p:cNvSpPr>
          <p:nvPr>
            <p:ph type="sldNum" sz="quarter" idx="12"/>
          </p:nvPr>
        </p:nvSpPr>
        <p:spPr/>
        <p:txBody>
          <a:bodyPr/>
          <a:lstStyle/>
          <a:p>
            <a:fld id="{0C913308-F349-4B6D-A68A-DD1791B4A57B}" type="slidenum">
              <a:rPr lang="zh-CN" altLang="en-US" smtClean="0"/>
              <a:t>31</a:t>
            </a:fld>
            <a:endParaRPr lang="zh-CN" altLang="en-US"/>
          </a:p>
        </p:txBody>
      </p:sp>
    </p:spTree>
    <p:extLst>
      <p:ext uri="{BB962C8B-B14F-4D97-AF65-F5344CB8AC3E}">
        <p14:creationId xmlns:p14="http://schemas.microsoft.com/office/powerpoint/2010/main" val="1067140389"/>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zh-CN" dirty="0"/>
              <a:t>国家的需求</a:t>
            </a:r>
            <a:endParaRPr lang="zh-CN" altLang="en-US" dirty="0"/>
          </a:p>
        </p:txBody>
      </p:sp>
      <p:sp>
        <p:nvSpPr>
          <p:cNvPr id="7" name="文本框 2"/>
          <p:cNvSpPr txBox="1"/>
          <p:nvPr/>
        </p:nvSpPr>
        <p:spPr>
          <a:xfrm>
            <a:off x="323528" y="1959798"/>
            <a:ext cx="8511415" cy="4378186"/>
          </a:xfrm>
          <a:prstGeom prst="rect">
            <a:avLst/>
          </a:prstGeom>
          <a:noFill/>
        </p:spPr>
        <p:txBody>
          <a:bodyPr wrap="square" rtlCol="0">
            <a:spAutoFit/>
          </a:bodyPr>
          <a:lstStyle/>
          <a:p>
            <a:pPr marL="342900" indent="-342900" fontAlgn="auto">
              <a:lnSpc>
                <a:spcPct val="130000"/>
              </a:lnSpc>
              <a:buFont typeface="Wingdings" panose="05000000000000000000" pitchFamily="2" charset="2"/>
              <a:buChar char="Ø"/>
            </a:pPr>
            <a:r>
              <a:rPr lang="zh-CN" altLang="en-US" sz="2400" dirty="0">
                <a:solidFill>
                  <a:schemeClr val="tx2"/>
                </a:solidFill>
                <a:sym typeface="+mn-ea"/>
              </a:rPr>
              <a:t>2016年12月7日，国务院常务会议审议通过了《“十三五”国家信息化规划》。</a:t>
            </a:r>
          </a:p>
          <a:p>
            <a:pPr marL="342900" indent="-342900" algn="l">
              <a:lnSpc>
                <a:spcPct val="130000"/>
              </a:lnSpc>
              <a:buFont typeface="Wingdings" panose="05000000000000000000" pitchFamily="2" charset="2"/>
              <a:buChar char="Ø"/>
            </a:pPr>
            <a:r>
              <a:rPr lang="zh-CN" altLang="en-US" sz="2400" dirty="0">
                <a:solidFill>
                  <a:schemeClr val="tx2"/>
                </a:solidFill>
                <a:sym typeface="+mn-ea"/>
              </a:rPr>
              <a:t>党中央、国务院高度重视信息化工作</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习近平总书记指出，</a:t>
            </a:r>
            <a:r>
              <a:rPr lang="zh-CN" altLang="en-US" sz="2400" dirty="0">
                <a:solidFill>
                  <a:srgbClr val="FF0000"/>
                </a:solidFill>
                <a:sym typeface="+mn-ea"/>
              </a:rPr>
              <a:t>网络安全</a:t>
            </a:r>
            <a:r>
              <a:rPr lang="zh-CN" altLang="en-US" sz="2400" dirty="0">
                <a:solidFill>
                  <a:schemeClr val="tx2"/>
                </a:solidFill>
                <a:sym typeface="+mn-ea"/>
              </a:rPr>
              <a:t>和</a:t>
            </a:r>
            <a:r>
              <a:rPr lang="zh-CN" altLang="en-US" sz="2400" dirty="0">
                <a:solidFill>
                  <a:srgbClr val="FF0000"/>
                </a:solidFill>
                <a:sym typeface="+mn-ea"/>
              </a:rPr>
              <a:t>信息化工作</a:t>
            </a:r>
            <a:r>
              <a:rPr lang="zh-CN" altLang="en-US" sz="2400" dirty="0">
                <a:solidFill>
                  <a:schemeClr val="tx2"/>
                </a:solidFill>
                <a:sym typeface="+mn-ea"/>
              </a:rPr>
              <a:t>是“十三五”时期的重头戏，要在信息化发展上大有作为。</a:t>
            </a:r>
            <a:endParaRPr lang="en-US" altLang="zh-CN" sz="2400" dirty="0">
              <a:solidFill>
                <a:schemeClr val="tx2"/>
              </a:solidFill>
              <a:sym typeface="+mn-ea"/>
            </a:endParaRPr>
          </a:p>
          <a:p>
            <a:pPr marL="800100" lvl="1" indent="-342900">
              <a:lnSpc>
                <a:spcPct val="130000"/>
              </a:lnSpc>
              <a:buFont typeface="Wingdings" panose="05000000000000000000" pitchFamily="2" charset="2"/>
              <a:buChar char="l"/>
            </a:pPr>
            <a:r>
              <a:rPr lang="zh-CN" altLang="en-US" sz="2400" dirty="0">
                <a:solidFill>
                  <a:schemeClr val="tx2"/>
                </a:solidFill>
                <a:sym typeface="+mn-ea"/>
              </a:rPr>
              <a:t>李克强总理强调，中国信息化发展方兴未艾，要推动信息化与实体经济深度融合发展，着力推进大众创业万众创新，催生更多的新产业、新业态、新模式，加快发展新经济培育新动能。</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32</a:t>
            </a:fld>
            <a:endParaRPr lang="zh-CN" altLang="en-US"/>
          </a:p>
        </p:txBody>
      </p:sp>
    </p:spTree>
    <p:extLst>
      <p:ext uri="{BB962C8B-B14F-4D97-AF65-F5344CB8AC3E}">
        <p14:creationId xmlns:p14="http://schemas.microsoft.com/office/powerpoint/2010/main" val="199132326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r>
              <a:rPr lang="zh-CN" altLang="zh-CN" dirty="0"/>
              <a:t>国家的</a:t>
            </a:r>
            <a:r>
              <a:rPr lang="zh-CN" altLang="zh-CN" dirty="0" smtClean="0"/>
              <a:t>需求</a:t>
            </a:r>
            <a:r>
              <a:rPr lang="zh-CN" altLang="en-US" dirty="0" smtClean="0"/>
              <a:t>（续）</a:t>
            </a:r>
            <a:endParaRPr lang="zh-CN" altLang="en-US" dirty="0"/>
          </a:p>
        </p:txBody>
      </p:sp>
      <p:sp>
        <p:nvSpPr>
          <p:cNvPr id="4" name="文本框 2"/>
          <p:cNvSpPr txBox="1"/>
          <p:nvPr/>
        </p:nvSpPr>
        <p:spPr>
          <a:xfrm>
            <a:off x="404103" y="1450768"/>
            <a:ext cx="8511415" cy="5373779"/>
          </a:xfrm>
          <a:prstGeom prst="rect">
            <a:avLst/>
          </a:prstGeom>
          <a:noFill/>
        </p:spPr>
        <p:txBody>
          <a:bodyPr wrap="square" rtlCol="0">
            <a:spAutoFit/>
          </a:bodyPr>
          <a:lstStyle/>
          <a:p>
            <a:pPr marL="342900" lvl="0" indent="-342900">
              <a:lnSpc>
                <a:spcPct val="130000"/>
              </a:lnSpc>
              <a:buFont typeface="Wingdings" panose="05000000000000000000" pitchFamily="2" charset="2"/>
              <a:buChar char="Ø"/>
            </a:pPr>
            <a:r>
              <a:rPr lang="zh-CN" altLang="en-US" sz="2400" dirty="0" smtClean="0">
                <a:solidFill>
                  <a:schemeClr val="tx2"/>
                </a:solidFill>
                <a:sym typeface="+mn-ea"/>
              </a:rPr>
              <a:t>让</a:t>
            </a:r>
            <a:r>
              <a:rPr lang="zh-CN" altLang="en-US" sz="2400" dirty="0">
                <a:solidFill>
                  <a:schemeClr val="tx2"/>
                </a:solidFill>
                <a:sym typeface="+mn-ea"/>
              </a:rPr>
              <a:t>人民通过共建共享有更多获得感</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建立普惠便捷的信息惠民体系</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实施“互联网+”政务服务等信息惠民工程</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加快推进公共数据资源向社会开发</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“一号申请、一窗受理、一网通办”等政务信息化应用</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加快高速宽带网络建设，打通入户“最后一公里”</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继续推进提速降费行动</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实施网络扶贫、普惠性在线教育等优先行动</a:t>
            </a:r>
          </a:p>
          <a:p>
            <a:pPr marL="342900" lvl="0" indent="-342900">
              <a:lnSpc>
                <a:spcPct val="130000"/>
              </a:lnSpc>
              <a:buFont typeface="Wingdings" panose="05000000000000000000" pitchFamily="2" charset="2"/>
              <a:buChar char="Ø"/>
            </a:pPr>
            <a:r>
              <a:rPr lang="zh-CN" altLang="en-US" sz="2400" dirty="0">
                <a:solidFill>
                  <a:schemeClr val="tx2"/>
                </a:solidFill>
                <a:sym typeface="+mn-ea"/>
              </a:rPr>
              <a:t>信息化改造提升传统动能和培育新动能</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运用信息化、运用互联网增强发展动力</a:t>
            </a:r>
          </a:p>
          <a:p>
            <a:pPr marL="800100" lvl="1" indent="-342900">
              <a:lnSpc>
                <a:spcPct val="130000"/>
              </a:lnSpc>
              <a:buFont typeface="Wingdings" panose="05000000000000000000" pitchFamily="2" charset="2"/>
              <a:buChar char="l"/>
            </a:pPr>
            <a:r>
              <a:rPr lang="zh-CN" altLang="en-US" sz="2400" dirty="0">
                <a:solidFill>
                  <a:schemeClr val="tx2"/>
                </a:solidFill>
                <a:sym typeface="+mn-ea"/>
              </a:rPr>
              <a:t>新常态要有新动力，互联网在这方面可以大有作为</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33</a:t>
            </a:fld>
            <a:endParaRPr lang="zh-CN" altLang="en-US"/>
          </a:p>
        </p:txBody>
      </p:sp>
    </p:spTree>
    <p:extLst>
      <p:ext uri="{BB962C8B-B14F-4D97-AF65-F5344CB8AC3E}">
        <p14:creationId xmlns:p14="http://schemas.microsoft.com/office/powerpoint/2010/main" val="1244145892"/>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标题 2"/>
          <p:cNvSpPr>
            <a:spLocks noGrp="1"/>
          </p:cNvSpPr>
          <p:nvPr>
            <p:ph type="title"/>
          </p:nvPr>
        </p:nvSpPr>
        <p:spPr/>
        <p:txBody>
          <a:bodyPr>
            <a:normAutofit/>
          </a:bodyPr>
          <a:lstStyle/>
          <a:p>
            <a:pPr>
              <a:lnSpc>
                <a:spcPct val="150000"/>
              </a:lnSpc>
            </a:pPr>
            <a:r>
              <a:rPr lang="zh-CN" altLang="zh-CN" dirty="0"/>
              <a:t>对学生的期待</a:t>
            </a:r>
          </a:p>
        </p:txBody>
      </p:sp>
      <p:sp>
        <p:nvSpPr>
          <p:cNvPr id="4" name="文本框 2"/>
          <p:cNvSpPr txBox="1"/>
          <p:nvPr/>
        </p:nvSpPr>
        <p:spPr>
          <a:xfrm>
            <a:off x="251520" y="2543318"/>
            <a:ext cx="8640960" cy="2653034"/>
          </a:xfrm>
          <a:prstGeom prst="rect">
            <a:avLst/>
          </a:prstGeom>
          <a:noFill/>
        </p:spPr>
        <p:txBody>
          <a:bodyPr wrap="square" rtlCol="0">
            <a:spAutoFit/>
          </a:bodyPr>
          <a:lstStyle/>
          <a:p>
            <a:pPr lvl="1">
              <a:lnSpc>
                <a:spcPct val="130000"/>
              </a:lnSpc>
            </a:pPr>
            <a:r>
              <a:rPr lang="en-US" altLang="zh-CN" sz="3200" smtClean="0">
                <a:solidFill>
                  <a:schemeClr val="tx2"/>
                </a:solidFill>
              </a:rPr>
              <a:t>	  </a:t>
            </a:r>
            <a:r>
              <a:rPr lang="zh-CN" altLang="zh-CN" sz="3200" smtClean="0">
                <a:solidFill>
                  <a:schemeClr val="tx2"/>
                </a:solidFill>
              </a:rPr>
              <a:t>自觉</a:t>
            </a:r>
            <a:r>
              <a:rPr lang="zh-CN" altLang="zh-CN" sz="3200" dirty="0">
                <a:solidFill>
                  <a:schemeClr val="tx2"/>
                </a:solidFill>
              </a:rPr>
              <a:t>把个人的理想追求融入国家和民族的事业（信息产业自主可控的国家战略），勇做走在时代前列的奋进者、开拓者，书写无愧于时代的青春之歌和精彩人生</a:t>
            </a:r>
            <a:r>
              <a:rPr lang="zh-CN" altLang="en-US" sz="3200" dirty="0">
                <a:solidFill>
                  <a:schemeClr val="tx2"/>
                </a:solidFill>
              </a:rPr>
              <a:t>！</a:t>
            </a:r>
          </a:p>
        </p:txBody>
      </p:sp>
      <p:sp>
        <p:nvSpPr>
          <p:cNvPr id="2" name="灯片编号占位符 1"/>
          <p:cNvSpPr>
            <a:spLocks noGrp="1"/>
          </p:cNvSpPr>
          <p:nvPr>
            <p:ph type="sldNum" sz="quarter" idx="12"/>
          </p:nvPr>
        </p:nvSpPr>
        <p:spPr/>
        <p:txBody>
          <a:bodyPr/>
          <a:lstStyle/>
          <a:p>
            <a:fld id="{0C913308-F349-4B6D-A68A-DD1791B4A57B}" type="slidenum">
              <a:rPr lang="zh-CN" altLang="en-US" smtClean="0"/>
              <a:t>34</a:t>
            </a:fld>
            <a:endParaRPr lang="zh-CN" altLang="en-US"/>
          </a:p>
        </p:txBody>
      </p:sp>
    </p:spTree>
    <p:extLst>
      <p:ext uri="{BB962C8B-B14F-4D97-AF65-F5344CB8AC3E}">
        <p14:creationId xmlns:p14="http://schemas.microsoft.com/office/powerpoint/2010/main" val="3169898911"/>
      </p:ext>
    </p:extLst>
  </p:cSld>
  <p:clrMapOvr>
    <a:masterClrMapping/>
  </p:clrMapOvr>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波形">
  <a:themeElements>
    <a:clrScheme name="波形">
      <a:dk1>
        <a:sysClr val="windowText" lastClr="000000"/>
      </a:dk1>
      <a:lt1>
        <a:sysClr val="window" lastClr="FFFFFF"/>
      </a:lt1>
      <a:dk2>
        <a:srgbClr val="073E87"/>
      </a:dk2>
      <a:lt2>
        <a:srgbClr val="C6E7FC"/>
      </a:lt2>
      <a:accent1>
        <a:srgbClr val="31B6FD"/>
      </a:accent1>
      <a:accent2>
        <a:srgbClr val="4584D3"/>
      </a:accent2>
      <a:accent3>
        <a:srgbClr val="5BD078"/>
      </a:accent3>
      <a:accent4>
        <a:srgbClr val="A5D028"/>
      </a:accent4>
      <a:accent5>
        <a:srgbClr val="F5C040"/>
      </a:accent5>
      <a:accent6>
        <a:srgbClr val="05E0DB"/>
      </a:accent6>
      <a:hlink>
        <a:srgbClr val="0080FF"/>
      </a:hlink>
      <a:folHlink>
        <a:srgbClr val="5EAEFF"/>
      </a:folHlink>
    </a:clrScheme>
    <a:fontScheme name="波形">
      <a:majorFont>
        <a:latin typeface="Candara"/>
        <a:ea typeface=""/>
        <a:cs typeface=""/>
        <a:font script="Jpan" typeface="HGP明朝E"/>
        <a:font script="Hang" typeface="HY그래픽M"/>
        <a:font script="Hans" typeface="华文新魏"/>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andara"/>
        <a:ea typeface=""/>
        <a:cs typeface=""/>
        <a:font script="Jpan" typeface="HGP明朝E"/>
        <a:font script="Hang" typeface="HY그래픽M"/>
        <a:font script="Hans" typeface="华文楷体"/>
        <a:font script="Hant" typeface="標楷體"/>
        <a:font script="Arab" typeface="Arial"/>
        <a:font script="Hebr" typeface="Arial"/>
        <a:font script="Thai" typeface="Kodchiang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波形">
      <a:fillStyleLst>
        <a:solidFill>
          <a:schemeClr val="phClr"/>
        </a:solidFill>
        <a:gradFill rotWithShape="1">
          <a:gsLst>
            <a:gs pos="0">
              <a:schemeClr val="phClr">
                <a:tint val="0"/>
              </a:schemeClr>
            </a:gs>
            <a:gs pos="44000">
              <a:schemeClr val="phClr">
                <a:tint val="60000"/>
                <a:satMod val="120000"/>
              </a:schemeClr>
            </a:gs>
            <a:gs pos="100000">
              <a:schemeClr val="phClr">
                <a:tint val="90000"/>
                <a:alpha val="100000"/>
                <a:lumMod val="90000"/>
              </a:schemeClr>
            </a:gs>
          </a:gsLst>
          <a:lin ang="5400000" scaled="0"/>
        </a:gradFill>
        <a:gradFill rotWithShape="1">
          <a:gsLst>
            <a:gs pos="0">
              <a:schemeClr val="phClr">
                <a:tint val="96000"/>
                <a:satMod val="120000"/>
                <a:lumMod val="120000"/>
              </a:schemeClr>
            </a:gs>
            <a:gs pos="100000">
              <a:schemeClr val="phClr">
                <a:shade val="89000"/>
                <a:lumMod val="90000"/>
              </a:schemeClr>
            </a:gs>
          </a:gsLst>
          <a:lin ang="5400000" scaled="0"/>
        </a:gradFill>
      </a:fillStyleLst>
      <a:lnStyleLst>
        <a:ln w="9525" cap="flat" cmpd="sng" algn="ctr">
          <a:solidFill>
            <a:schemeClr val="phClr"/>
          </a:solidFill>
          <a:prstDash val="solid"/>
        </a:ln>
        <a:ln w="15875" cap="flat" cmpd="sng" algn="ctr">
          <a:solidFill>
            <a:schemeClr val="phClr">
              <a:shade val="75000"/>
              <a:lumMod val="80000"/>
            </a:schemeClr>
          </a:solidFill>
          <a:prstDash val="solid"/>
        </a:ln>
        <a:ln w="25400" cap="flat" cmpd="sng" algn="ctr">
          <a:solidFill>
            <a:schemeClr val="phClr"/>
          </a:solidFill>
          <a:prstDash val="solid"/>
        </a:ln>
      </a:lnStyleLst>
      <a:effectStyleLst>
        <a:effectStyle>
          <a:effectLst/>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prstMaterial="flat">
            <a:bevelT w="12700" h="12700"/>
          </a:sp3d>
        </a:effectStyle>
        <a:effectStyle>
          <a:effectLst>
            <a:outerShdw blurRad="50800" dist="25400" dir="5400000" rotWithShape="0">
              <a:srgbClr val="000000">
                <a:alpha val="38000"/>
              </a:srgbClr>
            </a:outerShdw>
          </a:effectLst>
          <a:scene3d>
            <a:camera prst="orthographicFront">
              <a:rot lat="0" lon="0" rev="0"/>
            </a:camera>
            <a:lightRig rig="flat" dir="tl">
              <a:rot lat="0" lon="0" rev="6360000"/>
            </a:lightRig>
          </a:scene3d>
          <a:sp3d contourW="19050" prstMaterial="flat">
            <a:bevelT w="63500" h="63500"/>
            <a:contourClr>
              <a:schemeClr val="phClr">
                <a:shade val="25000"/>
                <a:satMod val="180000"/>
              </a:schemeClr>
            </a:contourClr>
          </a:sp3d>
        </a:effectStyle>
      </a:effectStyleLst>
      <a:bgFillStyleLst>
        <a:solidFill>
          <a:schemeClr val="phClr"/>
        </a:solidFill>
        <a:gradFill rotWithShape="1">
          <a:gsLst>
            <a:gs pos="40000">
              <a:schemeClr val="phClr">
                <a:tint val="94000"/>
                <a:shade val="94000"/>
                <a:alpha val="100000"/>
                <a:satMod val="114000"/>
                <a:lumMod val="114000"/>
              </a:schemeClr>
            </a:gs>
            <a:gs pos="74000">
              <a:schemeClr val="phClr">
                <a:tint val="94000"/>
                <a:shade val="94000"/>
                <a:satMod val="128000"/>
                <a:lumMod val="100000"/>
              </a:schemeClr>
            </a:gs>
            <a:gs pos="100000">
              <a:schemeClr val="phClr">
                <a:tint val="98000"/>
                <a:shade val="100000"/>
                <a:hueMod val="98000"/>
                <a:satMod val="100000"/>
                <a:lumMod val="74000"/>
              </a:schemeClr>
            </a:gs>
          </a:gsLst>
          <a:path path="circle">
            <a:fillToRect l="20000" t="-40000" r="20000" b="140000"/>
          </a:path>
        </a:gradFill>
        <a:blipFill rotWithShape="1">
          <a:blip xmlns:r="http://schemas.openxmlformats.org/officeDocument/2006/relationships" r:embed="rId1">
            <a:duotone>
              <a:schemeClr val="phClr">
                <a:tint val="96000"/>
                <a:satMod val="130000"/>
                <a:lumMod val="50000"/>
              </a:schemeClr>
              <a:schemeClr val="phClr">
                <a:tint val="96000"/>
                <a:satMod val="114000"/>
                <a:lumMod val="114000"/>
              </a:schemeClr>
            </a:duotone>
          </a:blip>
          <a:stretch/>
        </a:blipFill>
      </a:bgFillStyleLst>
    </a:fmtScheme>
  </a:themeElements>
  <a:objectDefaults/>
  <a:extraClrScheme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Waveform</Template>
  <TotalTime>239</TotalTime>
  <Words>3513</Words>
  <Application>Microsoft Office PowerPoint</Application>
  <PresentationFormat>全屏显示(4:3)</PresentationFormat>
  <Paragraphs>213</Paragraphs>
  <Slides>34</Slides>
  <Notes>3</Notes>
  <HiddenSlides>0</HiddenSlides>
  <MMClips>0</MMClips>
  <ScaleCrop>false</ScaleCrop>
  <HeadingPairs>
    <vt:vector size="4" baseType="variant">
      <vt:variant>
        <vt:lpstr>主题</vt:lpstr>
      </vt:variant>
      <vt:variant>
        <vt:i4>1</vt:i4>
      </vt:variant>
      <vt:variant>
        <vt:lpstr>幻灯片标题</vt:lpstr>
      </vt:variant>
      <vt:variant>
        <vt:i4>34</vt:i4>
      </vt:variant>
    </vt:vector>
  </HeadingPairs>
  <TitlesOfParts>
    <vt:vector size="35" baseType="lpstr">
      <vt:lpstr>波形</vt:lpstr>
      <vt:lpstr>《新生实践课》导论</vt:lpstr>
      <vt:lpstr>目录</vt:lpstr>
      <vt:lpstr>计算机的广泛应用</vt:lpstr>
      <vt:lpstr>计算机的广泛应用-大型计算机</vt:lpstr>
      <vt:lpstr>计算机的广泛应用-最小的计算机</vt:lpstr>
      <vt:lpstr>计算机的广泛应用（续）</vt:lpstr>
      <vt:lpstr>我国领先世界的计算机技术</vt:lpstr>
      <vt:lpstr>我国领先世界的计算机技术 （续）</vt:lpstr>
      <vt:lpstr>我国领先世界的计算机技术 （续）</vt:lpstr>
      <vt:lpstr>面临的技术和安全挑战</vt:lpstr>
      <vt:lpstr>面临的技术和安全挑战（续）</vt:lpstr>
      <vt:lpstr>面临的技术和安全挑战（续）</vt:lpstr>
      <vt:lpstr>面临的技术和安全挑战（续）</vt:lpstr>
      <vt:lpstr>产业安全概念（课程指标点）</vt:lpstr>
      <vt:lpstr>中国产业安全现状及相应措施</vt:lpstr>
      <vt:lpstr>华为事件大事簿</vt:lpstr>
      <vt:lpstr>华为&amp;中兴事件反思</vt:lpstr>
      <vt:lpstr>知识产权概念（课程指标点）</vt:lpstr>
      <vt:lpstr>我国知识产权保护现状</vt:lpstr>
      <vt:lpstr>存在的问题</vt:lpstr>
      <vt:lpstr>典型案例1</vt:lpstr>
      <vt:lpstr>典型案例2</vt:lpstr>
      <vt:lpstr>职业规范与职业素养（课程指标点） </vt:lpstr>
      <vt:lpstr>职业素养概念</vt:lpstr>
      <vt:lpstr>职业素养概念（续）</vt:lpstr>
      <vt:lpstr>职业规范</vt:lpstr>
      <vt:lpstr>相关法律法规</vt:lpstr>
      <vt:lpstr>典型案例1</vt:lpstr>
      <vt:lpstr>典型案例2</vt:lpstr>
      <vt:lpstr>专业培养目标</vt:lpstr>
      <vt:lpstr>专业能力要求</vt:lpstr>
      <vt:lpstr>国家的需求</vt:lpstr>
      <vt:lpstr>国家的需求（续）</vt:lpstr>
      <vt:lpstr>对学生的期待</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admin</dc:creator>
  <cp:lastModifiedBy>Windows 用户</cp:lastModifiedBy>
  <cp:revision>41</cp:revision>
  <dcterms:created xsi:type="dcterms:W3CDTF">2017-10-07T02:39:26Z</dcterms:created>
  <dcterms:modified xsi:type="dcterms:W3CDTF">2020-10-02T08:08:46Z</dcterms:modified>
</cp:coreProperties>
</file>